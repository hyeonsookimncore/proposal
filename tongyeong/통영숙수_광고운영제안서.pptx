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7369af3-0aa6-5f16-f4cd-3c0542f2c187}">
          <p14:sldIdLst>
            <p14:sldId id="256"/>
            <p14:sldId id="257"/>
          </p14:sldIdLst>
        </p14:section>
        <p14:section name="요약" id="{21b7cb18-d4ce-40f2-009c-59628e8783c1}">
          <p14:sldIdLst>
            <p14:sldId id="258"/>
          </p14:sldIdLst>
        </p14:section>
        <p14:section name="Ⅰ 현황" id="{0da0bb4f-022f-ecff-1b48-84c71dadebac}">
          <p14:sldIdLst>
            <p14:sldId id="259"/>
            <p14:sldId id="260"/>
            <p14:sldId id="261"/>
            <p14:sldId id="262"/>
          </p14:sldIdLst>
        </p14:section>
        <p14:section name="Ⅱ 전략" id="{5ae0f9cd-8fd9-da60-d0b9-a64cb3f5a3e9}">
          <p14:sldIdLst>
            <p14:sldId id="263"/>
            <p14:sldId id="264"/>
            <p14:sldId id="265"/>
          </p14:sldIdLst>
        </p14:section>
        <p14:section name="Ⅲ 운영안" id="{72c9453a-d659-f838-3eb3-0623dd602fd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Ⅳ 예산·일정" id="{5448c690-272b-a67f-8562-c4181b25e87a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1568A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91F28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3분기 (7~9월)</c:v>
                  </c:pt>
                  <c:pt idx="1">
                    <c:v>10월 1~14일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</c:v>
                </c:pt>
                <c:pt idx="1">
                  <c:v>82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91F28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BEP 300%</c:v>
                </c:pt>
              </c:strCache>
            </c:strRef>
          </c:tx>
          <c:spPr>
            <a:solidFill>
              <a:srgbClr val="F08A00"/>
            </a:solidFill>
            <a:ln w="25400" cap="flat">
              <a:solidFill>
                <a:srgbClr val="F08A00"/>
              </a:solidFill>
              <a:prstDash val="dash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91F28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568A3"/>
              </a:solidFill>
              <a:ln w="9525" cap="flat">
                <a:solidFill>
                  <a:srgbClr val="F08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3분기 (7~9월)</c:v>
                  </c:pt>
                  <c:pt idx="1">
                    <c:v>10월 1~14일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300</c:v>
                </c:pt>
                <c:pt idx="1">
                  <c:v>300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 450%</c:v>
                </c:pt>
              </c:strCache>
            </c:strRef>
          </c:tx>
          <c:spPr>
            <a:solidFill>
              <a:srgbClr val="1568A3"/>
            </a:solidFill>
            <a:ln w="25400" cap="flat">
              <a:solidFill>
                <a:srgbClr val="1568A3"/>
              </a:solidFill>
              <a:prstDash val="dash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91F28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08A00"/>
              </a:solidFill>
              <a:ln w="9525" cap="flat">
                <a:solidFill>
                  <a:srgbClr val="1568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3분기 (7~9월)</c:v>
                  </c:pt>
                  <c:pt idx="1">
                    <c:v>10월 1~14일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450</c:v>
                </c:pt>
                <c:pt idx="1">
                  <c:v>450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91F28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91F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E59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91F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91F28"/>
                </a:solidFill>
                <a:latin typeface="+mn-lt"/>
              </a:rPr>
              <a:t>하루 평균 방문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하루 평균 방문</c:v>
                </c:pt>
              </c:strCache>
            </c:strRef>
          </c:tx>
          <c:spPr>
            <a:solidFill>
              <a:srgbClr val="6F7D97"/>
            </a:solidFill>
            <a:effectLst/>
          </c:spPr>
          <c:invertIfNegative val="0"/>
          <c:dLbls>
            <c:numFmt formatCode="&quot;약 &quot;0&quot;건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91F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7D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8A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9월</c:v>
                  </c:pt>
                  <c:pt idx="1">
                    <c:v>10월 1~14일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258</c:v>
                </c:pt>
              </c:numCache>
            </c:numRef>
          </c:val>
        </c:ser>
        <c:dLbls>
          <c:numFmt formatCode="&quot;약 &quot;0&quot;건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91F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91F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91F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91F28"/>
                </a:solidFill>
                <a:latin typeface="+mn-lt"/>
              </a:rPr>
              <a:t>하루 평균 결제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하루 평균 결제</c:v>
                </c:pt>
              </c:strCache>
            </c:strRef>
          </c:tx>
          <c:spPr>
            <a:solidFill>
              <a:srgbClr val="6F7D97"/>
            </a:solidFill>
            <a:effectLst/>
          </c:spPr>
          <c:invertIfNegative val="0"/>
          <c:dLbls>
            <c:numFmt formatCode="&quot;약 &quot;0.0&quot;건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91F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7D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8A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9월</c:v>
                  </c:pt>
                  <c:pt idx="1">
                    <c:v>10월 1~14일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5.9</c:v>
                </c:pt>
              </c:numCache>
            </c:numRef>
          </c:val>
        </c:ser>
        <c:dLbls>
          <c:numFmt formatCode="&quot;약 &quot;0.0&quot;건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91F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91F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전복죽</c:v>
                </c:pt>
              </c:strCache>
            </c:strRef>
          </c:tx>
          <c:spPr>
            <a:solidFill>
              <a:srgbClr val="1568A3"/>
            </a:solidFill>
            <a:effectLst/>
          </c:spPr>
          <c:invertIfNegative val="0"/>
          <c:dLbls>
            <c:numFmt formatCode="0&quot;%&quot;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7월~8월 초</c:v>
                  </c:pt>
                  <c:pt idx="1">
                    <c:v>8월~현재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물회</c:v>
                </c:pt>
              </c:strCache>
            </c:strRef>
          </c:tx>
          <c:spPr>
            <a:solidFill>
              <a:srgbClr val="6F7D97"/>
            </a:solidFill>
            <a:effectLst/>
          </c:spPr>
          <c:invertIfNegative val="0"/>
          <c:dLbls>
            <c:numFmt formatCode="0&quot;%&quot;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7월~8월 초</c:v>
                  </c:pt>
                  <c:pt idx="1">
                    <c:v>8월~현재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기타·그 외</c:v>
                </c:pt>
              </c:strCache>
            </c:strRef>
          </c:tx>
          <c:spPr>
            <a:solidFill>
              <a:srgbClr val="C4CED8"/>
            </a:solidFill>
            <a:effectLst/>
          </c:spPr>
          <c:invertIfNegative val="0"/>
          <c:dLbls>
            <c:numFmt formatCode="0&quot;%&quot;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7월~8월 초</c:v>
                  </c:pt>
                  <c:pt idx="1">
                    <c:v>8월~현재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dLbls>
          <c:numFmt formatCode="0&quot;%&quot;;;" sourceLinked="0"/>
          <c:txPr>
            <a:bodyPr/>
            <a:lstStyle/>
            <a:p>
              <a:pPr>
                <a:defRPr b="1" i="0" strike="noStrike" sz="16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91F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4E59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91F2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91F28"/>
                </a:solidFill>
                <a:latin typeface="+mn-lt"/>
              </a:rPr>
              <a:t>300만 원 배분 (10월 말~11월)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300만 원 배분</c:v>
                </c:pt>
              </c:strCache>
            </c:strRef>
          </c:tx>
          <c:spPr>
            <a:solidFill>
              <a:srgbClr val="1568A3"/>
            </a:solidFill>
            <a:effectLst/>
          </c:spPr>
          <c:invertIfNegative val="0"/>
          <c:dLbls>
            <c:numFmt formatCode="0&quot;만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91F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GFA ADVoost</c:v>
                  </c:pt>
                  <c:pt idx="1">
                    <c:v>쇼핑검색</c:v>
                  </c:pt>
                  <c:pt idx="2">
                    <c:v>GFA 카탈로그 리타겟</c:v>
                  </c:pt>
                  <c:pt idx="3">
                    <c:v>파워링크 셰프·브랜드</c:v>
                  </c:pt>
                  <c:pt idx="4">
                    <c:v>파워링크 전복죽</c:v>
                  </c:pt>
                  <c:pt idx="5">
                    <c:v>생선구이·쭈꾸미 테스트</c:v>
                  </c:pt>
                  <c:pt idx="6">
                    <c:v>카카오 디스플레이 리타겟</c:v>
                  </c:pt>
                  <c:pt idx="7">
                    <c:v>카카오톡 채널 메시지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105</c:v>
                </c:pt>
                <c:pt idx="1">
                  <c:v>60</c:v>
                </c:pt>
                <c:pt idx="2">
                  <c:v>45</c:v>
                </c:pt>
                <c:pt idx="3">
                  <c:v>24</c:v>
                </c:pt>
                <c:pt idx="4">
                  <c:v>21</c:v>
                </c:pt>
                <c:pt idx="5">
                  <c:v>21</c:v>
                </c:pt>
                <c:pt idx="6">
                  <c:v>15</c:v>
                </c:pt>
                <c:pt idx="7">
                  <c:v>9</c:v>
                </c:pt>
              </c:numCache>
            </c:numRef>
          </c:val>
        </c:ser>
        <c:dLbls>
          <c:numFmt formatCode="0&quot;만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91F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59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통영숙수 7월부터 10월 중순까지의 광고·판매 데이터를 바탕으로, 4분기 운영안과 내년 상반기까지의 방향을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순서는 네 부분입니다. 현황은 짧게 보고, 전략과 운영안, 예산과 일정을 중심으로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결론부터 말씀드리면, 지금은 예산을 늘릴 때가 아니라 효율을 바로잡을 때입니다. 네 가지를 바꾸면 단계적으로 목표에 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10월은 2주 만에 3분기 석 달 광고비의 절반 이상을 썼는데, 효율은 절반으로 떨어졌습니다.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광고로 늘어난 방문 대부분이 사지 않는 사람이었다는 뜻입니다. 트래픽 목적 캠페인, 스마트채널 지면, 60세 이상 노출이 클릭만 만든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팔리는 상품과 광고비가 가는 상품이 어긋나 있습니다. 반대로 지난여름 물회는 매출의 70%를 낸 검증된 상품이라 내년 여름의 핵심 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가지 모두 예산을 늘리지 않고도 고칠 수 있는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셰프 협업 간편식이 쏟아지면서 셰프 이름만으로는 구분되지 않습니다. 통영 출신이라는 이야기가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생선구이·쭈꾸미는 판매 비중이 작아 4분기에는 반응만 확인하고, 좋으면 다음 분기에 키웁니다.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지금은 연령 그룹을 나눠 놓고 같은 소재를 보여주고 있습니다. 나누려면 메시지도 나눠야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구매 데이터가 부족한 지금은 전환이 가장 잘 일어나는 곳에서 먼저 쌓고, 그 고객을 자사몰 단골로 옮기는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트래픽 목적 캠페인은 운영하지 않습니다. 구매가 목적인데 클릭 잘하는 사람에게 노출되도록 학습되기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인지 광고는 효율이 나온 뒤에 붙입니다. 지금은 회수와 재구매가 먼저입니다.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쭈꾸미의 '가을'은 메뉴 제안으로만 씁니다. 원산지 표현은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소재는 전복죽 5종을 중심으로, 생선구이·쭈꾸미는 대상별 2종씩 테스트용으로 만듭니다. 모든 소재에 셰프 얼굴, 근거 배지 하나, "2팩부터 무료배송"을 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소재는 전복죽 5종을 중심으로, 생선구이·쭈꾸미는 대상별 2종씩 테스트용으로 만듭니다. 2주 단위로 성과를 보고 하위 소재를 교체합니다.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지난여름 반응이 가장 좋았던 물회 광고는 셰프 얼굴, 구체적인 근거, 여름 한정이라는 이유를 한 장에 담았습니다. 신규 소재는 이 틀을 그대로 가져갑니다.
[구성 참고]
A 셰프 × 초록빛 전복죽(40~60대): 왼쪽 절반 셰프 상반신 / 오른쪽 전복죽 클로즈업 / 상단 헤드라인 / 우하단 "완도산 전복 3마리분" 원형 배지 / 하단 띠 "2팩부터 무료배송"
B 아이 아침(30대): 배경 아침 식탁 / 중앙 전복죽 / 좌하단 작은 셰프 얼굴 원형 / 상단 헤드라인 / "취사 13분" 배지 / 하단 띠 CTA
C 2팩 무료배송(리타겟): 전복죽 2팩 나란히 / 큰 문구 "2팩이면 4인분, 배송비도 무료" / 셰프 얼굴 작게 / 하단 띠 CTA
D 아이 생선 반찬(30대 테스트): 아이 식탁 + 생선 살 클로즈업 / 헤드라인 / "국내산 삼치" 배지 / 하단 띠 CTA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ADVoost와 쇼핑검색은 상품명을 그대로 광고 문구로 씁니다. '인생쭈꾸미'는 다른 업체도 쓰는 이름이라 검색에서 혼동이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바로 450%로 갈 수는 없습니다. 효율을 깎는 요인을 하나씩 걷어내며 올라가는 경로를 약속드리는 겁니다.
(막대 높이는 단계별 목표를 나타낸 개념도입니다. 목표·BEP는 광고주 제공)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4분기 예상치는 BEP보다 낮습니다. 4분기는 구조를 바로잡고 데이터를 쌓는 기간이며, 12월 BEP 근접을 목표로 운영합니다.
매체별 근거:
- 셰프 파워링크: 3분기 셰프명 검색은 비용 거의 없이 구매. 검색량이 적어 예산 소진에 한계
- 쇼핑검색: 10월 전복죽 193%, 메인 키워드 228%
- ADVoost: 10월 ADVoost 전복죽 187%
- 카탈로그: 10월 GFA 장바구니 매출이 구매 매출의 약 3배
- 카카오: 이력이 없어 보수적으로 추정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 작업만으로도 10월에 클릭만 만들던 노출이 대부분 정리됩니다.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상품이 바뀌어도 캠페인은 유지하고 소재만 바꿉니다. 시즌 상품은 최소 4주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통영숙수는 아직 아는 사람이 적은 만큼, 지금 쌓는 구매 데이터와 셰프 인지도가 그대로 설과 내년 여름의 출발점이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NC_DARK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C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posal/tongyeong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6053328"/>
            <a:ext cx="155448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49840" y="6355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Credible Outcome Reliable Evolution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228600" y="6492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chemeClr val="bg1"/>
                </a:solidFill>
              </a:rPr>
              <a:t>©2026 NICECORE. ALL RIGHTS RESERVED.</a:t>
            </a:r>
            <a:endParaRPr lang="en-US" sz="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C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posal/tongyeong/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6382512"/>
            <a:ext cx="1188720" cy="1737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©2026 NICECORE. ALL RIGHTS RESERVED.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NICECORE 광고 운영 제안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5544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통영숙수 광고 운영 제안서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468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전복죽 집중으로 BEP부터, 셰프·리타겟·재구매로 450%까지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063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2026년 10월 19일  ·  NICECORE 퍼포먼스마케팅팀 → 브레이브컴퍼니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" y="1033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60704" y="1536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목차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060704" y="1975104"/>
            <a:ext cx="420624" cy="0"/>
          </a:xfrm>
          <a:prstGeom prst="line">
            <a:avLst/>
          </a:prstGeom>
          <a:noFill/>
          <a:ln w="25400">
            <a:solidFill>
              <a:srgbClr val="8CC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23176" y="11704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현황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목표와 현재 · 스마트스토어 · 판매 비중 · 핵심 문제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23176" y="1920240"/>
            <a:ext cx="4343400" cy="0"/>
          </a:xfrm>
          <a:prstGeom prst="line">
            <a:avLst/>
          </a:prstGeom>
          <a:noFill/>
          <a:ln w="12700">
            <a:solidFill>
              <a:srgbClr val="C4C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23176" y="2468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468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전략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98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포지셔닝 · 상품별 역할 · 두 대상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23176" y="3218688"/>
            <a:ext cx="4343400" cy="0"/>
          </a:xfrm>
          <a:prstGeom prst="line">
            <a:avLst/>
          </a:prstGeom>
          <a:noFill/>
          <a:ln w="12700">
            <a:solidFill>
              <a:srgbClr val="C4C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23176" y="376732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767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운영안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197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착지와 측정 · 매체별 캠페인 · 메시지 · 소재 · 객단가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23176" y="4517136"/>
            <a:ext cx="4343400" cy="0"/>
          </a:xfrm>
          <a:prstGeom prst="line">
            <a:avLst/>
          </a:prstGeom>
          <a:noFill/>
          <a:ln w="12700">
            <a:solidFill>
              <a:srgbClr val="C4CE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23176" y="506577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50657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예산·일정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495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목표까지의 경로 · 4분기 예산 · 착수 후 8주 · 로드맵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23176" y="5815584"/>
            <a:ext cx="4343400" cy="0"/>
          </a:xfrm>
          <a:prstGeom prst="line">
            <a:avLst/>
          </a:prstGeom>
          <a:noFill/>
          <a:ln w="12700">
            <a:solidFill>
              <a:srgbClr val="C4C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요약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전복죽에 집중해 BEP부터 회복하고, 450%까지 단계적으로 올립니다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2154" cy="288036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전복죽 집중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0992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8월 이후 매출 95%. 4분기 예산 대부분을 전복죽에, 쭈꾸미·생선구이는 소액 테스트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79394" y="1508760"/>
            <a:ext cx="2602154" cy="288036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3714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371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3714" y="23774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전환 품질 회복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3714" y="2880360"/>
            <a:ext cx="20992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클릭만 만드는 노출을 걷어내고, 셰프 검색·쇼핑검색·리타겟에 집중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0148" y="1508760"/>
            <a:ext cx="2602154" cy="288036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446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44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84468" y="23774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객단가 올리기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84468" y="2880360"/>
            <a:ext cx="20992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무료배송 5만 원 = 전복죽 2팩. "2팩부터 무료배송"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40901" y="1508760"/>
            <a:ext cx="2602154" cy="288036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9315221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15221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15221" y="2377440"/>
            <a:ext cx="20992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다시 부르기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15221" y="2880360"/>
            <a:ext cx="20992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카탈로그·카카오 리타겟·카카오톡 채널로 재구매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617720"/>
            <a:ext cx="10362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예산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월 300만 원으로 시작 → BEP 근접 시 12월 400만 원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경로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12월 BEP 근접 → 2027년 1분기 BEP 이상 → 2분기 450%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Ⅰ 현황 · 목표와 현재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현재 ROAS는 BEP의 절반 수준입니다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00200"/>
          <a:ext cx="542513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188720"/>
                <a:gridCol w="640080"/>
                <a:gridCol w="1188720"/>
                <a:gridCol w="11731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광고비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구매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구매 매출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3분기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약 306만 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122건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약 466만 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152%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10월 1~14일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약 168만 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33건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약 137만 원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82%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3154680"/>
            <a:ext cx="5425135" cy="1417320"/>
          </a:xfrm>
          <a:prstGeom prst="roundRect">
            <a:avLst>
              <a:gd name="adj" fmla="val 7742"/>
            </a:avLst>
          </a:prstGeom>
          <a:solidFill>
            <a:srgbClr val="FDF0DD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92240" y="3154680"/>
            <a:ext cx="48764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10월은 2주 만에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3분기 석 달 광고비의 절반 이상을 썼고,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효율은 절반으로 떨어졌습니다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통영숙수 캠페인만, 구매완료 기준. 목표·BEP는 광고주 제공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Ⅰ 현황 · 스마트스토어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방문은 세 배 늘었지만, 결제는 1.4배에 그쳤습니다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2926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약 2.9배</a:t>
            </a:r>
            <a:endParaRPr lang="en-US" sz="15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3566160" y="1508760"/>
          <a:ext cx="2926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5661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약 1.4배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58000" y="1508760"/>
            <a:ext cx="4785055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223760" y="182880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구매 전환율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286000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4.9%</a:t>
            </a:r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2.3%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38328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9월 → 10월 1~14일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402336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광고로 늘어난 방문 대부분이 사지 않는 사람이었습니다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525780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3EF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25780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방문 1위 경로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9월 네이버 통합검색 38.4%  →  10월 디스플레이 광고 74.9%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943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스마트스토어 통계, 광고주 제공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Ⅰ 현황 · 판매 비중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지금 통영숙수의 매출은 사실상 전복죽 하나입니다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11277295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DF0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47091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10월 광고비의 40% 이상이 쭈꾸미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에 쓰였고, 쭈꾸미 ROAS는 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35%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입니다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스마트스토어·자사몰 동일 비율, 광고주 제공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Ⅰ 현황 · 핵심 문제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효율을 깎는 원인 다섯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08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사려는 사람보다 클릭하는 사람에게 돈을 씁니다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508760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상품·목적·연령으로 쪼갰지만 소재는 모두 같고, 구매는 ADVoost와 쇼핑검색에만 몰림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578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3957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셰프라는 자산을 쓰지 않습니다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395728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셰프 얼굴은 판매 종료된 물회 소재에만, 셰프명 검색광고 없음. 셰프명 검색은 거의 비용 없이 구매로 이어졌음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4655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8269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팔리는 상품과 광고 비중이 맞지 않습니다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282696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매출 95%가 전복죽인데 광고비 40% 이상이 쭈꾸미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3525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1696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브랜드는 프리미엄, 상품명은 가성비입니다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4169664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광고에 그대로 노출되는 상품명에 '실속', 'BEST 42%', 전 상품 상시 할인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9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566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다시 부르는 장치가 없습니다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5056632"/>
            <a:ext cx="5470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담고 안 산 고객이 많지만 카탈로그 리타겟·재구매 채널 없음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Ⅱ 전략 · 포지셔닝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셰프 얼굴이 아니라, 셰프의 '고향'으로 차별화합니다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508760"/>
            <a:ext cx="101800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"통영에서 나고 자란 장호준 셰프가, 고향의 맛을 기준으로 직접 개발한 한 끼"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통영숙수만 가진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354573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749040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통영 출신 셰프라는 진정성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2978" y="3474720"/>
            <a:ext cx="354573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7298" y="3749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729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45938" y="3749040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백화점 팝업으로 검증된 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7317" y="3474720"/>
            <a:ext cx="354573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1637" y="3749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163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20277" y="3749040"/>
            <a:ext cx="2539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상품별로 분명한 원물 강점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20277" y="4206240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완도산 전복 3마리분, 48시간 숙성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가격은 대기업과, 리뷰 수는 맛집 브랜드와, 셰프 이름은 다른 셰프 브랜드와 겹칩니다. 겹치지 않는 건 위의 세 가지입니다.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Ⅱ 전략 · 상품별 역할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4분기는 전복죽, 내년은 시즌 상품으로 이어갑니다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40280"/>
                <a:gridCol w="3749040"/>
                <a:gridCol w="28163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상품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핵심 사실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이길 포인트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게우 통전복죽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4분기 주력 (매출 95%)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완도산 전복 3마리분과 내장, 밥솥 취사 13분, 1팩 2인분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내장으로 낸 초록빛, 식당 전복죽의 진한 맛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생선구이 (고등어·삼치)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소액 테스트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1팩 280g, 가시 99.9% 제거, 48시간 숙성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속살까지 밴 간, 셰프 비법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쭈꾸미볶음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소액 테스트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370g, 쭈꾸미 75%, 맵기 3단계, 당류 100g당 1g 미만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셰프 양념, 함량, 맵기 조절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새조개 샤브샤브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2027년 1분기 시즌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내년 상반기 재운영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시즌 한정과 셰프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참돔 물회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2027년 2분기 핵심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7월~8월 초 매출 70%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검증된 상품, 셰프 얼굴 소재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콰삭오징어는 전복죽 주문에 하나 더 담는 안주 상품으로 활용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Ⅱ 전략 · 두 대상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같은 전복죽도 대상에 따라 다르게 말합니다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690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6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30대 주부</a:t>
                      </a:r>
                      <a:endParaRPr lang="en-US" sz="16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40~60대</a:t>
                      </a:r>
                      <a:endParaRPr lang="en-US" sz="16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찾는 이유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아이에게 먹일 음식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부드럽고 담백한 음식, 경제적 여유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비교 상대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대기업·아이 전용 순살 생선, 마트 파우치 죽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백화점 수산·죽 코너, 선물용 수산 세트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이길 논리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"매일은 아니어도, 아이 먹을 것만큼은 셰프 기준으로"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"백화점 팝업에서 선보인 셰프의 한 끼를 집에서"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앞세울 상품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전복죽(아이 아침), 생선구이(국내산 삼치)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전복죽, 생선구이, 쭈꾸미(당류), 선물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20대 이하는 구매가 거의 없어 광고 대상에서 제외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착지와 측정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신규는 네이버에서 스토어로, 다시 부르기는 카카오에서 자사몰로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신규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네이버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검색광고·GFA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11880" y="2240280"/>
            <a:ext cx="548640" cy="320040"/>
          </a:xfrm>
          <a:prstGeom prst="rightArrow">
            <a:avLst/>
          </a:prstGeom>
          <a:solidFill>
            <a:srgbClr val="D1D6DB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920240"/>
            <a:ext cx="2286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9202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스마트스토어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920240"/>
            <a:ext cx="4785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결제 문턱이 가장 낮아 구매 데이터가 빨리 쌓임. 전환 자동 연동, 별점·찜 노출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다시 부르기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832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카카오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디스플레이·비즈보드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11880" y="3703320"/>
            <a:ext cx="548640" cy="320040"/>
          </a:xfrm>
          <a:prstGeom prst="rightArrow">
            <a:avLst/>
          </a:prstGeom>
          <a:solidFill>
            <a:srgbClr val="D1D6DB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3383280"/>
            <a:ext cx="2286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33832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자사몰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383280"/>
            <a:ext cx="4785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스마트스토어엔 카카오 픽셀 설치 불가. 자사몰에서만 구매 측정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재구매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카카오톡 채널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재구매 메시지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11880" y="5166360"/>
            <a:ext cx="548640" cy="320040"/>
          </a:xfrm>
          <a:prstGeom prst="rightArrow">
            <a:avLst/>
          </a:prstGeom>
          <a:solidFill>
            <a:srgbClr val="D1D6DB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4846320"/>
            <a:ext cx="2286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4846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자사몰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4846320"/>
            <a:ext cx="4785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회원 데이터, 수수료 절감, 정기배송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매체별 캠페인 설계 — 네이버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네이버는 사려는 사람에게만 돈을 씁니다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캠페인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대상·키워드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운영 원칙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파워링크 셰프·브랜드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장호준, 장호준 셰프, 장호준 전복죽, 통영숙수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상시 1순위. 확장소재에 셰프 얼굴, "2팩부터 무료배송"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파워링크 전복죽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게우 전복죽, 통전복죽, 아이 아침 전복죽, 전복죽 밀키트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입찰 상한, 2주마다 구매 없는 키워드 정리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쇼핑검색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전복죽 중심 + 생선구이 소액. 상품명·셰프명 결합 키워드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'쭈꾸미' 단독 일반어 중단, 콘텐츠 매체 끄기, 제외키워드 등록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GFA ADVoost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25세 이상, 전복죽 비중을 높인 상품 세트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상품·연령으로 쪼개지 않음, 트래픽 목적·스마트채널 없음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GFA 카탈로그 리타겟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상세 조회·장바구니 고객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담고 안 산 고객 회수, 무료배송 문구 함께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GFA 생선구이·쭈꾸미 테스트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① 30대 여성 + 육아·요리 관심  ② 40~60대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소액으로 대상별 반응 확인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94415" cy="502920"/>
          </a:xfrm>
          <a:prstGeom prst="roundRect">
            <a:avLst>
              <a:gd name="adj" fmla="val 21818"/>
            </a:avLst>
          </a:prstGeom>
          <a:solidFill>
            <a:srgbClr val="E3EF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4864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트래픽 목적 캠페인은 운영하지 않습니다. 구매가 목적인데 클릭 잘하는 사람에게 노출되도록 학습되기 때문입니다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매체별 캠페인 설계 — 카카오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카카오는 다시 부르는 데 씁니다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7823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캠페인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대상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운영 원칙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카카오 디스플레이 리타겟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자사몰 방문·장바구니 고객, 채널 친구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카카오 픽셀 설치 후 시작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카카오톡 채널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구매 고객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패키지 동봉 QR·가입 쿠폰으로 친구 모집, 전복죽 재구매·시즌 상품 안내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카카오 비즈보드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40~60대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4분기 초 보류.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BEP 근접 후 또는 11~12월 브랜디드 콘텐츠 시점에 시작</a:t>
                      </a:r>
                      <a:endParaRPr lang="en-US" sz="1500" dirty="0"/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3393338" cy="868680"/>
          </a:xfrm>
          <a:prstGeom prst="roundRect">
            <a:avLst>
              <a:gd name="adj" fmla="val 12632"/>
            </a:avLst>
          </a:prstGeom>
          <a:solidFill>
            <a:srgbClr val="E3EF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8463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회수 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디스플레이 리타겟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941978" y="48463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›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399178" y="4846320"/>
            <a:ext cx="3393338" cy="868680"/>
          </a:xfrm>
          <a:prstGeom prst="roundRect">
            <a:avLst>
              <a:gd name="adj" fmla="val 12632"/>
            </a:avLst>
          </a:prstGeom>
          <a:solidFill>
            <a:srgbClr val="E3EF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73498" y="48463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재구매 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카카오톡 채널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92517" y="48463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8249717" y="4846320"/>
            <a:ext cx="339333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24037" y="48463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인지  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비즈보드는 효율이 나온 뒤에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메시지와 카피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상품마다, 대상마다 다른 한 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메시지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3566160"/>
                <a:gridCol w="30449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상품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30대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40~60대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선물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아이 아침은 전복죽 한 팩으로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내장을 아낌없이 넣은 초록빛 전복죽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부모님 댁에 보내는 셰프의 전복죽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생선구이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아이 생선 반찬, 가시 걱정 없이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48시간 숙성, 속살까지 밴 셰프의 간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셰프 브랜드 생선 선물 구성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쭈꾸미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맵기 3단계, 온 가족이 함께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설탕은 덜고 유자와 매실로 잡은 감칠맛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파워링크 카피 (제목 15자 / 설명 45자)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7068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키워드 묶음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제목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셰프·브랜드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장호준 셰프의 통영숙수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통영에서 나고 자란 장호준 셰프가 직접 개발한 전복죽, 생선구이, 쭈꾸미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게우 넣은 통전복죽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완도산 전복 3마리분에 내장까지 넣은 초록빛 전복죽. 밥솥 취사 한 번이면 완성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생선구이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48시간 숙성 생선구이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속살까지 간이 밴 고등어·삼치. 통영 출신 장호준 셰프의 비법 생선구이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신규 소재 기획 ① 공통 원칙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소재는 새로 짭니다. 셰프 얼굴, 근거 하나, 무료배송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64792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셰프 얼굴 필수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860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통영 출신 셰프가 첫눈에 보이게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3008" y="1508760"/>
            <a:ext cx="541004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650732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73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64792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근거 배지 하나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55968" y="22860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완도산 전복 3마리분 / 48시간 숙성 / 가시 99.9% 제거 / 당류 100g당 1g 미만 중 하나만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1004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611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93592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CTA 통일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148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"2팩부터 무료배송"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3008" y="3337560"/>
            <a:ext cx="5410048" cy="1600200"/>
          </a:xfrm>
          <a:prstGeom prst="roundRect">
            <a:avLst>
              <a:gd name="adj" fmla="val 6857"/>
            </a:avLst>
          </a:prstGeom>
          <a:solidFill>
            <a:srgbClr val="FDF0DD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7328" y="36118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732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55968" y="3593592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쓰지 않는 것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55968" y="41148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'실속', 할인율 강조, 대상과 맞지 않는 메시지, 제철·국내산(쭈꾸미·고등어), 효능 표현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3EF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2578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사이즈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GFA 피드 1200×628, 1:1(1200×1200) / 카카오 디스플레이 동일 / 카카오 비즈보드 1029×258 (J만)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신규 소재 기획 ② 소재 라인업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소재는 새로 짭니다. 셰프 얼굴, 근거 하나, 무료배송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13232"/>
                <a:gridCol w="1325880"/>
                <a:gridCol w="2514600"/>
                <a:gridCol w="2103120"/>
                <a:gridCol w="2057400"/>
                <a:gridCol w="1280160"/>
                <a:gridCol w="640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코드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상품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대상·용도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헤드라인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보조 문구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비주얼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배지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투입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40~60대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통영 출신 셰프가 끓인 초록빛 전복죽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완도산 전복 3마리분, 내장까지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셰프 상반신 + 초록빛 전복죽 클로즈업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완도산 전복 3마리분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30대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아이 아침, 셰프의 전복죽 한 그릇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밥솥에 넣고 취사 한 번, 1팩 2인분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아침 식탁, 아이와 나눠 먹는 장면 + 셰프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취사 13분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리타겟 (공통)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2팩이면 4인분, 배송비도 무료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담아두신 전복죽, 지금 2팩으로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전복죽 2팩 + 셰프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5만 원 이상 무료배송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D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생선구이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30대 (테스트)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아이 생선 반찬, 가시 걱정 없이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가시 99.9% 제거, 48시간 숙성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아이 식탁 + 가시 없는 살 클로즈업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국내산 삼치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D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생선구이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40~60대 (테스트)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48시간 숙성, 속살까지 밴 셰프의 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통영 출신 장호준 셰프의 생선구이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셰프 + 정갈한 상차림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48시간 숙성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D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쭈꾸미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30대 (테스트)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맵기는 우리 집에 맞게, 3단계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쭈꾸미 75%, 셰프 양념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가족 저녁 식탁 + 셰프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맵기 3단계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G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D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쭈꾸미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40~60대 (테스트)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설탕은 덜고, 유자와 매실로 잡은 감칠맛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장호준 셰프의 쭈꾸미볶음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셰프 + 쭈꾸미볶음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당류 100g당 1g 미만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40~60대 (11월)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찬 바람 불 때, 진한 전복죽 한 그릇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내장까지 넣어 초록빛이 납니다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김 오르는 전복죽 + 셰프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완도산 전복 3마리분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5~6주차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선물 (12월)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부모님 댁에 보내는 셰프의 전복죽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백화점 팝업에서 선보인 통영숙수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선물 포장 + 셰프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배송 마감일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7~8주차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D9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브랜드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비즈보드 (12월~)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통영에서 나고 자란 셰프의 한 끼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장호준 셰프의 통영숙수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셰프 + 대표 상품 3종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7~8주차</a:t>
                      </a:r>
                      <a:endParaRPr lang="en-US" sz="1100"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소재 시안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핵심 소재 네 장은 이렇게 구성합니다</a:t>
            </a:r>
            <a:endParaRPr lang="en-US" sz="2800" dirty="0"/>
          </a:p>
        </p:txBody>
      </p:sp>
      <p:sp>
        <p:nvSpPr>
          <p:cNvPr id="4" name="소재_A"/>
          <p:cNvSpPr/>
          <p:nvPr/>
        </p:nvSpPr>
        <p:spPr>
          <a:xfrm>
            <a:off x="548640" y="1554480"/>
            <a:ext cx="3520440" cy="1842364"/>
          </a:xfrm>
          <a:prstGeom prst="rect">
            <a:avLst/>
          </a:prstGeom>
          <a:solidFill>
            <a:srgbClr val="F2F4F6"/>
          </a:solidFill>
          <a:ln w="12700">
            <a:solidFill>
              <a:srgbClr val="8B95A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29768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40280"/>
            <a:ext cx="1615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셰프 × 초록빛 전복죽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880360"/>
            <a:ext cx="1615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40~60대</a:t>
            </a:r>
            <a:endParaRPr lang="en-US" sz="1300" dirty="0"/>
          </a:p>
        </p:txBody>
      </p:sp>
      <p:sp>
        <p:nvSpPr>
          <p:cNvPr id="8" name="소재_B"/>
          <p:cNvSpPr/>
          <p:nvPr/>
        </p:nvSpPr>
        <p:spPr>
          <a:xfrm>
            <a:off x="6278728" y="1554480"/>
            <a:ext cx="3520440" cy="1842364"/>
          </a:xfrm>
          <a:prstGeom prst="rect">
            <a:avLst/>
          </a:prstGeom>
          <a:solidFill>
            <a:srgbClr val="F2F4F6"/>
          </a:solidFill>
          <a:ln w="12700">
            <a:solidFill>
              <a:srgbClr val="8B95A1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027768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0027768" y="2240280"/>
            <a:ext cx="1615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아이 아침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27768" y="2880360"/>
            <a:ext cx="1615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30대</a:t>
            </a:r>
            <a:endParaRPr lang="en-US" sz="1300" dirty="0"/>
          </a:p>
        </p:txBody>
      </p:sp>
      <p:sp>
        <p:nvSpPr>
          <p:cNvPr id="12" name="소재_C"/>
          <p:cNvSpPr/>
          <p:nvPr/>
        </p:nvSpPr>
        <p:spPr>
          <a:xfrm>
            <a:off x="548640" y="3671164"/>
            <a:ext cx="3520440" cy="1842364"/>
          </a:xfrm>
          <a:prstGeom prst="rect">
            <a:avLst/>
          </a:prstGeom>
          <a:solidFill>
            <a:srgbClr val="F2F4F6"/>
          </a:solidFill>
          <a:ln w="12700">
            <a:solidFill>
              <a:srgbClr val="8B95A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297680" y="37168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C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4356964"/>
            <a:ext cx="1615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2팩 무료배송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997044"/>
            <a:ext cx="1615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리타겟</a:t>
            </a:r>
            <a:endParaRPr lang="en-US" sz="1300" dirty="0"/>
          </a:p>
        </p:txBody>
      </p:sp>
      <p:sp>
        <p:nvSpPr>
          <p:cNvPr id="16" name="소재_D"/>
          <p:cNvSpPr/>
          <p:nvPr/>
        </p:nvSpPr>
        <p:spPr>
          <a:xfrm>
            <a:off x="6278728" y="3671164"/>
            <a:ext cx="3520440" cy="1842364"/>
          </a:xfrm>
          <a:prstGeom prst="rect">
            <a:avLst/>
          </a:prstGeom>
          <a:solidFill>
            <a:srgbClr val="F2F4F6"/>
          </a:solidFill>
          <a:ln w="12700">
            <a:solidFill>
              <a:srgbClr val="8B95A1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027768" y="37168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0027768" y="4356964"/>
            <a:ext cx="1615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아이 생선 반찬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27768" y="4997044"/>
            <a:ext cx="1615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30대 테스트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실제 촬영·제작은 운영 확정 후 진행. 셰프 IP(얼굴·이름·영상) 사용 가능 확인 완료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Ⅲ 운영안 · 객단가와 상품명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상품명이 곧 광고 문구, 무료배송이 곧 객단가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2팩부터 무료배송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무료배송 5만 원 = 전복죽 2팩(51,800원)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1팩이 2인분이라 "2팩 = 4인분"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쓰는 곳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파워링크 확장소재 "전복죽 2팩부터 무료배송"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배너 "2팩이면 4인분, 배송비도 무료"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리타겟 "담아두신 전복죽, 2팩이면 무료배송"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묶음 "전복죽 1팩 + 고등어구이 세트(스토어 기준 50,400원)"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상품명 정리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965960"/>
          <a:ext cx="5745175" cy="914400"/>
        </p:xfrm>
        <a:graphic>
          <a:graphicData uri="http://schemas.openxmlformats.org/drawingml/2006/table">
            <a:tbl>
              <a:tblPr/>
              <a:tblGrid>
                <a:gridCol w="2872588"/>
                <a:gridCol w="287258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지금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제안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[BEST] 통영숙수 실속 2종 패키지 (고등어+삼치)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장호준의 48시간 숙성 생선구이 2종 (고등어·삼치)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통영숙수 비법소스 고등어구이 세트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장호준의 48시간 숙성 고등어구이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장호준의 名品 게우 통전복죽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장호준의 게우 통전복죽 (완도산 전복 3마리분)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장호준의 인생쭈꾸미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장호준의 쭈꾸미볶음 370g (맵기 3단계)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E3EF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54864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상시 할인 대신 11월, 연말, 설처럼 기간을 정한 행사로 운영하면 프리미엄 이미지를 지킬 수 있습니다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Ⅳ 예산·일정 · 목표까지의 경로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82%에서 450%까지, 네 단계로 올립니다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453181"/>
            <a:ext cx="1417320" cy="341579"/>
          </a:xfrm>
          <a:prstGeom prst="rect">
            <a:avLst/>
          </a:prstGeom>
          <a:solidFill>
            <a:srgbClr val="8B95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087421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82%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현재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788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10월 1~14일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3514" y="2961640"/>
            <a:ext cx="2331720" cy="833120"/>
          </a:xfrm>
          <a:prstGeom prst="rect">
            <a:avLst/>
          </a:prstGeom>
          <a:solidFill>
            <a:srgbClr val="8CC8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53514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200% 이상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053514" y="39044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구조 정리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53514" y="4178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10월 말~11월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53514" y="445312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저효율 노출 제거, 쭈꾸미 일반어 중단, 셰프 파워링크, 카탈로그. 스토어 전환율 9월 수준(4.9%) 회복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72788" y="2595067"/>
            <a:ext cx="2331720" cy="1199693"/>
          </a:xfrm>
          <a:prstGeom prst="rect">
            <a:avLst/>
          </a:prstGeom>
          <a:solidFill>
            <a:srgbClr val="4E9BD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72788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12월 BEP 근접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72788" y="39044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객단가·리타겟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72788" y="4178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11~12월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72788" y="445312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2팩부터 무료배송, 리타겟 확대, 브랜디드 콘텐츠 연계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92061" y="2420112"/>
            <a:ext cx="2331720" cy="1374648"/>
          </a:xfrm>
          <a:prstGeom prst="rect">
            <a:avLst/>
          </a:prstGeom>
          <a:solidFill>
            <a:srgbClr val="1568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92061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BEP 300% 이상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92061" y="39044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시즌·재구매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92061" y="4178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2027년 1분기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92061" y="445312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새조개 샤브샤브, 설 선물(진행 시), 카카오톡 채널 재구매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11335" y="1920240"/>
            <a:ext cx="2331720" cy="1874520"/>
          </a:xfrm>
          <a:prstGeom prst="rect">
            <a:avLst/>
          </a:prstGeom>
          <a:solidFill>
            <a:srgbClr val="0E4A7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11335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450%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11335" y="39044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확장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11335" y="4178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2027년 2분기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11335" y="445312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지난여름 매출 70% 물회 재출시, 쌓인 구매 데이터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545080"/>
            <a:ext cx="11094415" cy="0"/>
          </a:xfrm>
          <a:prstGeom prst="line">
            <a:avLst/>
          </a:prstGeom>
          <a:noFill/>
          <a:ln w="22225">
            <a:solidFill>
              <a:srgbClr val="F08A0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548640" y="2270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BEP 300%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증액 원칙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BEP 300% 이상을 2주 연속 유지하면 증액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Ⅳ 예산·일정 · 4분기 예산안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월 300만 원으로 시작해, BEP에 가까워지면 400만 원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2237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463040"/>
                <a:gridCol w="132588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매체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캠페인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300만 원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(10월 말~11월)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400만 원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(12월)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예상 ROAS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(추정)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네이버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파워링크 셰프·브랜드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24만 (8%)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24만 (6%)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300~500%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네이버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파워링크 전복죽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21만 (7%)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24만 (6%)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150~220%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네이버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쇼핑검색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60만 (20%)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72만 (18%)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200~250%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네이버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GFA ADVoost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105만 (35%)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132만 (33%)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200~260%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네이버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GFA 카탈로그 리타겟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45만 (15%)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60만 (15%)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250~350%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네이버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생선구이·쭈꾸미 테스트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21만 (7%)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24만 (6%)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80~150%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카카오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디스플레이 리타겟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15만 (5%)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20만 (5%)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150~250%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카카오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카카오톡 채널 메시지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9만 (3%)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12만 (3%)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200~300%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카카오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비즈보드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보류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32만 (8%)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50~100%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합계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300만 원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400만 원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201~281% /</a:t>
                      </a: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189~265%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909560" y="1463040"/>
          <a:ext cx="38404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03520"/>
            <a:ext cx="11094415" cy="566928"/>
          </a:xfrm>
          <a:prstGeom prst="roundRect">
            <a:avLst>
              <a:gd name="adj" fmla="val 19355"/>
            </a:avLst>
          </a:prstGeom>
          <a:solidFill>
            <a:srgbClr val="FDF0DD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22960" y="530352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4분기 예상치는 BEP보다 낮습니다. 4분기는 구조를 바로잡고 데이터를 쌓는 기간이며, 12월 BEP 근접을 목표로 운영합니다. 스토어 전체 결제 건수·전환율도 함께 보고합니다.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943600"/>
            <a:ext cx="9722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예상 ROAS는 3분기·10월 실적에 구조 개선 효과를 반영한 추정치(광고 매체 집계, 구매완료 기준). 예산 범위는 광고주 제공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Ⅳ 예산·일정 · 착수 후 8주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첫 주부터 새는 곳을 막습니다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주차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할 일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확인할 것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1주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계정 정리(그룹·이름, 트래픽 재개 안 함, 스마트채널 제외), 쭈꾸미 일반어 중단, 제외키워드, 콘텐츠 매체 끄기, 카카오 픽셀 설치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전환 집계, 스토어 전환율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2주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셰프 파워링크, ADVoost 통합(전복죽 비중 확대), 카탈로그 리타겟, "2팩부터 무료배송"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셰프명 검색 구매, 객단가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3주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셰프 얼굴 전복죽 신규 소재, 생선구이·쭈꾸미 테스트, 카카오 디스플레이 리타겟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대상별 클릭률·장바구니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4주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D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1차 결과 보고, 하위 키워드·소재 교체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ROAS 200% 이상, 전환율 회복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5~6주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D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이긴 메시지 확산, 브랜디드 콘텐츠 일정 맞춰 준비, 채널 친구 모집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리타겟 매출 비중, 채널 친구 수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7~8주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BEP 근접 시 400만 원 증액, 비즈보드 시작, 연말·설 준비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12월 BEP 근접 여부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94415" cy="502920"/>
          </a:xfrm>
          <a:prstGeom prst="roundRect">
            <a:avLst>
              <a:gd name="adj" fmla="val 21818"/>
            </a:avLst>
          </a:prstGeom>
          <a:solidFill>
            <a:srgbClr val="E3EF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4864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1주차 작업만으로도 10월에 클릭만 만들던 노출이 대부분 정리됩니다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Ⅳ 예산·일정 · 로드맵과 캘린더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4분기에 쌓고, 1분기에 지키고, 2분기에 키웁니다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8477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2026년 4분기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8CC8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12월 BEP 근접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앞세울 상품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전복죽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구조 정리, 셰프 파워링크, 카탈로그, 2팩 무료배송, 브랜디드 콘텐츠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33418" y="2148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53458" y="1508760"/>
            <a:ext cx="348477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82058" y="167335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2027년 1분기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82058" y="205740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1568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82058" y="20574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BEP 300% 이상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24688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앞세울 상품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새조개 샤브샤브, 설 선물(진행 시), 전복죽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82058" y="288036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시즌 상품 2주 전 소재 준비, 채널 재구매, 테스트 상품 확대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38237" y="21488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158277" y="1508760"/>
            <a:ext cx="348477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86877" y="1673352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2027년 2분기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6877" y="205740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E4A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86877" y="20574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450%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86877" y="246888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앞세울 상품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참돔 물회 재출시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86877" y="288036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물회 소재 틀로 사전 예고, BEP 이상 시 단계 증액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31113"/>
                <a:gridCol w="1131113"/>
                <a:gridCol w="1131113"/>
                <a:gridCol w="1131113"/>
                <a:gridCol w="1131113"/>
                <a:gridCol w="1131113"/>
                <a:gridCol w="1131113"/>
                <a:gridCol w="1131113"/>
                <a:gridCol w="1131113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10월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11월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12월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4월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5월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6월</a:t>
                      </a:r>
                      <a:endParaRPr lang="en-US" sz="11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앞세울 상품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전복죽 (구조 정리)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전복죽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전복죽, 연말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새조개 예고, 설 선물(진행 시)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새조개 샤브샤브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새조개, 전복죽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전복죽, 테스트 상품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물회 사전 예고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참돔 물회 재출시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메시지 예시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내장을 아낌없이 넣은 초록빛 전복죽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전복죽 2팩부터 무료배송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부모님 댁에 보내는 셰프의 전복죽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올해 설 선물은 통영 출신 셰프의 한 끼로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지금만 만나는 셰프의 새조개 샤브샤브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시즌 마감 안내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테스트 결과에 따라 결정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올여름도 셰프의 물회가 돌아옵니다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통영산 참돔 물회, 여름 한정</a:t>
                      </a:r>
                      <a:endParaRPr lang="en-US" sz="1000" dirty="0"/>
                    </a:p>
                  </a:txBody>
                  <a:tcPr marL="54864" marR="54864" marT="36576" marB="36576" anchor="t">
                    <a:lnL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548640" y="562356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새조개 샤브샤브·물회 출시 일정과 설 선물 세트 진행 여부는 확정되는 대로 반영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966960" y="638251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4분기를 '테스트하고 끄는 분기'가 아니라 '쌓는 분기'로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4754880" cy="3520440"/>
          </a:xfrm>
          <a:prstGeom prst="roundRect">
            <a:avLst>
              <a:gd name="adj" fmla="val 3117"/>
            </a:avLst>
          </a:prstGeom>
          <a:solidFill>
            <a:schemeClr val="bg1">
              <a:alpha val="1500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리포트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19456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주간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매체별 광고비·구매·ROAS, 장바구니 회수, 키워드·소재 교체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월간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상품별 성과, 대상별 테스트 결과, 셰프·브랜드명 검색량, 채널 친구 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97880" y="1508760"/>
            <a:ext cx="5468112" cy="3520440"/>
          </a:xfrm>
          <a:prstGeom prst="roundRect">
            <a:avLst>
              <a:gd name="adj" fmla="val 3117"/>
            </a:avLst>
          </a:prstGeom>
          <a:solidFill>
            <a:schemeClr val="bg1">
              <a:alpha val="1500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요청드릴 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24028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11~12월 브랜디드 콘텐츠 일정과 적용 프로모션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8986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98648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새조개 샤브샤브 출시 일정, 설 선물 세트 확정 시점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5570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5570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스마트스토어 신규·재구매 고객 비중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42153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215384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상품명 정리와 상시 할인 운영에 대한 의견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57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모든 전환은 총전환이 아닌 구매완료 기준 · 광고 성과는 통영숙수 캠페인만 집계 · 스마트스토어 통계·판매 비중·목표는 광고주 제공 · NICECORE 퍼포먼스마케팅팀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8288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1400" dirty="0"/>
          </a:p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THANK YOU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3666744"/>
            <a:ext cx="62179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3931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언제나 최상의 퍼포먼스로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클라이언트의 성장이라는 목표를 함께 하겠습니다.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CECORE Sky">
  <a:themeElements>
    <a:clrScheme name="NICECORE Sky">
      <a:dk1>
        <a:srgbClr val="191F28"/>
      </a:dk1>
      <a:lt1>
        <a:srgbClr val="FFFFFF"/>
      </a:lt1>
      <a:dk2>
        <a:srgbClr val="2E3A4E"/>
      </a:dk2>
      <a:lt2>
        <a:srgbClr val="F2F4F6"/>
      </a:lt2>
      <a:accent1>
        <a:srgbClr val="1568A3"/>
      </a:accent1>
      <a:accent2>
        <a:srgbClr val="4E5968"/>
      </a:accent2>
      <a:accent3>
        <a:srgbClr val="8B95A1"/>
      </a:accent3>
      <a:accent4>
        <a:srgbClr val="03B26C"/>
      </a:accent4>
      <a:accent5>
        <a:srgbClr val="F08A00"/>
      </a:accent5>
      <a:accent6>
        <a:srgbClr val="6F7D97"/>
      </a:accent6>
      <a:hlink>
        <a:srgbClr val="1568A3"/>
      </a:hlink>
      <a:folHlink>
        <a:srgbClr val="6F7D97"/>
      </a:folHlink>
    </a:clrScheme>
    <a:fontScheme name="NICECORE Sky">
      <a:majorFont>
        <a:latin typeface="SU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U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NICECORE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통영숙수 광고 운영 제안서</dc:title>
  <dc:subject>PptxGenJS Presentation</dc:subject>
  <dc:creator>NICECORE 퍼포먼스마케팅팀</dc:creator>
  <cp:lastModifiedBy>NICECORE 퍼포먼스마케팅팀</cp:lastModifiedBy>
  <cp:revision>1</cp:revision>
  <dcterms:created xsi:type="dcterms:W3CDTF">2026-10-15T05:06:13Z</dcterms:created>
  <dcterms:modified xsi:type="dcterms:W3CDTF">2026-10-15T05:06:13Z</dcterms:modified>
</cp:coreProperties>
</file>