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4"/>
    <p:sldId id="257" r:id="rId3"/>
    <p:sldId id="258" r:id="rId2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F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6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3.xml"/><Relationship Id="rId3" Type="http://schemas.openxmlformats.org/officeDocument/2006/relationships/slide" Target="slides/slide2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기기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기기</c:v>
                </c:pt>
              </c:strCache>
            </c:strRef>
          </c:tx>
          <c:dPt>
            <c:idx val="0"/>
            <c:spPr>
              <a:solidFill>
                <a:srgbClr val="7B2FB5"/>
              </a:solidFill>
            </c:spPr>
          </c:dPt>
          <c:dPt>
            <c:idx val="1"/>
            <c:spPr>
              <a:solidFill>
                <a:srgbClr val="F6D2A8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300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b="1" sz="1300">
                      <a:solidFill>
                        <a:srgbClr val="211D1E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모바일</c:v>
                </c:pt>
                <c:pt idx="1">
                  <c:v>PC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91</c:v>
                </c:pt>
                <c:pt idx="1">
                  <c:v>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E5759"/>
          </a:solidFill>
          <a:latin typeface="Pretendard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성별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성별</c:v>
                </c:pt>
              </c:strCache>
            </c:strRef>
          </c:tx>
          <c:dPt>
            <c:idx val="0"/>
            <c:spPr>
              <a:solidFill>
                <a:srgbClr val="7B2FB5"/>
              </a:solidFill>
            </c:spPr>
          </c:dPt>
          <c:dPt>
            <c:idx val="1"/>
            <c:spPr>
              <a:solidFill>
                <a:srgbClr val="F6D2A8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300">
                      <a:solidFill>
                        <a:srgbClr val="FFFFFF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b="1" sz="1300">
                      <a:solidFill>
                        <a:srgbClr val="211D1E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여성</c:v>
                </c:pt>
                <c:pt idx="1">
                  <c:v>남성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</c:v>
                </c:pt>
                <c:pt idx="1">
                  <c:v>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3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5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5E5759"/>
          </a:solidFill>
          <a:latin typeface="Pretendard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 latinLnBrk="0" eaLnBrk="1">
              <a:lnSpc>
                <a:spcPct val="115000"/>
              </a:lnSpc>
              <a:defRPr/>
            </a:pPr>
            <a:r>
              <a:rPr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1년 합계 상대지수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1년 합계 상대지수</c:v>
                </c:pt>
              </c:strCache>
            </c:strRef>
          </c:tx>
          <c:dPt>
            <c:idx val="0"/>
            <c:spPr>
              <a:solidFill>
                <a:srgbClr val="7B2FB5"/>
              </a:solidFill>
            </c:spPr>
          </c:dPt>
          <c:dPt>
            <c:idx val="1"/>
            <c:spPr>
              <a:solidFill>
                <a:srgbClr val="C9A3E3"/>
              </a:solidFill>
            </c:spPr>
          </c:dPt>
          <c:dPt>
            <c:idx val="2"/>
            <c:spPr>
              <a:solidFill>
                <a:srgbClr val="F6D2A8"/>
              </a:solidFill>
            </c:spPr>
          </c:dPt>
          <c:dPt>
            <c:idx val="3"/>
            <c:spPr>
              <a:solidFill>
                <a:srgbClr val="C9A3E3"/>
              </a:solidFill>
            </c:spPr>
          </c:dPt>
          <c:dPt>
            <c:idx val="4"/>
            <c:spPr>
              <a:solidFill>
                <a:srgbClr val="C9A3E3"/>
              </a:solidFill>
            </c:spPr>
          </c:dPt>
          <c:cat>
            <c:strRef>
              <c:f>Sheet1!$A$2:$A$6</c:f>
              <c:strCache>
                <c:ptCount val="5"/>
                <c:pt idx="0">
                  <c:v>워터프루프 아이라이너</c:v>
                </c:pt>
                <c:pt idx="1">
                  <c:v>펜 아이라이너</c:v>
                </c:pt>
                <c:pt idx="2">
                  <c:v>나어릴때 아이라이너</c:v>
                </c:pt>
                <c:pt idx="3">
                  <c:v>브러쉬 아이라이너</c:v>
                </c:pt>
                <c:pt idx="4">
                  <c:v>엣지홀릭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7974</c:v>
                </c:pt>
                <c:pt idx="1">
                  <c:v>2159</c:v>
                </c:pt>
                <c:pt idx="2">
                  <c:v>1076</c:v>
                </c:pt>
                <c:pt idx="3">
                  <c:v>454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5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E57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 algn="l" latinLnBrk="0" eaLnBrk="1">
              <a:lnSpc>
                <a:spcPct val="115000"/>
              </a:lnSpc>
              <a:defRPr/>
            </a:pPr>
            <a:r>
              <a:rPr sz="13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월별 '나어릴때 아이라이너' 상대지수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나어릴때 아이라이너</c:v>
                </c:pt>
              </c:strCache>
            </c:strRef>
          </c:tx>
          <c:spPr>
            <a:ln w="28575">
              <a:solidFill>
                <a:srgbClr val="7B2FB5"/>
              </a:solidFill>
            </a:ln>
          </c:spPr>
          <c:marker>
            <c:spPr>
              <a:solidFill>
                <a:srgbClr val="7B2FB5"/>
              </a:solidFill>
              <a:ln>
                <a:solidFill>
                  <a:srgbClr val="7B2FB5"/>
                </a:solidFill>
              </a:ln>
            </c:spPr>
          </c:marker>
          <c:dLbls>
            <c:dLbl>
              <c:idx val="0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7B2FB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7B2FB5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Sheet1!$A$2:$A$12</c:f>
              <c:strCache>
                <c:ptCount val="11"/>
                <c:pt idx="0">
                  <c:v>25.11</c:v>
                </c:pt>
                <c:pt idx="1">
                  <c:v>25.12</c:v>
                </c:pt>
                <c:pt idx="2">
                  <c:v>26.01</c:v>
                </c:pt>
                <c:pt idx="3">
                  <c:v>26.02</c:v>
                </c:pt>
                <c:pt idx="4">
                  <c:v>26.03</c:v>
                </c:pt>
                <c:pt idx="5">
                  <c:v>26.04</c:v>
                </c:pt>
                <c:pt idx="6">
                  <c:v>26.05</c:v>
                </c:pt>
                <c:pt idx="7">
                  <c:v>26.06</c:v>
                </c:pt>
                <c:pt idx="8">
                  <c:v>26.07</c:v>
                </c:pt>
                <c:pt idx="9">
                  <c:v>26.08</c:v>
                </c:pt>
                <c:pt idx="10">
                  <c:v>26.09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212</c:v>
                </c:pt>
                <c:pt idx="1">
                  <c:v>213</c:v>
                </c:pt>
                <c:pt idx="2">
                  <c:v>59</c:v>
                </c:pt>
                <c:pt idx="3">
                  <c:v>80</c:v>
                </c:pt>
                <c:pt idx="4">
                  <c:v>63</c:v>
                </c:pt>
                <c:pt idx="5">
                  <c:v>29</c:v>
                </c:pt>
                <c:pt idx="6">
                  <c:v>115</c:v>
                </c:pt>
                <c:pt idx="7">
                  <c:v>44</c:v>
                </c:pt>
                <c:pt idx="8">
                  <c:v>40</c:v>
                </c:pt>
                <c:pt idx="9">
                  <c:v>49</c:v>
                </c:pt>
                <c:pt idx="10">
                  <c:v>83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60.0"/>
          <c:min val="0.0"/>
        </c:scaling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5E5759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한 장만 보셔도 제안 전체가 이해되도록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색조 브랜드 전체가 아니라, 아이라이너 1위 상품을 중심으로 광고를 설계하겠다는 출발점입니다.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S25~S30에서 다섯 가지에 하나씩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카테고리 전체 데이터라는 점을 같이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검색 비중의 91%가 모바일이라 모바일 화면을 크게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가격 이슈는 단정하지 않고 '점검 권장' 톤으로 말합니다.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경쟁사 비판이 아니라 '시장에서 통하는 메시지'를 보여주는 장표입니다.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4번 진단 중 가장 강한 장표. 기존 대행사의 '분석·역제안 부족'을 직접 말하지 않고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네이버는 대행수수료가 없다는 점을 S31에서 같이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카피는 방향 예시이며, 실제 집행 문안은 협의 후 확정합니다.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microsoft.com/office/2007/relationships/hdphoto" Target="../media/hdphoto1.wdp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BBE14-2E19-2EA7-FB68-3E8BE8FF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38ABDD-44DD-0B69-5C6C-37E585EE2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9F99F3-DD18-193F-C10B-1EB721C91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496577-20FC-C8EC-7139-FED9D62441A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74462B9-8AC2-93A5-849A-CEF38E838E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42960" b="49219"/>
          <a:stretch>
            <a:fillRect/>
          </a:stretch>
        </p:blipFill>
        <p:spPr>
          <a:xfrm>
            <a:off x="9296400" y="4383729"/>
            <a:ext cx="2895600" cy="24742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4E50DE6-9668-AEDE-7FF1-9C3B3D02D1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2860" y="811530"/>
            <a:ext cx="3489960" cy="5234940"/>
          </a:xfrm>
          <a:prstGeom prst="round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D4DE785-D6A4-2238-4185-2BCC694313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990" b="91927" l="9872" r="89986">
                        <a14:foregroundMark x1="54119" y1="8333" x2="46591" y2="5990"/>
                        <a14:foregroundMark x1="49503" y1="91927" x2="53622" y2="91927"/>
                        <a14:foregroundMark x1="35511" y1="46615" x2="36435" y2="32422"/>
                        <a14:foregroundMark x1="36435" y1="32422" x2="39276" y2="25000"/>
                      </a14:backgroundRemoval>
                    </a14:imgEffect>
                    <a14:imgEffect>
                      <a14:artisticCutout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625" r="50570" b="62014"/>
          <a:stretch>
            <a:fillRect/>
          </a:stretch>
        </p:blipFill>
        <p:spPr>
          <a:xfrm rot="10460277">
            <a:off x="-439165" y="-191055"/>
            <a:ext cx="4101591" cy="342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92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7CEE4EA-0C7C-1CF4-0099-381A7C93B4F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EA9E46-F31F-F69D-1D27-FE609D097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AEE0D1-B528-0EA6-D7D0-3A736FF12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4C38C9-7271-E473-6614-B193F6A94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680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27C9C7B9-15EF-32AD-737F-89B75D7A35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AF260B-8BB0-6C96-3740-8C6A5438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7010FE-886F-6B7C-ECC1-3F5CEAF4A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07E225-A319-FD13-295E-DF5AE17E4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5F37D8-A9A8-F13B-E811-208AF41DF1FB}"/>
              </a:ext>
            </a:extLst>
          </p:cNvPr>
          <p:cNvCxnSpPr>
            <a:cxnSpLocks/>
          </p:cNvCxnSpPr>
          <p:nvPr userDrawn="1"/>
        </p:nvCxnSpPr>
        <p:spPr>
          <a:xfrm>
            <a:off x="411480" y="53340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03B33C4-39EE-E19D-350D-5E4524C3A341}"/>
              </a:ext>
            </a:extLst>
          </p:cNvPr>
          <p:cNvCxnSpPr>
            <a:cxnSpLocks/>
          </p:cNvCxnSpPr>
          <p:nvPr userDrawn="1"/>
        </p:nvCxnSpPr>
        <p:spPr>
          <a:xfrm>
            <a:off x="411480" y="6356350"/>
            <a:ext cx="1136904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675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3E8DECB-CFCF-7079-FBC1-C3CD508F9B4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54000"/>
            </a:blip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4DB539-E570-D9FC-9D3B-FEC3E8E4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6C87D92-6350-119D-7A86-D5AAEF26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C26CDC-DA85-06AD-CA4D-B9DC9BF5B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9270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66F7DE5-8325-3DDC-E3CD-C5677811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D272C6-E51D-F569-2E58-B6214B58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F7FCAB-C7FD-A179-4B83-485DF2AC9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1A6FEC-3664-449F-BE6B-8E95D1A9370F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B0C0E1-7943-0DF9-5A26-6B53D9808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ECF585-421A-096D-6912-5FB6671DA1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07C26-166C-406A-B394-2140DF9918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34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5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naeoriltt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1325880"/>
            <a:ext cx="2377440" cy="6583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0704" y="214884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0000"/>
              </a:lnSpc>
            </a:pPr>
            <a:r>
              <a:rPr sz="4000" b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나어릴때 디지털</a:t>
            </a:r>
          </a:p>
          <a:p>
            <a:pPr algn="l" latinLnBrk="0" eaLnBrk="1">
              <a:lnSpc>
                <a:spcPct val="110000"/>
              </a:lnSpc>
            </a:pPr>
            <a:r>
              <a:rPr sz="4000" b="0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광고 운영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0704" y="37033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이미 가진 강점을, 광고가 제대로 쓰게 만들겠습니다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4572000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 귀중</a:t>
            </a:r>
          </a:p>
          <a:p>
            <a:pPr algn="l" latinLnBrk="0" eaLnBrk="1">
              <a:lnSpc>
                <a:spcPct val="120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2026.10.30</a:t>
            </a:r>
          </a:p>
        </p:txBody>
      </p:sp>
      <p:pic>
        <p:nvPicPr>
          <p:cNvPr id="6" name="Picture 5" descr="logo_nice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577840"/>
            <a:ext cx="155448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0020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현황 이해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00200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말씀하신 내용과 브랜드 현황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2368296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14400" y="2496312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96312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사전 진단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496312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시장, 네이버, 메타, 인스타그램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264408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914400" y="3392424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92424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392424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채널별 역할과 실행안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160520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914400" y="4288536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288536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288536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역제안, 소재, 인스타그램, 리포트, 소통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056631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914400" y="5184648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184648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2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비용과 일정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5952744"/>
            <a:ext cx="104241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제안 요약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세 가지 공백을 채우면, 11월부터 달라집니다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외부 공개 데이터만으로 확인한 진단 결과와 해결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314858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핵심 키워드에 나어릴때 광고가 없습니다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314858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'워터프루프·펜 아이라이너' 쇼핑검색·파워링크 노출 0, 브랜드검색 미집행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2031492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314858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검색 자리 되찾기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 쇼핑검색 + 브랜드검색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1584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20184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0184" y="2377440"/>
            <a:ext cx="314858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고객은 '안 번진다'고 말하는데, 광고는 할인만 말합니다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0184" y="3108960"/>
            <a:ext cx="314858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광고 5개 모두 할로윈 할인 배너, 제품 시연·영상 없음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11596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1584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0184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0184" y="5074920"/>
            <a:ext cx="314858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리뷰 기반 소재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번짐 테스트, 라인 시연, 브러쉬 vs 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1688" y="1783080"/>
            <a:ext cx="3605784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00288" y="198424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발견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00288" y="2377440"/>
            <a:ext cx="314858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광고는 돌고 있는데, 인스타그램은 멈춰 있습니다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0288" y="3108960"/>
            <a:ext cx="314858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9/12 이후 게시물 없음 (40일 이상 공백)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9791700" y="4023360"/>
            <a:ext cx="365760" cy="365760"/>
          </a:xfrm>
          <a:prstGeom prst="down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71688" y="4480560"/>
            <a:ext cx="3605784" cy="1691640"/>
          </a:xfrm>
          <a:prstGeom prst="roundRect">
            <a:avLst>
              <a:gd name="adj" fmla="val 4324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00288" y="468172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5074920"/>
            <a:ext cx="3148584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광고와 연결된 계정 운영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5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주 2회, 광고 시즌과 피드 연동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 latinLnBrk="0" eaLnBrk="1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현황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말씀해주신 내용과 브랜드 현황을 정리했습니다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브랜드 이해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요청 사항 이해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01 현황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나어릴때는 '아이라이너로 검증된' 브랜드입니다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자사몰 naeorilttae.com 기준 (2026.10.23)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37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주력 제품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0312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오리지널 엣지홀릭 브러쉬 아이라이너</a:t>
            </a:r>
          </a:p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1,154건 · 4.7점 | 8,500원 (1+1 17,000원)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88036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엣지홀릭 펜 아이라이너</a:t>
            </a:r>
          </a:p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778건 · 4.7점 | 8,500원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65760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12463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All New 워터프루프 엣지홀릭 브러쉬 리퀴드 아이라이너</a:t>
            </a:r>
          </a:p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8,500원 (1+1 14,900원)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434840"/>
            <a:ext cx="5669280" cy="685800"/>
          </a:xfrm>
          <a:prstGeom prst="roundRect">
            <a:avLst>
              <a:gd name="adj" fmla="val 10666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489703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확장 제품</a:t>
            </a:r>
          </a:p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글로시 리퀴드 립스틱(리뷰 301건), 알로에 수딩젤(리뷰 394건)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판매 채널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542239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자사몰: naeorilttae.com (카페24)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네이버: 브랜드스토어 brand.naver.com/naeorilttae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가격비교 카탈로그 리뷰 4,901건 (엣지홀릭 브러쉬)</a:t>
            </a:r>
          </a:p>
        </p:txBody>
      </p:sp>
      <p:sp>
        <p:nvSpPr>
          <p:cNvPr id="17" name="IMG_s05_mall_main.png"/>
          <p:cNvSpPr/>
          <p:nvPr/>
        </p:nvSpPr>
        <p:spPr>
          <a:xfrm>
            <a:off x="6355080" y="3108960"/>
            <a:ext cx="5422392" cy="2103120"/>
          </a:xfrm>
          <a:prstGeom prst="roundRect">
            <a:avLst>
              <a:gd name="adj" fmla="val 2173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s05_mall_main.png]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1365992" cy="685800"/>
          </a:xfrm>
          <a:prstGeom prst="roundRect">
            <a:avLst>
              <a:gd name="adj" fmla="val 10666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매출의 중심은 아이라이너, 립·스킨은 확장 라인 → 광고는 '아이라이너 히어로'로 집중합니다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01 현황 이해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말씀하신 다섯 가지, 이렇게 이해했습니다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508760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508760"/>
            <a:ext cx="81655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업무시간 안에 바로 응대가 되는 담당자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85415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85415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85415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185415"/>
            <a:ext cx="81655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숫자 나열이 아니라 '왜'와 '다음 액션'이 있는 리포트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862072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62072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862072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역제안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62072"/>
            <a:ext cx="81655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요청하기 전에 먼저 기회를 가져오는 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538727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38727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538727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 제작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538727"/>
            <a:ext cx="81655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추가 비용 걱정 없이 충분한 물량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215383"/>
            <a:ext cx="1136599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215383"/>
            <a:ext cx="73152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215383"/>
            <a:ext cx="2011680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215383"/>
            <a:ext cx="81655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광고와 톤이 맞는 계정 운영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983480"/>
            <a:ext cx="11365992" cy="1143000"/>
          </a:xfrm>
          <a:prstGeom prst="roundRect">
            <a:avLst>
              <a:gd name="adj" fmla="val 64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  <a:spcAft>
                <a:spcPts val="300"/>
              </a:spcAft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대행사를 바꾸시려는 이유는 '성과'보다 '같이 일하는 방식'이라고 이해했습니다.</a:t>
            </a:r>
          </a:p>
          <a:p>
            <a:pPr algn="l" latinLnBrk="0" eaLnBrk="1">
              <a:lnSpc>
                <a:spcPct val="115000"/>
              </a:lnSpc>
              <a:spcAft>
                <a:spcPts val="300"/>
              </a:spcAft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이 제안서는 그 다섯 가지에 하나씩 답하는 구조입니다.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 latinLnBrk="0" eaLnBrk="1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사전 진단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 계정을 보기 전에, 밖에서 보이는 것부터 확인했습니다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시장 · 네이버 · 메타 · 인스타그램과 자사몰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진단 종합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6개 영역을 직접 확인했습니다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조사일 2026.10.23 · 외부 공개 데이터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26913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데이터랩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14858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아이라이너 카테고리 고객·검색어 추이 (최근 1년)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20184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3104" y="2011680"/>
            <a:ext cx="26913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통합검색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184" y="2560320"/>
            <a:ext cx="314858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'나어릴때' 검색 결과 (PC·모바일)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1688" y="178308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00288" y="20116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03208" y="2011680"/>
            <a:ext cx="26913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 쇼핑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2560320"/>
            <a:ext cx="314858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 아이라이너', '펜 아이라이너' 노출 현황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703320"/>
            <a:ext cx="26913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메타 광고 라이브러리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59"/>
            <a:ext cx="314858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및 아이라이너 경쟁 광고 약 110개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1584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520184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3104" y="3703320"/>
            <a:ext cx="26913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0184" y="4251959"/>
            <a:ext cx="314858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@naeorilttae_official 운영 현황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1688" y="3474720"/>
            <a:ext cx="3605784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00288" y="37033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3208" y="3703320"/>
            <a:ext cx="269138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0288" y="4251959"/>
            <a:ext cx="3148584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상품 구성, 리뷰, 광고 추적 설정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257800"/>
            <a:ext cx="1136599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 계정 성과 데이터는 포함하지 않았습니다. 계정 권한을 주시면 </a:t>
            </a:r>
            <a:r>
              <a:rPr sz="1300" b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〔확인〕2주</a:t>
            </a: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 안에 정밀 진단 리포트를 드립니다.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아이라이너는 40~50대 여성이 모바일로 찾는 시장입니다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데이터랩 쇼핑인사이트 · 화장품/미용 &gt; 색조메이크업 &gt; 아이라이너 · 2025.10.22~2026.10.22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출처: 네이버 데이터랩 (카테고리 전체 기준, 나어릴때 고객 데이터 아님)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2788920" cy="292608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28800"/>
          <a:ext cx="26060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3383280" y="1783080"/>
            <a:ext cx="2788920" cy="292608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474720" y="1828800"/>
          <a:ext cx="2606040" cy="2834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55080" y="1783080"/>
            <a:ext cx="54223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92807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연령</a:t>
            </a:r>
          </a:p>
        </p:txBody>
      </p:sp>
      <p:sp>
        <p:nvSpPr>
          <p:cNvPr id="13" name="IMG_s09_datalab_age.png"/>
          <p:cNvSpPr/>
          <p:nvPr/>
        </p:nvSpPr>
        <p:spPr>
          <a:xfrm>
            <a:off x="6583680" y="2240280"/>
            <a:ext cx="4965192" cy="1920240"/>
          </a:xfrm>
          <a:prstGeom prst="roundRect">
            <a:avLst>
              <a:gd name="adj" fmla="val 2380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s09_datalab_age.png]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51960"/>
            <a:ext cx="49651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1위 40대 · 2위 50대 · 3위 30대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892040"/>
            <a:ext cx="11365992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인사이트  </a:t>
            </a: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타겟을 20대 중심이 아니라 30~50대 여성으로 잡아야 합니다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인사이트  </a:t>
            </a: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'나 어릴 때'라는 브랜드명의 향수 코드는 이 연령대에 특히 잘 맞습니다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고객은 '워터프루프'로 찾고, 나어릴때는 작년 11~12월에 가장 많이 찾았습니다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데이터랩 검색어 통계 · 아이라이너 카테고리 · 1년 상대지수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9144000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출처: 네이버 데이터랩. 수치는 실제 검색 횟수가 아닌 상대지수입니다.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02920" y="1828800"/>
          <a:ext cx="5212080" cy="2971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035040" y="1783080"/>
            <a:ext cx="5742432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0" y="1828800"/>
          <a:ext cx="5559552" cy="2971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11480" y="4983480"/>
            <a:ext cx="11365992" cy="1188720"/>
          </a:xfrm>
          <a:prstGeom prst="roundRect">
            <a:avLst>
              <a:gd name="adj" fmla="val 6153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작년 11~12월 브랜드 검색이 평소의 2~4배 → </a:t>
            </a: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이번 11월 슈퍼적립이 승부처입니다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가장 큰 검색어는 '워터프루프 아이라이너' → </a:t>
            </a: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All New 워터프루프 라인으로 공략합니다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제품명 '엣지홀릭'은 거의 검색되지 않습니다 → </a:t>
            </a: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고객은 브랜드명으로 찾습니다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'나어릴때'를 검색한 고객이 다른 곳으로 새고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통합검색 '나어릴때'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6" name="IMG_s11_search_mobile.png"/>
          <p:cNvSpPr/>
          <p:nvPr/>
        </p:nvSpPr>
        <p:spPr>
          <a:xfrm>
            <a:off x="411480" y="1783080"/>
            <a:ext cx="2651760" cy="3520440"/>
          </a:xfrm>
          <a:prstGeom prst="roundRect">
            <a:avLst>
              <a:gd name="adj" fmla="val 1724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s11_search_mobile.png]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33095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모바일</a:t>
            </a:r>
          </a:p>
        </p:txBody>
      </p:sp>
      <p:sp>
        <p:nvSpPr>
          <p:cNvPr id="8" name="IMG_s11_search_pc.png"/>
          <p:cNvSpPr/>
          <p:nvPr/>
        </p:nvSpPr>
        <p:spPr>
          <a:xfrm>
            <a:off x="3246120" y="1783080"/>
            <a:ext cx="3931920" cy="3520440"/>
          </a:xfrm>
          <a:prstGeom prst="roundRect">
            <a:avLst>
              <a:gd name="adj" fmla="val 1298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s11_search_pc.png]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5330952"/>
            <a:ext cx="39319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</a:pPr>
            <a:r>
              <a:rPr sz="11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PC</a:t>
            </a:r>
          </a:p>
        </p:txBody>
      </p:sp>
      <p:sp>
        <p:nvSpPr>
          <p:cNvPr id="10" name="Oval 9"/>
          <p:cNvSpPr/>
          <p:nvPr/>
        </p:nvSpPr>
        <p:spPr>
          <a:xfrm>
            <a:off x="7406640" y="178308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83080"/>
            <a:ext cx="386791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브랜드검색 미집행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194560"/>
            <a:ext cx="38679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PC·모바일 모두 브랜드 전용 영역이 없습니다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2971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971800"/>
            <a:ext cx="386791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AI 브리핑의 해석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383280"/>
            <a:ext cx="38679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모바일 최상단 AI 브리핑이 브랜드명을 '어린 시절 추억'으로도 해석해, 90년대 추억 콘텐츠가 섞여 나옵니다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416052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4160520"/>
            <a:ext cx="3867912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다른 가격 노출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572000"/>
            <a:ext cx="3867912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AI 브리핑 관련 상품에 공식가(8,500원)와 다른 20,700원 판매처 상품이 노출됩니다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577840"/>
            <a:ext cx="11365992" cy="621792"/>
          </a:xfrm>
          <a:prstGeom prst="roundRect">
            <a:avLst>
              <a:gd name="adj" fmla="val 11764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브랜드명이 일반 단어라서, 브랜드검색으로 상단을 지키는 것이 특히 중요합니다. </a:t>
            </a: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AI 검색 노출은 NICECORE SEO/AEO 진단으로 함께 점검할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네이버는 나어릴때를 첫 번째로 보여주는데, 광고 자리는 비어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 쇼핑 모바일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6" name="IMG_s12_shop_waterproof.png"/>
          <p:cNvSpPr/>
          <p:nvPr/>
        </p:nvSpPr>
        <p:spPr>
          <a:xfrm>
            <a:off x="411480" y="1783080"/>
            <a:ext cx="2194560" cy="4206240"/>
          </a:xfrm>
          <a:prstGeom prst="roundRect">
            <a:avLst>
              <a:gd name="adj" fmla="val 2083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s12_shop_waterproof.png]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0076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워터프루프 아이라이너</a:t>
            </a:r>
          </a:p>
        </p:txBody>
      </p:sp>
      <p:sp>
        <p:nvSpPr>
          <p:cNvPr id="8" name="IMG_s12_shop_pen.png"/>
          <p:cNvSpPr/>
          <p:nvPr/>
        </p:nvSpPr>
        <p:spPr>
          <a:xfrm>
            <a:off x="2788920" y="1783080"/>
            <a:ext cx="2194560" cy="4206240"/>
          </a:xfrm>
          <a:prstGeom prst="roundRect">
            <a:avLst>
              <a:gd name="adj" fmla="val 2083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s12_shop_pen.png]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600760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펜 아이라이너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57800" y="1783080"/>
          <a:ext cx="6519672" cy="26334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5960"/>
                <a:gridCol w="2276856"/>
                <a:gridCol w="2276856"/>
              </a:tblGrid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영역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워터프루프 아이라이너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펜 아이라이너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필터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첫 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첫 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상단 쇼핑 브랜드형 광고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네오젠, 케이트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쇼핑검색 광고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삐아 2, 머지 2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머지 3, 비오엠, 패션캣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하단 파워링크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케이트, 에네스티 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블랑디바, 머지 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나어릴때 광고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없음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1E4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57800" y="4663440"/>
            <a:ext cx="6519672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77800" indent="-17780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두 키워드 모두 머지가 쇼핑검색과 파워링크를 함께 잡고 있습니다 (가격대 6,900~8,900원, 나어릴때와 비슷)</a:t>
            </a:r>
          </a:p>
          <a:p>
            <a:pPr algn="l" latinLnBrk="0" eaLnBrk="1" marL="177800" indent="-17780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네이버에서의 실제 경쟁사는 머지입니다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오가닉 1위 자리에 광고만 붙이면, 두 번 노출됩니다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'워터프루프 아이라이너' 쇼핑 탭 · 엣지홀릭 브러쉬 브랜드 카탈로그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6583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48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4,901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7063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카탈로그 리뷰 수 (평점 4.57)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965960"/>
            <a:ext cx="3840480" cy="1234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4개 바로 아래 오가닉 1번째. 여기에 쇼핑검색 광고를 더하면 광고·오가닉 이중 노출이 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520439"/>
            <a:ext cx="65836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657599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48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0799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판매처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03320"/>
            <a:ext cx="3840480" cy="1234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최저가 1개 7,060원 / 2개 15,200원 (공식가 8,500원, 1+1 17,000원). 광고로 데려온 고객이 다른 판매처에서 구매할 수 있습니다</a:t>
            </a:r>
          </a:p>
        </p:txBody>
      </p:sp>
      <p:sp>
        <p:nvSpPr>
          <p:cNvPr id="14" name="IMG_s13_catalog.png"/>
          <p:cNvSpPr/>
          <p:nvPr/>
        </p:nvSpPr>
        <p:spPr>
          <a:xfrm>
            <a:off x="7269480" y="1783080"/>
            <a:ext cx="4507992" cy="3337560"/>
          </a:xfrm>
          <a:prstGeom prst="roundRect">
            <a:avLst>
              <a:gd name="adj" fmla="val 1369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s13_catalog.png]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349240"/>
            <a:ext cx="11365992" cy="777240"/>
          </a:xfrm>
          <a:prstGeom prst="roundRect">
            <a:avLst>
              <a:gd name="adj" fmla="val 9411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쇼핑검색 광고는 가장 적은 비용으로 효과를 볼 수 있는 지점입니다.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판매처 가격 정책은 함께 점검을 권해드립니다.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경쟁사는 '제품력'을 보여주고, 나어릴때는 '할인'만 보여줍니다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광고 라이브러리 · 집행 중 광고 · 2026.10.23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749039" cy="3611880"/>
          </a:xfrm>
          <a:prstGeom prst="roundRect">
            <a:avLst>
              <a:gd name="adj" fmla="val 2025"/>
            </a:avLst>
          </a:prstGeom>
          <a:solidFill>
            <a:srgbClr val="FEF2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383279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나어릴때</a:t>
            </a:r>
          </a:p>
        </p:txBody>
      </p:sp>
      <p:sp>
        <p:nvSpPr>
          <p:cNvPr id="8" name="IMG_s14_meta_naeorilttae.png"/>
          <p:cNvSpPr/>
          <p:nvPr/>
        </p:nvSpPr>
        <p:spPr>
          <a:xfrm>
            <a:off x="594360" y="2240280"/>
            <a:ext cx="1463040" cy="1737360"/>
          </a:xfrm>
          <a:prstGeom prst="roundRect">
            <a:avLst>
              <a:gd name="adj" fmla="val 3125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s14_meta_naeorilttae.png]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40280"/>
            <a:ext cx="1828799" cy="3063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52400" indent="-15240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집행 중 광고 5개, 모두 10/11 시작</a:t>
            </a:r>
          </a:p>
          <a:p>
            <a:pPr algn="l" latinLnBrk="0" eaLnBrk="1" marL="152400" indent="-15240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할로윈 펜 아이라이너 할인(10/12~31) 단일 프로모션</a:t>
            </a:r>
          </a:p>
          <a:p>
            <a:pPr algn="l" latinLnBrk="0" eaLnBrk="1" marL="152400" indent="-15240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전부 일러스트 할인 배너, 제품 시연·영상 없음</a:t>
            </a:r>
          </a:p>
          <a:p>
            <a:pPr algn="l" latinLnBrk="0" eaLnBrk="1" marL="152400" indent="-152400">
              <a:lnSpc>
                <a:spcPct val="115000"/>
              </a:lnSpc>
              <a:spcAft>
                <a:spcPts val="300"/>
              </a:spcAft>
              <a:buChar char="•"/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5개 중 4개가 같은 문안 → 소재별 비교 테스트 구조가 없습니다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7388352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7022592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 </a:t>
            </a:r>
            <a:r>
              <a:rPr sz="12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('아이라이너' 키워드 광고 약 110개, 절반 이상이 영상)</a:t>
            </a:r>
          </a:p>
        </p:txBody>
      </p:sp>
      <p:sp>
        <p:nvSpPr>
          <p:cNvPr id="12" name="IMG_s14_meta_clio.png"/>
          <p:cNvSpPr/>
          <p:nvPr/>
        </p:nvSpPr>
        <p:spPr>
          <a:xfrm>
            <a:off x="4572000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s14_meta_clio.png]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69080"/>
            <a:ext cx="2218944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클리오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"올영 1위 라이너", 1+1 · 개당 6천원대</a:t>
            </a:r>
          </a:p>
        </p:txBody>
      </p:sp>
      <p:sp>
        <p:nvSpPr>
          <p:cNvPr id="14" name="IMG_s14_meta_sisterand.png"/>
          <p:cNvSpPr/>
          <p:nvPr/>
        </p:nvSpPr>
        <p:spPr>
          <a:xfrm>
            <a:off x="6973824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s14_meta_sisterand.png]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3824" y="4069080"/>
            <a:ext cx="2218944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씨스터앤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"비 오고 물 튀겨도" 번짐 방지 영상, 6/23 시작 소재를 4개월째 집행</a:t>
            </a:r>
          </a:p>
        </p:txBody>
      </p:sp>
      <p:sp>
        <p:nvSpPr>
          <p:cNvPr id="16" name="IMG_s14_meta_naming.png"/>
          <p:cNvSpPr/>
          <p:nvPr/>
        </p:nvSpPr>
        <p:spPr>
          <a:xfrm>
            <a:off x="9375648" y="2240280"/>
            <a:ext cx="2218944" cy="1737360"/>
          </a:xfrm>
          <a:prstGeom prst="roundRect">
            <a:avLst>
              <a:gd name="adj" fmla="val 2631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s14_meta_naming.png]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5648" y="4069080"/>
            <a:ext cx="2218944" cy="12344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300" b="1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네이밍</a:t>
            </a:r>
          </a:p>
          <a:p>
            <a:pPr algn="l" latinLnBrk="0" eaLnBrk="1">
              <a:lnSpc>
                <a:spcPct val="115000"/>
              </a:lnSpc>
              <a:spcAft>
                <a:spcPts val="200"/>
              </a:spcAft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"속쌍도 번짐 걱정 없는 트임라이너, 1mm"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53212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 광고의 메시지는 다섯 가지로 모입니다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56418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두께 수치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32120" y="56418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번짐 방지 시연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5641848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용도(트임·애교살)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564184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1위·대란템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87000" y="56418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1+1 가격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경쟁사가 광고비로 말하는 강점을, 나어릴때 고객은 이미 말하고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자사몰 실제 고객 리뷰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3148584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"선명하게 잘 그려지고 번지지 않아서 더울 때도 열심히 사용했어요!"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31485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오리지널 엣지홀릭 브러쉬 아이라이너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0184" y="2286000"/>
            <a:ext cx="3148584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"번지지 않는!!"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0184" y="3246120"/>
            <a:ext cx="31485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엣지홀릭 펜 아이라이너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1688" y="1783080"/>
            <a:ext cx="3605784" cy="1874519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0288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C9A3E3"/>
                </a:solidFill>
                <a:latin typeface="Pretendard Black"/>
                <a:ea typeface="Pretendard Black"/>
                <a:cs typeface="Pretendard Black"/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288" y="2286000"/>
            <a:ext cx="3148584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"아이라이너는 역시 나어릴때"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0288" y="3246120"/>
            <a:ext cx="3148584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— 엣지홀릭 펜 아이라이너 (재구매 고객)</a:t>
            </a:r>
          </a:p>
        </p:txBody>
      </p:sp>
      <p:sp>
        <p:nvSpPr>
          <p:cNvPr id="18" name="IMG_s15_reviews.png"/>
          <p:cNvSpPr/>
          <p:nvPr/>
        </p:nvSpPr>
        <p:spPr>
          <a:xfrm>
            <a:off x="411480" y="3886200"/>
            <a:ext cx="4206240" cy="2286000"/>
          </a:xfrm>
          <a:prstGeom prst="roundRect">
            <a:avLst>
              <a:gd name="adj" fmla="val 2000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s15_reviews.png]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86200"/>
            <a:ext cx="6931152" cy="2286000"/>
          </a:xfrm>
          <a:prstGeom prst="roundRect">
            <a:avLst>
              <a:gd name="adj" fmla="val 32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365760" rIns="365760" tIns="36576" bIns="36576"/>
          <a:lstStyle/>
          <a:p>
            <a:pPr algn="l" latinLnBrk="0" eaLnBrk="1">
              <a:lnSpc>
                <a:spcPct val="115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'번짐 방지', '선명함', '재구매'는 경쟁사가 가장 많이 쓰는 메시지입니다.</a:t>
            </a:r>
          </a:p>
          <a:p>
            <a:pPr algn="l" latinLnBrk="0" eaLnBrk="1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나어릴때는 이걸 실제 리뷰로 갖고 있지만, 지금 광고에는 쓰이지 않고 있습니다.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광고를 보고 들어온 고객이, 멈춘 계정을 보게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65379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55648"/>
            <a:ext cx="6537960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인스타그램 @naeorilttae_official</a:t>
            </a:r>
          </a:p>
        </p:txBody>
      </p:sp>
      <p:sp>
        <p:nvSpPr>
          <p:cNvPr id="7" name="IMG_s16_insta_feed.png"/>
          <p:cNvSpPr/>
          <p:nvPr/>
        </p:nvSpPr>
        <p:spPr>
          <a:xfrm>
            <a:off x="640080" y="2194560"/>
            <a:ext cx="2194560" cy="3840480"/>
          </a:xfrm>
          <a:prstGeom prst="roundRect">
            <a:avLst>
              <a:gd name="adj" fmla="val 2083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s16_insta_feed.png]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3749040" cy="3840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팔로워 1,615명 · 게시물 79개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마지막 게시물 9/12 → </a:t>
            </a:r>
            <a:r>
              <a:rPr sz="13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40일 이상 업로드 없음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8/9 하루 7개, 8/22 하루 3개 → 꾸준히 올리기보다 몰아서 올리는 패턴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10/11부터 할로윈 광고가 도는데, 피드에는 관련 게시물이 없습니다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5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영문 구계정(@naeorilttae, 팔로워 95명)이 따로 남아 있어 검색 시 혼선이 있을 수 있습니다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645920"/>
            <a:ext cx="4599432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755648"/>
            <a:ext cx="4599432" cy="3474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자사몰 광고 추적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240280"/>
            <a:ext cx="295351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픽셀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51592" y="2295144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06640" y="2743200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7406640" y="2807208"/>
            <a:ext cx="295351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네이버 프리미엄로그분석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51592" y="286207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설치됨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406640" y="3310128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7406640" y="3374136"/>
            <a:ext cx="295351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GA4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51592" y="342900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D2A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06640" y="3877056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7406640" y="3941064"/>
            <a:ext cx="2953512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카카오 픽셀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451592" y="399592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F6D2A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06640" y="4443984"/>
            <a:ext cx="4142232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Rounded Rectangle 22"/>
          <p:cNvSpPr/>
          <p:nvPr/>
        </p:nvSpPr>
        <p:spPr>
          <a:xfrm>
            <a:off x="7406640" y="4663440"/>
            <a:ext cx="4142232" cy="1325880"/>
          </a:xfrm>
          <a:prstGeom prst="roundRect">
            <a:avLst>
              <a:gd name="adj" fmla="val 5517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채널별 성과를 같은 기준으로 비교하려면 GA4 설치를 권해드립니다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02 사전 진단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새로 만들 필요 없이, 이미 있는 것을 연결하면 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43200"/>
            <a:ext cx="30571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비어 있는 검색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91839"/>
            <a:ext cx="3057144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네이버가 첫 번째로 보여주는 브랜드인데, 광고 자리는 머지·삐아가 차지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워터프루프 쇼핑검색 + 브랜드검색으로 되찾기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1584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5904" y="18288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5904" y="2743200"/>
            <a:ext cx="30571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쓰이지 않는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3291839"/>
            <a:ext cx="3057144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'안 번진다'는 리뷰가 있는데, 광고는 할인 배너뿐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4464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리뷰 기반 소재로 메타 재설계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71688" y="1645920"/>
            <a:ext cx="3605784" cy="4434840"/>
          </a:xfrm>
          <a:prstGeom prst="roundRect">
            <a:avLst>
              <a:gd name="adj" fmla="val 2028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6008" y="1828800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4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6008" y="2743200"/>
            <a:ext cx="305714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9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끊어진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6008" y="3291839"/>
            <a:ext cx="3057144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광고는 돌고, 계정은 멈추고, 추적은 일부만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54568" y="4663440"/>
            <a:ext cx="3240024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182880" rIns="18288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→ 인스타 정기 운영 + GA4로 광고와 계정, 측정을 하나로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 latinLnBrk="0" eaLnBrk="1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네이버는 지키고, 메타는 키웁니다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채널 전략 · 네이버 실행안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메타 캠페인 구조 · 소재 방향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11월 슈퍼적립 집중 플랜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채널마다 역할을 나누고, 각자의 지표로 관리합니다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783080"/>
          <a:ext cx="11365992" cy="3017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77440"/>
                <a:gridCol w="4023360"/>
                <a:gridCol w="2286000"/>
                <a:gridCol w="2679192"/>
              </a:tblGrid>
              <a:tr h="603504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채널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역할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랜딩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핵심 지표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검색광고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브랜드·핵심 키워드 자리 확보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ROAS, 노출 점유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GFA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관심 고객 재방문, 슈퍼적립 노출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브랜드스토어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ROAS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30~50대 신규 고객 확보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자사몰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구매 ROAS, CPA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인스타그램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 유입 고객의 신뢰 확보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5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게시 빈도, 반응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11480" y="5120640"/>
            <a:ext cx="11365992" cy="868680"/>
          </a:xfrm>
          <a:prstGeom prst="roundRect">
            <a:avLst>
              <a:gd name="adj" fmla="val 8421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네이버는 '이미 찾는 고객'을 놓치지 않는 역할, </a:t>
            </a:r>
            <a:r>
              <a:rPr sz="16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메타는 '아직 모르는 고객'을 데려오는 역할입니다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가장 효과가 큰 순서대로 실행합니다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1순위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0136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워터프루프 아이라이너 쇼핑검색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24028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오가닉 1위 카탈로그에 광고를 더해 이중 노출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머지·삐아가 차지한 광고 자리 진입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333756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31012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브랜드검색 + 브랜드 키워드 파워링크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74904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'나어릴때' 검색 상단 확보, 추억 콘텐츠·타 판매처로의 이탈 방어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작년 11~12월 브랜드 검색 피크 시기에 맞춰 집행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663440"/>
            <a:ext cx="7406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3순위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18888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용도 키워드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57800"/>
            <a:ext cx="59436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펜 아이라이너, 브러쉬 아이라이너, 리퀴드 아이라이너, 애교살 라이너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데이터랩 인기검색어 기반으로 매월 추가·정리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645920"/>
            <a:ext cx="3685032" cy="4389120"/>
          </a:xfrm>
          <a:prstGeom prst="roundRect">
            <a:avLst>
              <a:gd name="adj" fmla="val 1985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874519"/>
            <a:ext cx="313639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GFA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136392" cy="3200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90500" indent="-19050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브랜드스토어 상세 조회·장바구니 고객 리타겟팅</a:t>
            </a:r>
          </a:p>
          <a:p>
            <a:pPr algn="l" latinLnBrk="0" eaLnBrk="1" marL="190500" indent="-19050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기간 노출 확대</a:t>
            </a:r>
          </a:p>
          <a:p>
            <a:pPr algn="l" latinLnBrk="0" eaLnBrk="1" marL="190500" indent="-190500">
              <a:lnSpc>
                <a:spcPct val="115000"/>
              </a:lnSpc>
              <a:spcAft>
                <a:spcPts val="1000"/>
              </a:spcAft>
              <a:buChar char="•"/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소재 2~3종 비교 테스트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새 고객과 돌아올 고객을 나눠서 운영합니다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148840"/>
            <a:ext cx="1554480" cy="2788920"/>
          </a:xfrm>
          <a:prstGeom prst="roundRect">
            <a:avLst>
              <a:gd name="adj" fmla="val 4705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메타</a:t>
            </a:r>
          </a:p>
          <a:p>
            <a:pPr algn="ctr" latinLnBrk="0" eaLnBrk="1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캠페인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965960" y="2468880"/>
            <a:ext cx="548640" cy="1069848"/>
          </a:xfrm>
          <a:prstGeom prst="bentConnector3">
            <a:avLst/>
          </a:prstGeom>
          <a:ln w="19050">
            <a:solidFill>
              <a:srgbClr val="C9A3E3"/>
            </a:solidFill>
          </a:ln>
        </p:spPr>
      </p:cxnSp>
      <p:sp>
        <p:nvSpPr>
          <p:cNvPr id="7" name="Rounded Rectangle 6"/>
          <p:cNvSpPr/>
          <p:nvPr/>
        </p:nvSpPr>
        <p:spPr>
          <a:xfrm>
            <a:off x="2514600" y="1645920"/>
            <a:ext cx="9262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7B2F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755648"/>
            <a:ext cx="88056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A — 신규 고객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24028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타겟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78608"/>
            <a:ext cx="281330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30~50대 여성, 메이크업·뷰티 관심사, 구매 고객 유사 타겟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39384" y="224028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9384" y="2578608"/>
            <a:ext cx="281330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제품력 중심 (번짐 테스트, 라인 시연)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5568" y="224028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5568" y="2578608"/>
            <a:ext cx="281330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CPA, 구매 ROAS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65960" y="3538728"/>
            <a:ext cx="548640" cy="804672"/>
          </a:xfrm>
          <a:prstGeom prst="bentConnector3">
            <a:avLst/>
          </a:prstGeom>
          <a:ln w="19050">
            <a:solidFill>
              <a:srgbClr val="C9A3E3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2514600" y="3520439"/>
            <a:ext cx="926287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5875">
            <a:solidFill>
              <a:srgbClr val="C9A3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630168"/>
            <a:ext cx="8805672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캠페인 B — 리타겟팅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41148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타겟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53127"/>
            <a:ext cx="281330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자사몰 방문 30일, 장바구니 7일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39384" y="41148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소재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9384" y="4453127"/>
            <a:ext cx="281330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혜택 중심 (1+1, 기간 한정)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5568" y="411480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1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5568" y="4453127"/>
            <a:ext cx="2813304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구매 ROAS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5440680"/>
            <a:ext cx="11365992" cy="731520"/>
          </a:xfrm>
          <a:prstGeom prst="roundRect">
            <a:avLst>
              <a:gd name="adj" fmla="val 10000"/>
            </a:avLst>
          </a:prstGeom>
          <a:solidFill>
            <a:srgbClr val="FEF2DA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측정 기반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픽셀 구매 이벤트 점검 및 전환 API 연동 검토  ·  GA4 설치로 채널 간 성과 비교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고객 리뷰에서 소재를 뽑습니다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17855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번짐 테스트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15초 영상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46120"/>
            <a:ext cx="2178558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"더울 때도, 하루 종일. 번지지 않는 라인"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40080" y="4572000"/>
            <a:ext cx="21785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리뷰 "번지지 않아서 더울 때도 열심히 사용했어요"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1558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50158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0158" y="2331720"/>
            <a:ext cx="217855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라인 시연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50158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릴스 · 클로즈업 영상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246120"/>
            <a:ext cx="2178558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"꼬리 라인, 브러쉬 한 번이면 끝"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550158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3550158" y="4572000"/>
            <a:ext cx="21785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경쟁 광고의 절반 이상이 영상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60236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331720"/>
            <a:ext cx="217855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브러쉬 vs 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60236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비교 이미지 · 카루셀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236" y="3246120"/>
            <a:ext cx="2178558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"붓처럼 vs 펜처럼, 나한테 맞는 라인은?"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60236" y="4480560"/>
            <a:ext cx="2178558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460236" y="4572000"/>
            <a:ext cx="21785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두 제품 모두 리뷰 700건 이상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1713" y="1645920"/>
            <a:ext cx="2635758" cy="379476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370313" y="1828800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0313" y="2331720"/>
            <a:ext cx="217855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8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브랜드 향수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70313" y="2788920"/>
            <a:ext cx="2178558" cy="292608"/>
          </a:xfrm>
          <a:prstGeom prst="roundRect">
            <a:avLst>
              <a:gd name="adj" fmla="val 50000"/>
            </a:avLst>
          </a:prstGeom>
          <a:solidFill>
            <a:srgbClr val="F1E4F8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이미지 · 영상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0313" y="3246120"/>
            <a:ext cx="2178558" cy="1143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"나 어릴 때 그 눈매, 지금 다시"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0313" y="4480560"/>
            <a:ext cx="217855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370313" y="4572000"/>
            <a:ext cx="21785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1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근거  </a:t>
            </a: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 고객층 40~50대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80" y="5623560"/>
            <a:ext cx="11365992" cy="548640"/>
          </a:xfrm>
          <a:prstGeom prst="roundRect">
            <a:avLst>
              <a:gd name="adj" fmla="val 13333"/>
            </a:avLst>
          </a:prstGeom>
          <a:solidFill>
            <a:srgbClr val="FEF2DA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혜택 소재(1+1, 슈퍼적립)는 리타겟팅 캠페인에서 별도 운영합니다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03 운영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슈퍼적립부터 바로 효과를 내겠습니다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〔확인〕슈퍼적립 기간·참여 상품 확정 후 세부 일정 반영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" y="2011680"/>
            <a:ext cx="11000232" cy="0"/>
          </a:xfrm>
          <a:prstGeom prst="line">
            <a:avLst/>
          </a:prstGeom>
          <a:ln w="25400">
            <a:solidFill>
              <a:srgbClr val="C9A3E3"/>
            </a:solidFill>
          </a:ln>
        </p:spPr>
      </p:cxnSp>
      <p:sp>
        <p:nvSpPr>
          <p:cNvPr id="7" name="Oval 6"/>
          <p:cNvSpPr/>
          <p:nvPr/>
        </p:nvSpPr>
        <p:spPr>
          <a:xfrm>
            <a:off x="502920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8600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1주차 (11/2~)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217855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178558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브랜드검색 신청, 워터프루프 쇼핑검색 집행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캠페인 구조 재편, 픽셀 점검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신규 소재 1차 4종 제작</a:t>
            </a:r>
          </a:p>
        </p:txBody>
      </p:sp>
      <p:sp>
        <p:nvSpPr>
          <p:cNvPr id="12" name="Oval 11"/>
          <p:cNvSpPr/>
          <p:nvPr/>
        </p:nvSpPr>
        <p:spPr>
          <a:xfrm>
            <a:off x="3412998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21558" y="228600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2~3주차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21558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0158" y="2880360"/>
            <a:ext cx="217855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집중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158" y="3429000"/>
            <a:ext cx="2178558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기간 GFA 노출 확대, 쇼핑검색 입찰 조정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메타 리타겟팅에 슈퍼적립 혜택 소재 투입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인스타 피드에 행사 콘텐츠 연동</a:t>
            </a:r>
          </a:p>
        </p:txBody>
      </p:sp>
      <p:sp>
        <p:nvSpPr>
          <p:cNvPr id="17" name="Oval 16"/>
          <p:cNvSpPr/>
          <p:nvPr/>
        </p:nvSpPr>
        <p:spPr>
          <a:xfrm>
            <a:off x="6323076" y="1874519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228600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4주차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2880360"/>
            <a:ext cx="217855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3429000"/>
            <a:ext cx="2178558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1차 테스트 결과로 위닝 소재 선정 → 예산 이동</a:t>
            </a:r>
          </a:p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반응 좋은 키워드 확장</a:t>
            </a:r>
          </a:p>
        </p:txBody>
      </p:sp>
      <p:sp>
        <p:nvSpPr>
          <p:cNvPr id="22" name="Oval 21"/>
          <p:cNvSpPr/>
          <p:nvPr/>
        </p:nvSpPr>
        <p:spPr>
          <a:xfrm>
            <a:off x="9233153" y="1874519"/>
            <a:ext cx="274320" cy="274320"/>
          </a:xfrm>
          <a:prstGeom prst="ellipse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1713" y="228600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1713" y="2743200"/>
            <a:ext cx="2635758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0313" y="2880360"/>
            <a:ext cx="217855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Black"/>
                <a:ea typeface="Pretendard Black"/>
                <a:cs typeface="Pretendard Black"/>
              </a:rPr>
              <a:t>리뷰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0313" y="3429000"/>
            <a:ext cx="2178558" cy="1783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65100" indent="-16510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11월 성과 리포트 + 12월 연말 시즌 제안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73736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 latinLnBrk="0" eaLnBrk="1">
              <a:lnSpc>
                <a:spcPct val="115000"/>
              </a:lnSpc>
            </a:pPr>
            <a:r>
              <a:rPr sz="72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40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운영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8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말씀하신 다섯 가지에 하나씩 답합니다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4343400"/>
            <a:ext cx="5029200" cy="0"/>
          </a:xfrm>
          <a:prstGeom prst="line">
            <a:avLst/>
          </a:prstGeom>
          <a:ln w="12700">
            <a:solidFill>
              <a:srgbClr val="C9A3E3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52628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역제안 체계 · 위닝 소재 운영 · 소재 제작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인스타그램 운영 · 리포트 샘플 · 소통 체계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요청하시기 전에, 먼저 가져갑니다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03 — 역제안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모니터링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매주 데이터랩 인기검색어·급등 키워드 확인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017520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55848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1783080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후보 선정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2194560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나어릴때 제품과 맞는 키워드·소구점 선별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1888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0216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783080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제안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194560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주간 리포트에 '이번 주 제안' 항목으로 전달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906256" y="2194560"/>
            <a:ext cx="274320" cy="27432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44584" y="1691639"/>
            <a:ext cx="253288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27464" y="1783080"/>
            <a:ext cx="216712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04 </a:t>
            </a: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464" y="2194560"/>
            <a:ext cx="2167128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컨펌 후 키워드·소재에 바로 적용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108960"/>
            <a:ext cx="11365992" cy="457200"/>
          </a:xfrm>
          <a:prstGeom prst="roundRect">
            <a:avLst>
              <a:gd name="adj" fmla="val 16000"/>
            </a:avLst>
          </a:prstGeom>
          <a:solidFill>
            <a:srgbClr val="FEF2DA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4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예시  </a:t>
            </a: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현재 인기검색어 '애교살 라이너' → 브러쉬 아이라이너 애교살 연출 소재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시즌 캘린더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636008"/>
            <a:ext cx="150571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슈퍼적립, 블랙프라이데이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28672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12월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28672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5832" y="4636008"/>
            <a:ext cx="150571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연말 선물, 1+1 세트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5864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1~3월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45864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3024" y="4636008"/>
            <a:ext cx="150571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새해·졸업·입학, 신학기 메이크업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4~5월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63056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0216" y="4636008"/>
            <a:ext cx="150571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워터프루프 검색 피크 (데이터랩 5월 최고)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80248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6~8월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80248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7408" y="4636008"/>
            <a:ext cx="150571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여름 번짐 방지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97440" y="4114800"/>
            <a:ext cx="1780032" cy="347472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9~10월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97440" y="4526280"/>
            <a:ext cx="1780032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34600" y="4636008"/>
            <a:ext cx="1505712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가을 브라운 컬러, 할로윈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소재는 감으로 고르지 않고, 테스트로 고르고 키웁니다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02 —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3422904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287426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테스트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2874264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컨셉이 다른 소재 4~6개를 같은 조건으로 동시 집행 (1주)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53256" y="2971800"/>
            <a:ext cx="310896" cy="36576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3024" y="1783080"/>
            <a:ext cx="3422904" cy="2743200"/>
          </a:xfrm>
          <a:prstGeom prst="roundRect">
            <a:avLst>
              <a:gd name="adj" fmla="val 2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7344" y="20116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344" y="2743200"/>
            <a:ext cx="287426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판별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344" y="3246120"/>
            <a:ext cx="2874264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CTR(관심) → CVR(구매 전환) → ROAS(매출 효율) 순서로 판단, 계정 평균 대비 비교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24800" y="2971800"/>
            <a:ext cx="310896" cy="365760"/>
          </a:xfrm>
          <a:prstGeom prst="rightArrow">
            <a:avLst/>
          </a:prstGeom>
          <a:solidFill>
            <a:srgbClr val="C9A3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54568" y="1783080"/>
            <a:ext cx="3422904" cy="2743200"/>
          </a:xfrm>
          <a:prstGeom prst="roundRect">
            <a:avLst>
              <a:gd name="adj" fmla="val 2666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8888" y="2011680"/>
            <a:ext cx="1828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36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8888" y="2743200"/>
            <a:ext cx="2874264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확장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8888" y="3246120"/>
            <a:ext cx="2874264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위닝 소재에 예산 이동, 같은 컨셉의 변형 소재 추가 제작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846320"/>
            <a:ext cx="11365992" cy="914400"/>
          </a:xfrm>
          <a:prstGeom prst="roundRect">
            <a:avLst>
              <a:gd name="adj" fmla="val 8000"/>
            </a:avLst>
          </a:prstGeom>
          <a:solidFill>
            <a:srgbClr val="FEF2DA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씨스터앤의 번짐 방지 영상은 6/23부터 4개월째 집행 중 — </a:t>
            </a:r>
            <a:r>
              <a:rPr sz="1500" b="1">
                <a:solidFill>
                  <a:srgbClr val="7B2FB5"/>
                </a:solidFill>
                <a:latin typeface="Pretendard"/>
                <a:ea typeface="Pretendard"/>
                <a:cs typeface="Pretendard"/>
              </a:rPr>
              <a:t>오래 도는 소재가 검증된 소재입니다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소재 제작비는 따로 받지 않습니다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04 — 소재 제작 · 메타·GFA 소재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057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월 20건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30571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기본 제작 물량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1584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5904" y="1828800"/>
            <a:ext cx="3057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400" b="0">
                <a:solidFill>
                  <a:srgbClr val="7B2FB5"/>
                </a:solidFill>
                <a:latin typeface="Pretendard Black"/>
                <a:ea typeface="Pretendard Black"/>
                <a:cs typeface="Pretendard Black"/>
              </a:rPr>
              <a:t>최대 50건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5904" y="2651760"/>
            <a:ext cx="30571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테스트·시즌 집중 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71688" y="1691639"/>
            <a:ext cx="3605784" cy="1463040"/>
          </a:xfrm>
          <a:prstGeom prst="roundRect">
            <a:avLst>
              <a:gd name="adj" fmla="val 5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6008" y="1828800"/>
            <a:ext cx="3057144" cy="777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3400" b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0원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6008" y="2651760"/>
            <a:ext cx="3057144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추가 제작비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429000"/>
            <a:ext cx="3931920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7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기존 제품 컷을 AI로 보정해 촬영 없이도 소재 수를 늘립니다</a:t>
            </a:r>
          </a:p>
          <a:p>
            <a:pPr algn="l" latinLnBrk="0" eaLnBrk="1">
              <a:lnSpc>
                <a:spcPct val="115000"/>
              </a:lnSpc>
              <a:spcAft>
                <a:spcPts val="400"/>
              </a:spcAft>
            </a:pPr>
            <a:r>
              <a:rPr sz="13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(보정 전후 예시)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064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소재 난이도에 따라 건수는 조정될 수 있습니다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17720" y="34290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C9A3E3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전</a:t>
            </a:r>
          </a:p>
        </p:txBody>
      </p:sp>
      <p:sp>
        <p:nvSpPr>
          <p:cNvPr id="18" name="IMG_s27_ai_before.png"/>
          <p:cNvSpPr/>
          <p:nvPr/>
        </p:nvSpPr>
        <p:spPr>
          <a:xfrm>
            <a:off x="4617720" y="3794760"/>
            <a:ext cx="3442716" cy="2377440"/>
          </a:xfrm>
          <a:prstGeom prst="roundRect">
            <a:avLst>
              <a:gd name="adj" fmla="val 1923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s27_ai_before.png]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4756" y="342900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보정 후</a:t>
            </a:r>
          </a:p>
        </p:txBody>
      </p:sp>
      <p:sp>
        <p:nvSpPr>
          <p:cNvPr id="20" name="IMG_s27_ai_after.png"/>
          <p:cNvSpPr/>
          <p:nvPr/>
        </p:nvSpPr>
        <p:spPr>
          <a:xfrm>
            <a:off x="8334756" y="3794760"/>
            <a:ext cx="3442716" cy="2377440"/>
          </a:xfrm>
          <a:prstGeom prst="roundRect">
            <a:avLst>
              <a:gd name="adj" fmla="val 1923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s27_ai_after.png]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광고와 같은 톤으로, 끊기지 않게 운영합니다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05 — 인스타그램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691639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 범위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039112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 marL="177800" indent="-1778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 2회 게시 (월 8~9건)</a:t>
            </a:r>
          </a:p>
          <a:p>
            <a:pPr algn="l" latinLnBrk="0" eaLnBrk="1" marL="177800" indent="-177800">
              <a:lnSpc>
                <a:spcPct val="115000"/>
              </a:lnSpc>
              <a:spcAft>
                <a:spcPts val="200"/>
              </a:spcAft>
              <a:buChar char="•"/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기획 · 이미지 제작 · 문구 작성 · 업로드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8892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진행 프로세스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 콘텐츠 계획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5910" y="315468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451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주간 시안 컨펌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8939" y="315468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754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업로드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1970" y="315468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 latinLnBrk="0" eaLnBrk="1">
              <a:lnSpc>
                <a:spcPct val="115000"/>
              </a:lnSpc>
            </a:pPr>
            <a:r>
              <a:rPr sz="1800" b="1">
                <a:solidFill>
                  <a:srgbClr val="C9A3E3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0570" y="3154680"/>
            <a:ext cx="1154430" cy="685800"/>
          </a:xfrm>
          <a:prstGeom prst="roundRect">
            <a:avLst>
              <a:gd name="adj" fmla="val 10666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 wrap="square" lIns="45720" rIns="4572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월간 반응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2336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광고 연동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370832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광고 시즌과 같은 주제로 피드 구성 (광고를 보고 들어온 고객이 같은 메시지를 보도록)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166360"/>
            <a:ext cx="5303520" cy="1005840"/>
          </a:xfrm>
          <a:prstGeom prst="roundRect">
            <a:avLst>
              <a:gd name="adj" fmla="val 7272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274320" rIns="274320" tIns="36576" bIns="36576"/>
          <a:lstStyle/>
          <a:p>
            <a:pPr algn="l" latinLnBrk="0" eaLnBrk="1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비용  </a:t>
            </a:r>
            <a:r>
              <a:rPr sz="2600" b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월 350만 원</a:t>
            </a:r>
          </a:p>
        </p:txBody>
      </p:sp>
      <p:sp>
        <p:nvSpPr>
          <p:cNvPr id="19" name="IMG_s28_feed_1.png"/>
          <p:cNvSpPr/>
          <p:nvPr/>
        </p:nvSpPr>
        <p:spPr>
          <a:xfrm>
            <a:off x="6080760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s28_feed_1.png]</a:t>
            </a:r>
          </a:p>
        </p:txBody>
      </p:sp>
      <p:sp>
        <p:nvSpPr>
          <p:cNvPr id="20" name="IMG_s28_feed_2.png"/>
          <p:cNvSpPr/>
          <p:nvPr/>
        </p:nvSpPr>
        <p:spPr>
          <a:xfrm>
            <a:off x="8040624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s28_feed_2.png]</a:t>
            </a:r>
          </a:p>
        </p:txBody>
      </p:sp>
      <p:sp>
        <p:nvSpPr>
          <p:cNvPr id="21" name="IMG_s28_feed_3.png"/>
          <p:cNvSpPr/>
          <p:nvPr/>
        </p:nvSpPr>
        <p:spPr>
          <a:xfrm>
            <a:off x="10000488" y="2240280"/>
            <a:ext cx="1776984" cy="2221230"/>
          </a:xfrm>
          <a:prstGeom prst="roundRect">
            <a:avLst>
              <a:gd name="adj" fmla="val 2572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s28_feed_3.png]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4552950"/>
            <a:ext cx="56967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피드 시안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숫자가 아니라 '왜'와 '다음'을 씁니다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02 — 분석 · 실제 운영 중인 주간 리포트 (광고주명 비공개)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6" name="IMG_s29_report_sample.png"/>
          <p:cNvSpPr/>
          <p:nvPr/>
        </p:nvSpPr>
        <p:spPr>
          <a:xfrm>
            <a:off x="411480" y="1691639"/>
            <a:ext cx="7315200" cy="4434840"/>
          </a:xfrm>
          <a:prstGeom prst="roundRect">
            <a:avLst>
              <a:gd name="adj" fmla="val 1030"/>
            </a:avLst>
          </a:prstGeom>
          <a:solidFill>
            <a:srgbClr val="E6E1DE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[이미지 필요: s29_report_sample.png]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78308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2212848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1783080"/>
            <a:ext cx="2862072" cy="1234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지난주 대비 변화와 원인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324612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3675887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246120"/>
            <a:ext cx="2862072" cy="1234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매체·소재별 효율 비교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4709160"/>
            <a:ext cx="3776472" cy="1234440"/>
          </a:xfrm>
          <a:prstGeom prst="roundRect">
            <a:avLst>
              <a:gd name="adj" fmla="val 5925"/>
            </a:avLst>
          </a:prstGeom>
          <a:solidFill>
            <a:srgbClr val="F1E4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0" y="5138928"/>
            <a:ext cx="384048" cy="384048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709160"/>
            <a:ext cx="2862072" cy="12344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이번 주 액션과 다음 주 제안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04 운영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업무시간 안에는 바로 응대합니다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80160"/>
            <a:ext cx="11365992" cy="31089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3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답변 01 — 소통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83080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03120"/>
            <a:ext cx="426567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전담 담당자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697480"/>
            <a:ext cx="426567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김현수 팀장 + </a:t>
            </a:r>
            <a:r>
              <a:rPr sz="1600" b="0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〔확인〕실무 담당자 1명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1636" y="1783080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51676" y="2103120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7476" y="2103120"/>
            <a:ext cx="426567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실시간 채널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7476" y="2697480"/>
            <a:ext cx="426567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카카오톡 단톡방 (평일 </a:t>
            </a:r>
            <a:r>
              <a:rPr sz="1600" b="0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〔확인〕09:00~18:00</a:t>
            </a:r>
            <a:r>
              <a:rPr sz="16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 응대)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977639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4297679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97679"/>
            <a:ext cx="426567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응대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892040"/>
            <a:ext cx="426567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〔확인〕업무시간 내 1시간 안에 1차 회신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3977639"/>
            <a:ext cx="5545836" cy="1920240"/>
          </a:xfrm>
          <a:prstGeom prst="roundRect">
            <a:avLst>
              <a:gd name="adj" fmla="val 3809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1676" y="4297679"/>
            <a:ext cx="457200" cy="45720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 wrap="square" lIns="0" rIns="0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15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7476" y="4297679"/>
            <a:ext cx="4265676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000" b="1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정기 소통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7476" y="4892040"/>
            <a:ext cx="4265676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주간 리포트 + 월간 리뷰 미팅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05 비용과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숨은 비용 없이, 한 장으로 정리했습니다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운영 조건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2011680"/>
          <a:ext cx="5577840" cy="31821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286000"/>
                <a:gridCol w="3291840"/>
              </a:tblGrid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항목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조건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네이버 검색광고 · GFA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대행수수료 없음</a:t>
                      </a: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(네이버 공식대행)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광고 집행비의 15%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소재 제작 (메타·GFA)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7B2FB5"/>
                          </a:solidFill>
                          <a:latin typeface="Pretendard"/>
                          <a:ea typeface="Pretendard"/>
                          <a:cs typeface="Pretendard"/>
                        </a:rPr>
                        <a:t>추가 비용 없음</a:t>
                      </a: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 (월 20건 내외, 최대 50건)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인스타그램 운영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 350만 원 (주 2회)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계약 기간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1년 단위 기본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09360" y="1645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5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월 예산별 배분 예시 </a:t>
            </a:r>
            <a:r>
              <a:rPr sz="1200" b="0">
                <a:solidFill>
                  <a:srgbClr val="5E5759"/>
                </a:solidFill>
                <a:latin typeface="Pretendard Medium"/>
                <a:ea typeface="Pretendard Medium"/>
                <a:cs typeface="Pretendard Medium"/>
              </a:rPr>
              <a:t>(단위 만 원)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309360" y="2011680"/>
          <a:ext cx="5468112" cy="21214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051560"/>
                <a:gridCol w="1143000"/>
                <a:gridCol w="914400"/>
                <a:gridCol w="914400"/>
                <a:gridCol w="1444752"/>
              </a:tblGrid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월 광고비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네이버 검색광고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GFA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Pretendard Medium"/>
                          <a:ea typeface="Pretendard Medium"/>
                          <a:cs typeface="Pretendard Medium"/>
                        </a:rPr>
                        <a:t>메타 수수료(15%)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7B2FB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60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230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34.5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latinLnBrk="0" eaLnBrk="1">
                        <a:lnSpc>
                          <a:spcPct val="115000"/>
                        </a:lnSpc>
                      </a:pPr>
                      <a:r>
                        <a:rPr sz="1300" b="1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1,000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300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500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0" eaLnBrk="1">
                        <a:lnSpc>
                          <a:spcPct val="115000"/>
                        </a:lnSpc>
                      </a:pPr>
                      <a:r>
                        <a:rPr sz="1300" b="0">
                          <a:solidFill>
                            <a:srgbClr val="211D1E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marL="91440" marR="91440" marT="36576" marB="36576" anchor="ctr">
                    <a:lnL w="9525">
                      <a:solidFill>
                        <a:srgbClr val="BFBFBF"/>
                      </a:solidFill>
                    </a:lnL>
                    <a:lnR w="9525">
                      <a:solidFill>
                        <a:srgbClr val="BFBFBF"/>
                      </a:solidFill>
                    </a:lnR>
                    <a:lnT w="9525">
                      <a:solidFill>
                        <a:srgbClr val="BFBFBF"/>
                      </a:solidFill>
                    </a:lnT>
                    <a:lnB w="9525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5532120"/>
            <a:ext cx="1136599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200" b="0">
                <a:solidFill>
                  <a:srgbClr val="5E5759"/>
                </a:solidFill>
                <a:latin typeface="Pretendard"/>
                <a:ea typeface="Pretendard"/>
                <a:cs typeface="Pretendard"/>
              </a:rPr>
              <a:t>배분은 예시이며, 목표와 성과에 따라 조정합니다. 브랜드검색은 조회수 기준 별도 단가로 산정됩니다. </a:t>
            </a:r>
            <a:r>
              <a:rPr sz="1200" b="0">
                <a:solidFill>
                  <a:srgbClr val="5E5759"/>
                </a:solidFill>
                <a:highlight>
                  <a:srgbClr val="FFF176"/>
                </a:highlight>
                <a:latin typeface="Pretendard"/>
                <a:ea typeface="Pretendard"/>
                <a:cs typeface="Pretendard"/>
              </a:rPr>
              <a:t>〔확인〕VAT 별도 여부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05 비용과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11365992" cy="56692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24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11월 첫 주부터 시작할 수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 latinLnBrk="0" eaLnBrk="1">
              <a:lnSpc>
                <a:spcPct val="115000"/>
              </a:lnSpc>
            </a:pPr>
            <a:r>
              <a:rPr sz="1000" b="0">
                <a:solidFill>
                  <a:srgbClr val="8F8789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94360" y="1920240"/>
            <a:ext cx="11000232" cy="0"/>
          </a:xfrm>
          <a:prstGeom prst="line">
            <a:avLst/>
          </a:prstGeom>
          <a:ln w="25400">
            <a:solidFill>
              <a:srgbClr val="C9A3E3"/>
            </a:solidFill>
          </a:ln>
        </p:spPr>
      </p:cxnSp>
      <p:sp>
        <p:nvSpPr>
          <p:cNvPr id="6" name="Oval 5"/>
          <p:cNvSpPr/>
          <p:nvPr/>
        </p:nvSpPr>
        <p:spPr>
          <a:xfrm>
            <a:off x="457200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19456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10/30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254431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제안</a:t>
            </a:r>
          </a:p>
        </p:txBody>
      </p:sp>
      <p:sp>
        <p:nvSpPr>
          <p:cNvPr id="9" name="Oval 8"/>
          <p:cNvSpPr/>
          <p:nvPr/>
        </p:nvSpPr>
        <p:spPr>
          <a:xfrm>
            <a:off x="3367278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1558" y="219456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11월 1주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1558" y="2606040"/>
            <a:ext cx="254431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계정 연결·세팅 (브랜드검색, 워터프루프 쇼핑검색 우선)</a:t>
            </a:r>
          </a:p>
        </p:txBody>
      </p:sp>
      <p:sp>
        <p:nvSpPr>
          <p:cNvPr id="12" name="Oval 11"/>
          <p:cNvSpPr/>
          <p:nvPr/>
        </p:nvSpPr>
        <p:spPr>
          <a:xfrm>
            <a:off x="6277356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1636" y="219456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11월 2~4주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1636" y="2606040"/>
            <a:ext cx="254431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슈퍼적립 집중 운영</a:t>
            </a:r>
          </a:p>
        </p:txBody>
      </p:sp>
      <p:sp>
        <p:nvSpPr>
          <p:cNvPr id="15" name="Oval 14"/>
          <p:cNvSpPr/>
          <p:nvPr/>
        </p:nvSpPr>
        <p:spPr>
          <a:xfrm>
            <a:off x="9187434" y="1783080"/>
            <a:ext cx="274320" cy="274320"/>
          </a:xfrm>
          <a:prstGeom prst="ellipse">
            <a:avLst/>
          </a:prstGeom>
          <a:solidFill>
            <a:srgbClr val="7B2F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1713" y="2194560"/>
            <a:ext cx="263575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700" b="1">
                <a:solidFill>
                  <a:srgbClr val="7B2FB5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1713" y="2606040"/>
            <a:ext cx="254431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latinLnBrk="0" eaLnBrk="1">
              <a:lnSpc>
                <a:spcPct val="115000"/>
              </a:lnSpc>
            </a:pPr>
            <a:r>
              <a:rPr sz="1400" b="0">
                <a:solidFill>
                  <a:srgbClr val="211D1E"/>
                </a:solidFill>
                <a:latin typeface="Pretendard"/>
                <a:ea typeface="Pretendard"/>
                <a:cs typeface="Pretendard"/>
              </a:rPr>
              <a:t>11월 성과 리뷰 + 연말 시즌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40480"/>
            <a:ext cx="11365992" cy="1097280"/>
          </a:xfrm>
          <a:prstGeom prst="roundRect">
            <a:avLst>
              <a:gd name="adj" fmla="val 6666"/>
            </a:avLst>
          </a:prstGeom>
          <a:solidFill>
            <a:srgbClr val="7B2FB5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ctr" latinLnBrk="0" eaLnBrk="1">
              <a:lnSpc>
                <a:spcPct val="115000"/>
              </a:lnSpc>
            </a:pPr>
            <a:r>
              <a:rPr sz="2600" b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이미 가진 강점을, 광고가 제대로 쓰게 만들겠습니다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578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latinLnBrk="0" eaLnBrk="1">
              <a:lnSpc>
                <a:spcPct val="115000"/>
              </a:lnSpc>
            </a:pP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NICECORE 김현수 팀장 / </a:t>
            </a:r>
            <a:r>
              <a:rPr sz="1600" b="0">
                <a:solidFill>
                  <a:srgbClr val="211D1E"/>
                </a:solidFill>
                <a:highlight>
                  <a:srgbClr val="FFF176"/>
                </a:highlight>
                <a:latin typeface="Pretendard Medium"/>
                <a:ea typeface="Pretendard Medium"/>
                <a:cs typeface="Pretendard Medium"/>
              </a:rPr>
              <a:t>〔확인〕연락처</a:t>
            </a:r>
            <a:r>
              <a:rPr sz="1600" b="0">
                <a:solidFill>
                  <a:srgbClr val="211D1E"/>
                </a:solidFill>
                <a:latin typeface="Pretendard Medium"/>
                <a:ea typeface="Pretendard Medium"/>
                <a:cs typeface="Pretendard Medium"/>
              </a:rPr>
              <a:t> / </a:t>
            </a:r>
            <a:r>
              <a:rPr sz="1600" b="0">
                <a:solidFill>
                  <a:srgbClr val="211D1E"/>
                </a:solidFill>
                <a:highlight>
                  <a:srgbClr val="FFF176"/>
                </a:highlight>
                <a:latin typeface="Pretendard Medium"/>
                <a:ea typeface="Pretendard Medium"/>
                <a:cs typeface="Pretendard Medium"/>
              </a:rPr>
              <a:t>〔확인〕이메일</a:t>
            </a:r>
          </a:p>
        </p:txBody>
      </p:sp>
      <p:pic>
        <p:nvPicPr>
          <p:cNvPr id="20" name="Picture 19" descr="logo_nice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672" y="5349240"/>
            <a:ext cx="1828800" cy="265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smtClean="0">
            <a:latin typeface="Pretendard" panose="02000503000000020004" pitchFamily="50" charset="-127"/>
            <a:ea typeface="Pretendard" panose="02000503000000020004" pitchFamily="50" charset="-127"/>
            <a:cs typeface="Pretendard" panose="0200050300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</Words>
  <Application>Microsoft Office PowerPoint</Application>
  <PresentationFormat>와이드스크린</PresentationFormat>
  <Paragraphs>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Pretendard</vt:lpstr>
      <vt:lpstr>Pretendard Black</vt:lpstr>
      <vt:lpstr>Pretendard Medium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현수 김</dc:creator>
  <cp:lastModifiedBy>현수 김</cp:lastModifiedBy>
  <cp:revision>2</cp:revision>
  <dcterms:created xsi:type="dcterms:W3CDTF">2026-10-22T07:01:20Z</dcterms:created>
  <dcterms:modified xsi:type="dcterms:W3CDTF">2026-10-23T06:39:29Z</dcterms:modified>
</cp:coreProperties>
</file>