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l" latinLnBrk="0" eaLnBrk="1">
              <a:lnSpc>
                <a:spcPct val="120000"/>
              </a:lnSpc>
              <a:defRPr/>
            </a:pPr>
            <a:r>
              <a:rPr sz="11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꼬기다 파워링크 하루 광고비 (원)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꼬기다 파워링크 하루 광고비</c:v>
                </c:pt>
              </c:strCache>
            </c:strRef>
          </c:tx>
          <c:dPt>
            <c:idx val="0"/>
            <c:spPr>
              <a:solidFill>
                <a:srgbClr val="C4CED8"/>
              </a:solidFill>
            </c:spPr>
          </c:dPt>
          <c:dPt>
            <c:idx val="1"/>
            <c:spPr>
              <a:solidFill>
                <a:srgbClr val="C4CED8"/>
              </a:solidFill>
            </c:spPr>
          </c:dPt>
          <c:dPt>
            <c:idx val="2"/>
            <c:spPr>
              <a:solidFill>
                <a:srgbClr val="C4CED8"/>
              </a:solidFill>
            </c:spPr>
          </c:dPt>
          <c:dPt>
            <c:idx val="3"/>
            <c:spPr>
              <a:solidFill>
                <a:srgbClr val="C4CED8"/>
              </a:solidFill>
            </c:spPr>
          </c:dPt>
          <c:dPt>
            <c:idx val="4"/>
            <c:spPr>
              <a:solidFill>
                <a:srgbClr val="C4CED8"/>
              </a:solidFill>
            </c:spPr>
          </c:dPt>
          <c:dPt>
            <c:idx val="5"/>
            <c:spPr>
              <a:solidFill>
                <a:srgbClr val="C4CED8"/>
              </a:solidFill>
            </c:spPr>
          </c:dPt>
          <c:dPt>
            <c:idx val="6"/>
            <c:spPr>
              <a:solidFill>
                <a:srgbClr val="C4CED8"/>
              </a:solidFill>
            </c:spPr>
          </c:dPt>
          <c:dPt>
            <c:idx val="7"/>
            <c:spPr>
              <a:solidFill>
                <a:srgbClr val="ED1438"/>
              </a:solidFill>
            </c:spPr>
          </c:dPt>
          <c:dPt>
            <c:idx val="8"/>
            <c:spPr>
              <a:solidFill>
                <a:srgbClr val="ED1438"/>
              </a:solidFill>
            </c:spPr>
          </c:dPt>
          <c:dPt>
            <c:idx val="9"/>
            <c:spPr>
              <a:solidFill>
                <a:srgbClr val="ED1438"/>
              </a:solidFill>
            </c:spPr>
          </c:dPt>
          <c:cat>
            <c:strRef>
              <c:f>Sheet1!$A$2:$A$11</c:f>
              <c:strCache>
                <c:ptCount val="10"/>
                <c:pt idx="0">
                  <c:v>10/19</c:v>
                </c:pt>
                <c:pt idx="1">
                  <c:v>10/20</c:v>
                </c:pt>
                <c:pt idx="2">
                  <c:v>10/21</c:v>
                </c:pt>
                <c:pt idx="3">
                  <c:v>10/22</c:v>
                </c:pt>
                <c:pt idx="4">
                  <c:v>10/23</c:v>
                </c:pt>
                <c:pt idx="5">
                  <c:v>10/24</c:v>
                </c:pt>
                <c:pt idx="6">
                  <c:v>10/25</c:v>
                </c:pt>
                <c:pt idx="7">
                  <c:v>10/26</c:v>
                </c:pt>
                <c:pt idx="8">
                  <c:v>10/27</c:v>
                </c:pt>
                <c:pt idx="9">
                  <c:v>10/28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61446</c:v>
                </c:pt>
                <c:pt idx="1">
                  <c:v>50330</c:v>
                </c:pt>
                <c:pt idx="2">
                  <c:v>39906</c:v>
                </c:pt>
                <c:pt idx="3">
                  <c:v>30794</c:v>
                </c:pt>
                <c:pt idx="4">
                  <c:v>30815</c:v>
                </c:pt>
                <c:pt idx="5">
                  <c:v>23755</c:v>
                </c:pt>
                <c:pt idx="6">
                  <c:v>27695</c:v>
                </c:pt>
                <c:pt idx="7">
                  <c:v>116504</c:v>
                </c:pt>
                <c:pt idx="8">
                  <c:v>108038</c:v>
                </c:pt>
                <c:pt idx="9">
                  <c:v>89916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1D6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4E5968"/>
          </a:solidFill>
          <a:latin typeface="페이퍼로지 4 Regula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l" latinLnBrk="0" eaLnBrk="1">
              <a:lnSpc>
                <a:spcPct val="120000"/>
              </a:lnSpc>
              <a:defRPr/>
            </a:pPr>
            <a:r>
              <a:rPr sz="11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꼬기다 브랜드 관련 구매 (파워링크 + 브랜드검색) (건)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꼬기다 브랜드 관련 구매 (파워링크 + 브랜드검색)</c:v>
                </c:pt>
              </c:strCache>
            </c:strRef>
          </c:tx>
          <c:dPt>
            <c:idx val="0"/>
            <c:spPr>
              <a:solidFill>
                <a:srgbClr val="C4CED8"/>
              </a:solidFill>
            </c:spPr>
          </c:dPt>
          <c:dPt>
            <c:idx val="1"/>
            <c:spPr>
              <a:solidFill>
                <a:srgbClr val="C4CED8"/>
              </a:solidFill>
            </c:spPr>
          </c:dPt>
          <c:dPt>
            <c:idx val="2"/>
            <c:spPr>
              <a:solidFill>
                <a:srgbClr val="C4CED8"/>
              </a:solidFill>
            </c:spPr>
          </c:dPt>
          <c:dPt>
            <c:idx val="3"/>
            <c:spPr>
              <a:solidFill>
                <a:srgbClr val="C4CED8"/>
              </a:solidFill>
            </c:spPr>
          </c:dPt>
          <c:dPt>
            <c:idx val="4"/>
            <c:spPr>
              <a:solidFill>
                <a:srgbClr val="C4CED8"/>
              </a:solidFill>
            </c:spPr>
          </c:dPt>
          <c:dPt>
            <c:idx val="5"/>
            <c:spPr>
              <a:solidFill>
                <a:srgbClr val="C4CED8"/>
              </a:solidFill>
            </c:spPr>
          </c:dPt>
          <c:dPt>
            <c:idx val="6"/>
            <c:spPr>
              <a:solidFill>
                <a:srgbClr val="C4CED8"/>
              </a:solidFill>
            </c:spPr>
          </c:dPt>
          <c:dPt>
            <c:idx val="7"/>
            <c:spPr>
              <a:solidFill>
                <a:srgbClr val="ED1438"/>
              </a:solidFill>
            </c:spPr>
          </c:dPt>
          <c:dPt>
            <c:idx val="8"/>
            <c:spPr>
              <a:solidFill>
                <a:srgbClr val="ED1438"/>
              </a:solidFill>
            </c:spPr>
          </c:dPt>
          <c:dPt>
            <c:idx val="9"/>
            <c:spPr>
              <a:solidFill>
                <a:srgbClr val="ED1438"/>
              </a:solidFill>
            </c:spPr>
          </c:dPt>
          <c:cat>
            <c:strRef>
              <c:f>Sheet1!$A$2:$A$11</c:f>
              <c:strCache>
                <c:ptCount val="10"/>
                <c:pt idx="0">
                  <c:v>10/19</c:v>
                </c:pt>
                <c:pt idx="1">
                  <c:v>10/20</c:v>
                </c:pt>
                <c:pt idx="2">
                  <c:v>10/21</c:v>
                </c:pt>
                <c:pt idx="3">
                  <c:v>10/22</c:v>
                </c:pt>
                <c:pt idx="4">
                  <c:v>10/23</c:v>
                </c:pt>
                <c:pt idx="5">
                  <c:v>10/24</c:v>
                </c:pt>
                <c:pt idx="6">
                  <c:v>10/25</c:v>
                </c:pt>
                <c:pt idx="7">
                  <c:v>10/26</c:v>
                </c:pt>
                <c:pt idx="8">
                  <c:v>10/27</c:v>
                </c:pt>
                <c:pt idx="9">
                  <c:v>10/28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464</c:v>
                </c:pt>
                <c:pt idx="1">
                  <c:v>281</c:v>
                </c:pt>
                <c:pt idx="2">
                  <c:v>339</c:v>
                </c:pt>
                <c:pt idx="3">
                  <c:v>310</c:v>
                </c:pt>
                <c:pt idx="4">
                  <c:v>244</c:v>
                </c:pt>
                <c:pt idx="5">
                  <c:v>227</c:v>
                </c:pt>
                <c:pt idx="6">
                  <c:v>280</c:v>
                </c:pt>
                <c:pt idx="7">
                  <c:v>331</c:v>
                </c:pt>
                <c:pt idx="8">
                  <c:v>217</c:v>
                </c:pt>
                <c:pt idx="9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1D6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4E5968"/>
          </a:solidFill>
          <a:latin typeface="페이퍼로지 4 Regula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쭈꾸미 CTA는 "2팩부터"가 아니라 "5만 원 이상 무료배송"입니다(쭈꾸미 2팩은 5만 원 미만).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4번은 개수와 예시 5개까지만. 전체 목록은 계약 전에 공개하지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pic>
        <p:nvPicPr>
          <p:cNvPr id="3" name="Picture 2" descr="logo_nicecor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05840" y="18288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페이퍼로지 7 Bold"/>
                <a:ea typeface="페이퍼로지 7 Bold"/>
              </a:rPr>
              <a:t>NICECORE 2차 과제 회신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4000" b="0">
                <a:solidFill>
                  <a:srgbClr val="FFFFFF"/>
                </a:solidFill>
                <a:latin typeface="페이퍼로지 7 Bold"/>
                <a:ea typeface="페이퍼로지 7 Bold"/>
              </a:rPr>
              <a:t>통영숙수 네이버 광고 운영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800" b="0">
                <a:solidFill>
                  <a:srgbClr val="C4CED8"/>
                </a:solidFill>
                <a:latin typeface="페이퍼로지 4 Regular"/>
                <a:ea typeface="페이퍼로지 4 Regular"/>
              </a:rPr>
              <a:t>소재와 판정 기준, 비용 누수 진단, 상시 점검 체계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3886200"/>
            <a:ext cx="3840480" cy="0"/>
          </a:xfrm>
          <a:prstGeom prst="line">
            <a:avLst/>
          </a:prstGeom>
          <a:ln w="19050">
            <a:solidFill>
              <a:srgbClr val="ED1438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1005840" y="4069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페이퍼로지 4 Regular"/>
                <a:ea typeface="페이퍼로지 4 Regular"/>
              </a:rPr>
              <a:t>2026년 11월 3일 · NICECORE 퍼포먼스마케팅팀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sp>
        <p:nvSpPr>
          <p:cNvPr id="3" name="Rounded Rectangle 2"/>
          <p:cNvSpPr/>
          <p:nvPr/>
        </p:nvSpPr>
        <p:spPr>
          <a:xfrm>
            <a:off x="457200" y="246888"/>
            <a:ext cx="886968" cy="256032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페이퍼로지 7 Bold"/>
                <a:ea typeface="페이퍼로지 7 Bold"/>
              </a:rPr>
              <a:t>과제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46888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① 소재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② 판정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③ 비용 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296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④ 상시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운영·일정</a:t>
            </a:r>
          </a:p>
        </p:txBody>
      </p:sp>
      <p:pic>
        <p:nvPicPr>
          <p:cNvPr id="9" name="Picture 8" descr="logo_nic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7132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페이퍼로지 7 Bold"/>
                <a:ea typeface="페이퍼로지 7 Bold"/>
              </a:rPr>
              <a:t>과제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24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네 가지 과제에 대한 답을 먼저 정리했습니다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 eaLnBrk="1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83080"/>
            <a:ext cx="2647873" cy="2788920"/>
          </a:xfrm>
          <a:prstGeom prst="roundRect">
            <a:avLst>
              <a:gd name="adj" fmla="val 2762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1965960"/>
            <a:ext cx="365760" cy="365760"/>
          </a:xfrm>
          <a:prstGeom prst="ellipse">
            <a:avLst/>
          </a:prstGeom>
          <a:solidFill>
            <a:srgbClr val="ED143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68880"/>
            <a:ext cx="219067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600" b="0">
                <a:solidFill>
                  <a:srgbClr val="191F28"/>
                </a:solidFill>
                <a:latin typeface="페이퍼로지 7 Bold"/>
                <a:ea typeface="페이퍼로지 7 Bold"/>
              </a:rPr>
              <a:t>소재 6종과 가설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26080"/>
            <a:ext cx="2190673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5000"/>
              </a:lnSpc>
            </a:pPr>
            <a:r>
              <a:rPr sz="12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상품별로 3종씩 준비했습니다. 소재마다 바꾸는 요소를 하나로 정해, 무엇이 성과를 냈는지 분명히 가려냅니다.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3673" y="1783080"/>
            <a:ext cx="2647873" cy="2788920"/>
          </a:xfrm>
          <a:prstGeom prst="roundRect">
            <a:avLst>
              <a:gd name="adj" fmla="val 2762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62273" y="1965960"/>
            <a:ext cx="365760" cy="365760"/>
          </a:xfrm>
          <a:prstGeom prst="ellipse">
            <a:avLst/>
          </a:prstGeom>
          <a:solidFill>
            <a:srgbClr val="ED143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2273" y="2468880"/>
            <a:ext cx="219067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600" b="0">
                <a:solidFill>
                  <a:srgbClr val="191F28"/>
                </a:solidFill>
                <a:latin typeface="페이퍼로지 7 Bold"/>
                <a:ea typeface="페이퍼로지 7 Bold"/>
              </a:rPr>
              <a:t>유지·교체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2273" y="2926080"/>
            <a:ext cx="2190673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5000"/>
              </a:lnSpc>
            </a:pPr>
            <a:r>
              <a:rPr sz="12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집행 14일 또는 클릭 300회가 지나면 판정합니다. BEP 300%를 기준으로 확대, 유지, 개선, 교체 중 하나를 고릅니다.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0147" y="1783080"/>
            <a:ext cx="2647873" cy="2788920"/>
          </a:xfrm>
          <a:prstGeom prst="roundRect">
            <a:avLst>
              <a:gd name="adj" fmla="val 2762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8747" y="1965960"/>
            <a:ext cx="365760" cy="365760"/>
          </a:xfrm>
          <a:prstGeom prst="ellipse">
            <a:avLst/>
          </a:prstGeom>
          <a:solidFill>
            <a:srgbClr val="ED143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747" y="2468880"/>
            <a:ext cx="219067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600" b="0">
                <a:solidFill>
                  <a:srgbClr val="191F28"/>
                </a:solidFill>
                <a:latin typeface="페이퍼로지 7 Bold"/>
                <a:ea typeface="페이퍼로지 7 Bold"/>
              </a:rPr>
              <a:t>비용 누수 Top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8747" y="2926080"/>
            <a:ext cx="2190673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5000"/>
              </a:lnSpc>
            </a:pPr>
            <a:r>
              <a:rPr sz="12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계정 전체와 통영숙수를 함께 살폈습니다. 월 약 516만 원을 줄일 수 있고, 이익 기준으로 보면 약 390만 원입니다.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6621" y="1783080"/>
            <a:ext cx="2647873" cy="2788920"/>
          </a:xfrm>
          <a:prstGeom prst="roundRect">
            <a:avLst>
              <a:gd name="adj" fmla="val 2762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15221" y="1965960"/>
            <a:ext cx="365760" cy="365760"/>
          </a:xfrm>
          <a:prstGeom prst="ellipse">
            <a:avLst/>
          </a:prstGeom>
          <a:solidFill>
            <a:srgbClr val="ED143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5221" y="2468880"/>
            <a:ext cx="219067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600" b="0">
                <a:solidFill>
                  <a:srgbClr val="191F28"/>
                </a:solidFill>
                <a:latin typeface="페이퍼로지 7 Bold"/>
                <a:ea typeface="페이퍼로지 7 Bold"/>
              </a:rPr>
              <a:t>상시 점검 체계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5221" y="2926080"/>
            <a:ext cx="2190673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5000"/>
              </a:lnSpc>
            </a:pPr>
            <a:r>
              <a:rPr sz="12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매일, 매주, 매월 보는 항목과 8가지 이상 신호를 정했습니다. 꼬기다 브랜드검색 종료도 3일 치 데이터로 확인했습니다.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75488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FFEDEA"/>
          </a:solidFill>
          <a:ln>
            <a:noFill/>
          </a:ln>
        </p:spPr>
        <p:txBody>
          <a:bodyPr rtlCol="0" anchor="ctr" wrap="square" lIns="274320" rIns="274320"/>
          <a:lstStyle/>
          <a:p>
            <a:pPr algn="l" latinLnBrk="0" eaLnBrk="1">
              <a:lnSpc>
                <a:spcPct val="120000"/>
              </a:lnSpc>
            </a:pPr>
            <a:r>
              <a:rPr sz="14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김현수 팀장(14년차)과 김범준 매니저(1년차)가 함께 맡고, 사내 디자인팀이 월 40개 이상 소재를 만듭니다.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9788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6 SemiBold"/>
                <a:ea typeface="페이퍼로지 6 SemiBold"/>
              </a:rPr>
              <a:t>모든 성과는 구매완료 기준이며, 2026년 10월 1일~28일 계정 데이터를 썼습니다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45720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과제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246888"/>
            <a:ext cx="768096" cy="256032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페이퍼로지 7 Bold"/>
                <a:ea typeface="페이퍼로지 7 Bold"/>
              </a:rPr>
              <a:t>① 소재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② 판정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③ 비용 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296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④ 상시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운영·일정</a:t>
            </a:r>
          </a:p>
        </p:txBody>
      </p:sp>
      <p:pic>
        <p:nvPicPr>
          <p:cNvPr id="9" name="Picture 8" descr="logo_nic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713232"/>
            <a:ext cx="2066544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페이퍼로지 7 Bold"/>
                <a:ea typeface="페이퍼로지 7 Bold"/>
              </a:rPr>
              <a:t>① 소재 · 게우 통전복죽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24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셰프로 설득할지, 상황으로 부를지 비교합니다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 eaLnBrk="1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페이퍼로지 7 Bold"/>
                <a:ea typeface="페이퍼로지 7 Bold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737360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200" b="0">
                <a:solidFill>
                  <a:srgbClr val="4E5968"/>
                </a:solidFill>
                <a:latin typeface="페이퍼로지 6 SemiBold"/>
                <a:ea typeface="페이퍼로지 6 SemiBold"/>
              </a:rPr>
              <a:t>40~60대 · 셰프형</a:t>
            </a:r>
          </a:p>
        </p:txBody>
      </p:sp>
      <p:sp>
        <p:nvSpPr>
          <p:cNvPr id="15" name="소재_A"/>
          <p:cNvSpPr/>
          <p:nvPr/>
        </p:nvSpPr>
        <p:spPr>
          <a:xfrm>
            <a:off x="457200" y="2121408"/>
            <a:ext cx="1417320" cy="1417320"/>
          </a:xfrm>
          <a:prstGeom prst="roundRect">
            <a:avLst>
              <a:gd name="adj" fmla="val 2580"/>
            </a:avLst>
          </a:prstGeom>
          <a:solidFill>
            <a:srgbClr val="E5E8EB"/>
          </a:solidFill>
          <a:ln w="12700">
            <a:solidFill>
              <a:srgbClr val="8B95A1"/>
            </a:solidFill>
            <a:prstDash val="dash"/>
          </a:ln>
        </p:spPr>
        <p:txBody>
          <a:bodyPr rtlCol="0" anchor="ctr" wrap="square" lIns="45720" rIns="4572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4E5968"/>
                </a:solidFill>
                <a:latin typeface="페이퍼로지 6 SemiBold"/>
                <a:ea typeface="페이퍼로지 6 SemiBold"/>
              </a:rPr>
              <a:t>소재 이미지</a:t>
            </a:r>
          </a:p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(디자인팀 제작)</a:t>
            </a:r>
          </a:p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1:1 / 1200×628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103120"/>
            <a:ext cx="202173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191F28"/>
                </a:solidFill>
                <a:latin typeface="페이퍼로지 7 Bold"/>
                <a:ea typeface="페이퍼로지 7 Bold"/>
              </a:rPr>
              <a:t>통영 사람이 끓인 초록빛 전복죽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34640"/>
            <a:ext cx="202173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0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완도산 통전복 한 마리, 내장까지 그대로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246120"/>
            <a:ext cx="2021738" cy="228600"/>
          </a:xfrm>
          <a:prstGeom prst="roundRect">
            <a:avLst>
              <a:gd name="adj" fmla="val 50000"/>
            </a:avLst>
          </a:prstGeom>
          <a:solidFill>
            <a:srgbClr val="FFEDE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ED1438"/>
                </a:solidFill>
                <a:latin typeface="페이퍼로지 7 Bold"/>
                <a:ea typeface="페이퍼로지 7 Bold"/>
              </a:rPr>
              <a:t>통전복 한 마리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11880"/>
            <a:ext cx="357621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000" b="0">
                <a:solidFill>
                  <a:srgbClr val="ED1438"/>
                </a:solidFill>
                <a:latin typeface="페이퍼로지 6 SemiBold"/>
                <a:ea typeface="페이퍼로지 6 SemiBold"/>
              </a:rPr>
              <a:t>CTA  </a:t>
            </a:r>
            <a:r>
              <a:rPr sz="10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2팩부터 무료배송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13632"/>
            <a:ext cx="3576218" cy="1847088"/>
          </a:xfrm>
          <a:prstGeom prst="roundRect">
            <a:avLst>
              <a:gd name="adj" fmla="val 3960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05072"/>
            <a:ext cx="3210458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100" b="0">
                <a:solidFill>
                  <a:srgbClr val="ED1438"/>
                </a:solidFill>
                <a:latin typeface="페이퍼로지 7 Bold"/>
                <a:ea typeface="페이퍼로지 7 Bold"/>
              </a:rPr>
              <a:t>가설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61104"/>
            <a:ext cx="321045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0000"/>
              </a:lnSpc>
            </a:pPr>
            <a:r>
              <a:rPr sz="11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40~60대는 셰프를 믿을 수 있을 때 구매합니다. 상황형(L)보다 구매 전환율이 높을 것으로 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3210458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100" b="0">
                <a:solidFill>
                  <a:srgbClr val="ED1438"/>
                </a:solidFill>
                <a:latin typeface="페이퍼로지 6 SemiBold"/>
                <a:ea typeface="페이퍼로지 6 SemiBold"/>
              </a:rPr>
              <a:t>볼 지표  </a:t>
            </a:r>
            <a:r>
              <a:rPr sz="11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구매 전환율, ROAS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7738" y="1737360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페이퍼로지 7 Bold"/>
                <a:ea typeface="페이퍼로지 7 Bold"/>
              </a:rPr>
              <a:t>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3226" y="1737360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200" b="0">
                <a:solidFill>
                  <a:srgbClr val="4E5968"/>
                </a:solidFill>
                <a:latin typeface="페이퍼로지 6 SemiBold"/>
                <a:ea typeface="페이퍼로지 6 SemiBold"/>
              </a:rPr>
              <a:t>40~60대 · 상황형</a:t>
            </a:r>
          </a:p>
        </p:txBody>
      </p:sp>
      <p:sp>
        <p:nvSpPr>
          <p:cNvPr id="26" name="소재_L"/>
          <p:cNvSpPr/>
          <p:nvPr/>
        </p:nvSpPr>
        <p:spPr>
          <a:xfrm>
            <a:off x="4307738" y="2121408"/>
            <a:ext cx="1417320" cy="1417320"/>
          </a:xfrm>
          <a:prstGeom prst="roundRect">
            <a:avLst>
              <a:gd name="adj" fmla="val 2580"/>
            </a:avLst>
          </a:prstGeom>
          <a:solidFill>
            <a:srgbClr val="E5E8EB"/>
          </a:solidFill>
          <a:ln w="12700">
            <a:solidFill>
              <a:srgbClr val="8B95A1"/>
            </a:solidFill>
            <a:prstDash val="dash"/>
          </a:ln>
        </p:spPr>
        <p:txBody>
          <a:bodyPr rtlCol="0" anchor="ctr" wrap="square" lIns="45720" rIns="4572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4E5968"/>
                </a:solidFill>
                <a:latin typeface="페이퍼로지 6 SemiBold"/>
                <a:ea typeface="페이퍼로지 6 SemiBold"/>
              </a:rPr>
              <a:t>소재 이미지</a:t>
            </a:r>
          </a:p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(디자인팀 제작)</a:t>
            </a:r>
          </a:p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1:1 / 1200×628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2218" y="2103120"/>
            <a:ext cx="202173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191F28"/>
                </a:solidFill>
                <a:latin typeface="페이퍼로지 7 Bold"/>
                <a:ea typeface="페이퍼로지 7 Bold"/>
              </a:rPr>
              <a:t>입맛 없는 날, 식당 전복죽 그대로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2218" y="2834640"/>
            <a:ext cx="202173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0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완도산 통전복 한 마리, 내장까지 그대로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62218" y="3246120"/>
            <a:ext cx="2021738" cy="228600"/>
          </a:xfrm>
          <a:prstGeom prst="roundRect">
            <a:avLst>
              <a:gd name="adj" fmla="val 50000"/>
            </a:avLst>
          </a:prstGeom>
          <a:solidFill>
            <a:srgbClr val="FFEDE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ED1438"/>
                </a:solidFill>
                <a:latin typeface="페이퍼로지 7 Bold"/>
                <a:ea typeface="페이퍼로지 7 Bold"/>
              </a:rPr>
              <a:t>통전복 한 마리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7738" y="3611880"/>
            <a:ext cx="357621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000" b="0">
                <a:solidFill>
                  <a:srgbClr val="ED1438"/>
                </a:solidFill>
                <a:latin typeface="페이퍼로지 6 SemiBold"/>
                <a:ea typeface="페이퍼로지 6 SemiBold"/>
              </a:rPr>
              <a:t>CTA  </a:t>
            </a:r>
            <a:r>
              <a:rPr sz="10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2팩부터 무료배송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7738" y="3913632"/>
            <a:ext cx="3576218" cy="1847088"/>
          </a:xfrm>
          <a:prstGeom prst="roundRect">
            <a:avLst>
              <a:gd name="adj" fmla="val 3960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0618" y="4005072"/>
            <a:ext cx="3210458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100" b="0">
                <a:solidFill>
                  <a:srgbClr val="ED1438"/>
                </a:solidFill>
                <a:latin typeface="페이퍼로지 7 Bold"/>
                <a:ea typeface="페이퍼로지 7 Bold"/>
              </a:rPr>
              <a:t>가설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0618" y="4261104"/>
            <a:ext cx="321045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0000"/>
              </a:lnSpc>
            </a:pPr>
            <a:r>
              <a:rPr sz="11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고객의 상황을 짚으면 관심 있는 사람만 클릭합니다. 클릭률은 A보다 낮아도 구매 전환율은 높을 것으로 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0618" y="5349240"/>
            <a:ext cx="3210458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100" b="0">
                <a:solidFill>
                  <a:srgbClr val="ED1438"/>
                </a:solidFill>
                <a:latin typeface="페이퍼로지 6 SemiBold"/>
                <a:ea typeface="페이퍼로지 6 SemiBold"/>
              </a:rPr>
              <a:t>볼 지표  </a:t>
            </a:r>
            <a:r>
              <a:rPr sz="11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클릭률, 구매 전환율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58276" y="1737360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페이퍼로지 7 Bold"/>
                <a:ea typeface="페이퍼로지 7 Bold"/>
              </a:rPr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33764" y="1737360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200" b="0">
                <a:solidFill>
                  <a:srgbClr val="4E5968"/>
                </a:solidFill>
                <a:latin typeface="페이퍼로지 6 SemiBold"/>
                <a:ea typeface="페이퍼로지 6 SemiBold"/>
              </a:rPr>
              <a:t>30대 · 아이 아침</a:t>
            </a:r>
          </a:p>
        </p:txBody>
      </p:sp>
      <p:sp>
        <p:nvSpPr>
          <p:cNvPr id="37" name="소재_B"/>
          <p:cNvSpPr/>
          <p:nvPr/>
        </p:nvSpPr>
        <p:spPr>
          <a:xfrm>
            <a:off x="8158276" y="2121408"/>
            <a:ext cx="1417320" cy="1417320"/>
          </a:xfrm>
          <a:prstGeom prst="roundRect">
            <a:avLst>
              <a:gd name="adj" fmla="val 2580"/>
            </a:avLst>
          </a:prstGeom>
          <a:solidFill>
            <a:srgbClr val="E5E8EB"/>
          </a:solidFill>
          <a:ln w="12700">
            <a:solidFill>
              <a:srgbClr val="8B95A1"/>
            </a:solidFill>
            <a:prstDash val="dash"/>
          </a:ln>
        </p:spPr>
        <p:txBody>
          <a:bodyPr rtlCol="0" anchor="ctr" wrap="square" lIns="45720" rIns="4572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4E5968"/>
                </a:solidFill>
                <a:latin typeface="페이퍼로지 6 SemiBold"/>
                <a:ea typeface="페이퍼로지 6 SemiBold"/>
              </a:rPr>
              <a:t>소재 이미지</a:t>
            </a:r>
          </a:p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(디자인팀 제작)</a:t>
            </a:r>
          </a:p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1:1 / 1200×628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2756" y="2103120"/>
            <a:ext cx="202173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191F28"/>
                </a:solidFill>
                <a:latin typeface="페이퍼로지 7 Bold"/>
                <a:ea typeface="페이퍼로지 7 Bold"/>
              </a:rPr>
              <a:t>아침 안 먹는 아이도 한 그릇 비우는 전복죽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2756" y="2834640"/>
            <a:ext cx="202173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0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밥솥에 넣고 취사 한 번, 1팩이면 2인분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12756" y="3246120"/>
            <a:ext cx="2021738" cy="228600"/>
          </a:xfrm>
          <a:prstGeom prst="roundRect">
            <a:avLst>
              <a:gd name="adj" fmla="val 50000"/>
            </a:avLst>
          </a:prstGeom>
          <a:solidFill>
            <a:srgbClr val="FFEDE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ED1438"/>
                </a:solidFill>
                <a:latin typeface="페이퍼로지 7 Bold"/>
                <a:ea typeface="페이퍼로지 7 Bold"/>
              </a:rPr>
              <a:t>취사 13분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8276" y="3611880"/>
            <a:ext cx="357621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000" b="0">
                <a:solidFill>
                  <a:srgbClr val="ED1438"/>
                </a:solidFill>
                <a:latin typeface="페이퍼로지 6 SemiBold"/>
                <a:ea typeface="페이퍼로지 6 SemiBold"/>
              </a:rPr>
              <a:t>CTA  </a:t>
            </a:r>
            <a:r>
              <a:rPr sz="10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2팩부터 무료배송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58276" y="3913632"/>
            <a:ext cx="3576218" cy="1847088"/>
          </a:xfrm>
          <a:prstGeom prst="roundRect">
            <a:avLst>
              <a:gd name="adj" fmla="val 3960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1156" y="4005072"/>
            <a:ext cx="3210458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100" b="0">
                <a:solidFill>
                  <a:srgbClr val="ED1438"/>
                </a:solidFill>
                <a:latin typeface="페이퍼로지 7 Bold"/>
                <a:ea typeface="페이퍼로지 7 Bold"/>
              </a:rPr>
              <a:t>가설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1156" y="4261104"/>
            <a:ext cx="321045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0000"/>
              </a:lnSpc>
            </a:pPr>
            <a:r>
              <a:rPr sz="11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"1팩 2인분"과 무료배송 조건을 함께 보여주면 2팩을 담는 고객이 늘어납니다. 객단가가 5만 원을 넘을 것으로 봅니다.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1156" y="5349240"/>
            <a:ext cx="3210458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100" b="0">
                <a:solidFill>
                  <a:srgbClr val="ED1438"/>
                </a:solidFill>
                <a:latin typeface="페이퍼로지 6 SemiBold"/>
                <a:ea typeface="페이퍼로지 6 SemiBold"/>
              </a:rPr>
              <a:t>볼 지표  </a:t>
            </a:r>
            <a:r>
              <a:rPr sz="11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객단가, 구매 전환율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89788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6 SemiBold"/>
                <a:ea typeface="페이퍼로지 6 SemiBold"/>
              </a:rPr>
              <a:t>A와 L은 같은 40~60대 그룹에서 같은 예산으로, B는 30대 그룹에서 기존 소재와 비교합니다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45720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과제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246888"/>
            <a:ext cx="768096" cy="256032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페이퍼로지 7 Bold"/>
                <a:ea typeface="페이퍼로지 7 Bold"/>
              </a:rPr>
              <a:t>① 소재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② 판정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③ 비용 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296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④ 상시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운영·일정</a:t>
            </a:r>
          </a:p>
        </p:txBody>
      </p:sp>
      <p:pic>
        <p:nvPicPr>
          <p:cNvPr id="9" name="Picture 8" descr="logo_nic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713232"/>
            <a:ext cx="1810512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페이퍼로지 7 Bold"/>
                <a:ea typeface="페이퍼로지 7 Bold"/>
              </a:rPr>
              <a:t>① 소재 · 인생쭈꾸미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24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쭈꾸미는 가격보다 먹는 장면으로 팝니다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 eaLnBrk="1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페이퍼로지 7 Bold"/>
                <a:ea typeface="페이퍼로지 7 Bold"/>
              </a:rPr>
              <a:t>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737360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200" b="0">
                <a:solidFill>
                  <a:srgbClr val="4E5968"/>
                </a:solidFill>
                <a:latin typeface="페이퍼로지 6 SemiBold"/>
                <a:ea typeface="페이퍼로지 6 SemiBold"/>
              </a:rPr>
              <a:t>30대 · 가족 저녁</a:t>
            </a:r>
          </a:p>
        </p:txBody>
      </p:sp>
      <p:sp>
        <p:nvSpPr>
          <p:cNvPr id="15" name="소재_F"/>
          <p:cNvSpPr/>
          <p:nvPr/>
        </p:nvSpPr>
        <p:spPr>
          <a:xfrm>
            <a:off x="457200" y="2121408"/>
            <a:ext cx="1417320" cy="1417320"/>
          </a:xfrm>
          <a:prstGeom prst="roundRect">
            <a:avLst>
              <a:gd name="adj" fmla="val 2580"/>
            </a:avLst>
          </a:prstGeom>
          <a:solidFill>
            <a:srgbClr val="E5E8EB"/>
          </a:solidFill>
          <a:ln w="12700">
            <a:solidFill>
              <a:srgbClr val="8B95A1"/>
            </a:solidFill>
            <a:prstDash val="dash"/>
          </a:ln>
        </p:spPr>
        <p:txBody>
          <a:bodyPr rtlCol="0" anchor="ctr" wrap="square" lIns="45720" rIns="4572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4E5968"/>
                </a:solidFill>
                <a:latin typeface="페이퍼로지 6 SemiBold"/>
                <a:ea typeface="페이퍼로지 6 SemiBold"/>
              </a:rPr>
              <a:t>소재 이미지</a:t>
            </a:r>
          </a:p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(디자인팀 제작)</a:t>
            </a:r>
          </a:p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1:1 / 1200×628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103120"/>
            <a:ext cx="202173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191F28"/>
                </a:solidFill>
                <a:latin typeface="페이퍼로지 7 Bold"/>
                <a:ea typeface="페이퍼로지 7 Bold"/>
              </a:rPr>
              <a:t>매운 거 못 먹는 아이 있는 집도, 쭈꾸미 한 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34640"/>
            <a:ext cx="202173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0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맵기 조절 소스 포함, 순한 맛부터 3단계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246120"/>
            <a:ext cx="2021738" cy="228600"/>
          </a:xfrm>
          <a:prstGeom prst="roundRect">
            <a:avLst>
              <a:gd name="adj" fmla="val 50000"/>
            </a:avLst>
          </a:prstGeom>
          <a:solidFill>
            <a:srgbClr val="FFEDE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ED1438"/>
                </a:solidFill>
                <a:latin typeface="페이퍼로지 7 Bold"/>
                <a:ea typeface="페이퍼로지 7 Bold"/>
              </a:rPr>
              <a:t>맵기 3단계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11880"/>
            <a:ext cx="357621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000" b="0">
                <a:solidFill>
                  <a:srgbClr val="ED1438"/>
                </a:solidFill>
                <a:latin typeface="페이퍼로지 6 SemiBold"/>
                <a:ea typeface="페이퍼로지 6 SemiBold"/>
              </a:rPr>
              <a:t>CTA  </a:t>
            </a:r>
            <a:r>
              <a:rPr sz="10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5만 원 이상 무료배송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13632"/>
            <a:ext cx="3576218" cy="1847088"/>
          </a:xfrm>
          <a:prstGeom prst="roundRect">
            <a:avLst>
              <a:gd name="adj" fmla="val 3960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05072"/>
            <a:ext cx="3210458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100" b="0">
                <a:solidFill>
                  <a:srgbClr val="ED1438"/>
                </a:solidFill>
                <a:latin typeface="페이퍼로지 7 Bold"/>
                <a:ea typeface="페이퍼로지 7 Bold"/>
              </a:rPr>
              <a:t>가설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61104"/>
            <a:ext cx="321045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0000"/>
              </a:lnSpc>
            </a:pPr>
            <a:r>
              <a:rPr sz="11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아이가 있는 집은 맵기 때문에 구매를 망설입니다. 맵기 조절을 앞세우면 30대 구매 전환율이 오를 것으로 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3210458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100" b="0">
                <a:solidFill>
                  <a:srgbClr val="ED1438"/>
                </a:solidFill>
                <a:latin typeface="페이퍼로지 6 SemiBold"/>
                <a:ea typeface="페이퍼로지 6 SemiBold"/>
              </a:rPr>
              <a:t>볼 지표  </a:t>
            </a:r>
            <a:r>
              <a:rPr sz="11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구매 전환율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07738" y="1737360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페이퍼로지 7 Bold"/>
                <a:ea typeface="페이퍼로지 7 Bold"/>
              </a:rP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3226" y="1737360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200" b="0">
                <a:solidFill>
                  <a:srgbClr val="4E5968"/>
                </a:solidFill>
                <a:latin typeface="페이퍼로지 6 SemiBold"/>
                <a:ea typeface="페이퍼로지 6 SemiBold"/>
              </a:rPr>
              <a:t>40~60대 · 당류</a:t>
            </a:r>
          </a:p>
        </p:txBody>
      </p:sp>
      <p:sp>
        <p:nvSpPr>
          <p:cNvPr id="26" name="소재_G"/>
          <p:cNvSpPr/>
          <p:nvPr/>
        </p:nvSpPr>
        <p:spPr>
          <a:xfrm>
            <a:off x="4307738" y="2121408"/>
            <a:ext cx="1417320" cy="1417320"/>
          </a:xfrm>
          <a:prstGeom prst="roundRect">
            <a:avLst>
              <a:gd name="adj" fmla="val 2580"/>
            </a:avLst>
          </a:prstGeom>
          <a:solidFill>
            <a:srgbClr val="E5E8EB"/>
          </a:solidFill>
          <a:ln w="12700">
            <a:solidFill>
              <a:srgbClr val="8B95A1"/>
            </a:solidFill>
            <a:prstDash val="dash"/>
          </a:ln>
        </p:spPr>
        <p:txBody>
          <a:bodyPr rtlCol="0" anchor="ctr" wrap="square" lIns="45720" rIns="4572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4E5968"/>
                </a:solidFill>
                <a:latin typeface="페이퍼로지 6 SemiBold"/>
                <a:ea typeface="페이퍼로지 6 SemiBold"/>
              </a:rPr>
              <a:t>소재 이미지</a:t>
            </a:r>
          </a:p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(디자인팀 제작)</a:t>
            </a:r>
          </a:p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1:1 / 1200×628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2218" y="2103120"/>
            <a:ext cx="202173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191F28"/>
                </a:solidFill>
                <a:latin typeface="페이퍼로지 7 Bold"/>
                <a:ea typeface="페이퍼로지 7 Bold"/>
              </a:rPr>
              <a:t>설탕은 덜고, 유자와 매실로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2218" y="2834640"/>
            <a:ext cx="202173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0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장호준 셰프의 쭈꾸미볶음 · 쭈꾸미 75%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62218" y="3246120"/>
            <a:ext cx="2021738" cy="228600"/>
          </a:xfrm>
          <a:prstGeom prst="roundRect">
            <a:avLst>
              <a:gd name="adj" fmla="val 50000"/>
            </a:avLst>
          </a:prstGeom>
          <a:solidFill>
            <a:srgbClr val="FFEDE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ED1438"/>
                </a:solidFill>
                <a:latin typeface="페이퍼로지 7 Bold"/>
                <a:ea typeface="페이퍼로지 7 Bold"/>
              </a:rPr>
              <a:t>당류 100g당 1g 미만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7738" y="3611880"/>
            <a:ext cx="357621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000" b="0">
                <a:solidFill>
                  <a:srgbClr val="ED1438"/>
                </a:solidFill>
                <a:latin typeface="페이퍼로지 6 SemiBold"/>
                <a:ea typeface="페이퍼로지 6 SemiBold"/>
              </a:rPr>
              <a:t>CTA  </a:t>
            </a:r>
            <a:r>
              <a:rPr sz="10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5만 원 이상 무료배송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7738" y="3913632"/>
            <a:ext cx="3576218" cy="1847088"/>
          </a:xfrm>
          <a:prstGeom prst="roundRect">
            <a:avLst>
              <a:gd name="adj" fmla="val 3960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0618" y="4005072"/>
            <a:ext cx="3210458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100" b="0">
                <a:solidFill>
                  <a:srgbClr val="ED1438"/>
                </a:solidFill>
                <a:latin typeface="페이퍼로지 7 Bold"/>
                <a:ea typeface="페이퍼로지 7 Bold"/>
              </a:rPr>
              <a:t>가설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0618" y="4261104"/>
            <a:ext cx="321045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0000"/>
              </a:lnSpc>
            </a:pPr>
            <a:r>
              <a:rPr sz="11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40~60대는 단맛 부담을 덜어 주는 구체적인 숫자에 반응합니다. 맛을 강조한 소재보다 구매 전환율이 높을 것으로 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0618" y="5349240"/>
            <a:ext cx="3210458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100" b="0">
                <a:solidFill>
                  <a:srgbClr val="ED1438"/>
                </a:solidFill>
                <a:latin typeface="페이퍼로지 6 SemiBold"/>
                <a:ea typeface="페이퍼로지 6 SemiBold"/>
              </a:rPr>
              <a:t>볼 지표  </a:t>
            </a:r>
            <a:r>
              <a:rPr sz="11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구매 전환율, ROAS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58276" y="1737360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페이퍼로지 7 Bold"/>
                <a:ea typeface="페이퍼로지 7 Bold"/>
              </a:rPr>
              <a:t>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33764" y="1737360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200" b="0">
                <a:solidFill>
                  <a:srgbClr val="4E5968"/>
                </a:solidFill>
                <a:latin typeface="페이퍼로지 6 SemiBold"/>
                <a:ea typeface="페이퍼로지 6 SemiBold"/>
              </a:rPr>
              <a:t>30~40대 · 퇴근 후 안주</a:t>
            </a:r>
          </a:p>
        </p:txBody>
      </p:sp>
      <p:sp>
        <p:nvSpPr>
          <p:cNvPr id="37" name="소재_P"/>
          <p:cNvSpPr/>
          <p:nvPr/>
        </p:nvSpPr>
        <p:spPr>
          <a:xfrm>
            <a:off x="8158276" y="2121408"/>
            <a:ext cx="1417320" cy="1417320"/>
          </a:xfrm>
          <a:prstGeom prst="roundRect">
            <a:avLst>
              <a:gd name="adj" fmla="val 2580"/>
            </a:avLst>
          </a:prstGeom>
          <a:solidFill>
            <a:srgbClr val="E5E8EB"/>
          </a:solidFill>
          <a:ln w="12700">
            <a:solidFill>
              <a:srgbClr val="8B95A1"/>
            </a:solidFill>
            <a:prstDash val="dash"/>
          </a:ln>
        </p:spPr>
        <p:txBody>
          <a:bodyPr rtlCol="0" anchor="ctr" wrap="square" lIns="45720" rIns="4572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4E5968"/>
                </a:solidFill>
                <a:latin typeface="페이퍼로지 6 SemiBold"/>
                <a:ea typeface="페이퍼로지 6 SemiBold"/>
              </a:rPr>
              <a:t>소재 이미지</a:t>
            </a:r>
          </a:p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(디자인팀 제작)</a:t>
            </a:r>
          </a:p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1:1 / 1200×628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2756" y="2103120"/>
            <a:ext cx="202173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191F28"/>
                </a:solidFill>
                <a:latin typeface="페이퍼로지 7 Bold"/>
                <a:ea typeface="페이퍼로지 7 Bold"/>
              </a:rPr>
              <a:t>퇴근 후 맥주 한 잔엔, 볶기만 하면 되는 쭈꾸미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2756" y="2834640"/>
            <a:ext cx="202173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0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콰삭오징어 하나 더 담으면 안주 완성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12756" y="3246120"/>
            <a:ext cx="2021738" cy="228600"/>
          </a:xfrm>
          <a:prstGeom prst="roundRect">
            <a:avLst>
              <a:gd name="adj" fmla="val 50000"/>
            </a:avLst>
          </a:prstGeom>
          <a:solidFill>
            <a:srgbClr val="FFEDEA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ED1438"/>
                </a:solidFill>
                <a:latin typeface="페이퍼로지 7 Bold"/>
                <a:ea typeface="페이퍼로지 7 Bold"/>
              </a:rPr>
              <a:t>쭈꾸미 75%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8276" y="3611880"/>
            <a:ext cx="357621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000" b="0">
                <a:solidFill>
                  <a:srgbClr val="ED1438"/>
                </a:solidFill>
                <a:latin typeface="페이퍼로지 6 SemiBold"/>
                <a:ea typeface="페이퍼로지 6 SemiBold"/>
              </a:rPr>
              <a:t>CTA  </a:t>
            </a:r>
            <a:r>
              <a:rPr sz="10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5만 원 이상 무료배송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58276" y="3913632"/>
            <a:ext cx="3576218" cy="1847088"/>
          </a:xfrm>
          <a:prstGeom prst="roundRect">
            <a:avLst>
              <a:gd name="adj" fmla="val 3960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1156" y="4005072"/>
            <a:ext cx="3210458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100" b="0">
                <a:solidFill>
                  <a:srgbClr val="ED1438"/>
                </a:solidFill>
                <a:latin typeface="페이퍼로지 7 Bold"/>
                <a:ea typeface="페이퍼로지 7 Bold"/>
              </a:rPr>
              <a:t>가설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1156" y="4261104"/>
            <a:ext cx="3210458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0000"/>
              </a:lnSpc>
            </a:pPr>
            <a:r>
              <a:rPr sz="11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안주를 찾는 새 고객층이 있는지 확인하고, 콰삭오징어를 함께 담게 해 객단가를 높입니다.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1156" y="5349240"/>
            <a:ext cx="3210458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100" b="0">
                <a:solidFill>
                  <a:srgbClr val="ED1438"/>
                </a:solidFill>
                <a:latin typeface="페이퍼로지 6 SemiBold"/>
                <a:ea typeface="페이퍼로지 6 SemiBold"/>
              </a:rPr>
              <a:t>볼 지표  </a:t>
            </a:r>
            <a:r>
              <a:rPr sz="11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새 고객층 구매 전환율, 객단가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89788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6 SemiBold"/>
                <a:ea typeface="페이퍼로지 6 SemiBold"/>
              </a:rPr>
              <a:t>원물이 외국산이라 제철·국내산 표현은 쓰지 않고, 상품명은 다른 업체와 겹치지 않게 "장호준 쭈꾸미"로 씁니다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45720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과제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246888"/>
            <a:ext cx="768096" cy="256032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페이퍼로지 7 Bold"/>
                <a:ea typeface="페이퍼로지 7 Bold"/>
              </a:rPr>
              <a:t>① 소재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② 판정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③ 비용 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296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④ 상시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운영·일정</a:t>
            </a:r>
          </a:p>
        </p:txBody>
      </p:sp>
      <p:pic>
        <p:nvPicPr>
          <p:cNvPr id="9" name="Picture 8" descr="logo_nic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713232"/>
            <a:ext cx="1938528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페이퍼로지 7 Bold"/>
                <a:ea typeface="페이퍼로지 7 Bold"/>
              </a:rPr>
              <a:t>① 소재 · 테스트 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24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두 소재씩 맞붙이고, 14일 뒤 성과가 좋은 쪽을 남깁니다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 eaLnBrk="1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5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783080"/>
          <a:ext cx="11274552" cy="28986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1097280"/>
                <a:gridCol w="3429000"/>
                <a:gridCol w="2743200"/>
                <a:gridCol w="2404872"/>
              </a:tblGrid>
              <a:tr h="384048"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상품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그룹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비교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바꾸는 요소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볼 지표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게우 통전복죽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40~60대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A 셰프형 vs L 상황형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메시지 (셰프 신뢰 vs 고객 상황)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구매 전환율, ROAS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게우 통전복죽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30대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B vs 기존 "아이 아침은 전복죽 한 팩으로"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헤드라인, 2인분 정보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객단가, 구매 전환율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인생쭈꾸미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30대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F vs 기존 "맵기 3단계" 소재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대상 상황 (가족·아이)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구매 전환율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인생쭈꾸미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40~60대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G 단독, 2주 뒤 셰프형 소재와 비교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숫자 근거 (당류)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구매 전환율, ROAS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인생쭈꾸미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30~40대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P 단독 (새 고객층)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새 대상, 함께 구매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새 고객층 구매 전환율, 객단가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57200" y="4937760"/>
            <a:ext cx="11277295" cy="777240"/>
          </a:xfrm>
          <a:prstGeom prst="roundRect">
            <a:avLst>
              <a:gd name="adj" fmla="val 9411"/>
            </a:avLst>
          </a:prstGeom>
          <a:solidFill>
            <a:srgbClr val="F2F4F6"/>
          </a:solidFill>
          <a:ln>
            <a:noFill/>
          </a:ln>
        </p:spPr>
        <p:txBody>
          <a:bodyPr rtlCol="0" anchor="ctr" wrap="square" lIns="274320" rIns="274320"/>
          <a:lstStyle/>
          <a:p>
            <a:pPr algn="l" latinLnBrk="0" eaLnBrk="1">
              <a:lnSpc>
                <a:spcPct val="130000"/>
              </a:lnSpc>
            </a:pPr>
            <a:r>
              <a:rPr sz="12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비교하는 두 소재는 그룹, 예산, 기간을 똑같이 맞춥니다. 판정 전에는 소재와 입찰을 바꾸지 않고, 한 상품에서 동시에 하는 비교는 두 건까지만 둡니다.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89788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6 SemiBold"/>
                <a:ea typeface="페이퍼로지 6 SemiBold"/>
              </a:rPr>
              <a:t>이긴 소재의 헤드라인은 검색광고 확장소재, 상품명, 카카오 메시지에도 그대로 씁니다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45720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과제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46888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① 소재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58568" y="246888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페이퍼로지 7 Bold"/>
                <a:ea typeface="페이퍼로지 7 Bold"/>
              </a:rPr>
              <a:t>② 판정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③ 비용 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296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④ 상시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운영·일정</a:t>
            </a:r>
          </a:p>
        </p:txBody>
      </p:sp>
      <p:pic>
        <p:nvPicPr>
          <p:cNvPr id="9" name="Picture 8" descr="logo_nic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713232"/>
            <a:ext cx="2322576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페이퍼로지 7 Bold"/>
                <a:ea typeface="페이퍼로지 7 Bold"/>
              </a:rPr>
              <a:t>② 소재 유지·교체 판정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24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소재는 여섯 가지 기준으로 남기거나 바꿉니다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 eaLnBrk="1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55648"/>
            <a:ext cx="11277295" cy="749808"/>
          </a:xfrm>
          <a:prstGeom prst="roundRect">
            <a:avLst>
              <a:gd name="adj" fmla="val 9756"/>
            </a:avLst>
          </a:prstGeom>
          <a:solidFill>
            <a:srgbClr val="FFEDEA"/>
          </a:solidFill>
          <a:ln>
            <a:noFill/>
          </a:ln>
        </p:spPr>
        <p:txBody>
          <a:bodyPr rtlCol="0" anchor="ctr" wrap="square" lIns="274320" rIns="274320"/>
          <a:lstStyle/>
          <a:p>
            <a:pPr algn="l" latinLnBrk="0" eaLnBrk="1">
              <a:lnSpc>
                <a:spcPct val="120000"/>
              </a:lnSpc>
              <a:spcAft>
                <a:spcPts val="300"/>
              </a:spcAft>
            </a:pPr>
            <a:r>
              <a:rPr sz="1200" b="0">
                <a:solidFill>
                  <a:srgbClr val="ED1438"/>
                </a:solidFill>
                <a:latin typeface="페이퍼로지 7 Bold"/>
                <a:ea typeface="페이퍼로지 7 Bold"/>
              </a:rPr>
              <a:t>판정 시점  </a:t>
            </a:r>
            <a:r>
              <a:rPr sz="12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소재마다 집행 14일 또는 클릭 300회 중 먼저 오는 때. 그 전에는 소재를 바꾸지 않습니다.</a:t>
            </a:r>
          </a:p>
          <a:p>
            <a:pPr algn="l" latinLnBrk="0" eaLnBrk="1">
              <a:lnSpc>
                <a:spcPct val="120000"/>
              </a:lnSpc>
              <a:spcAft>
                <a:spcPts val="300"/>
              </a:spcAft>
            </a:pPr>
            <a:r>
              <a:rPr sz="1200" b="0">
                <a:solidFill>
                  <a:srgbClr val="ED1438"/>
                </a:solidFill>
                <a:latin typeface="페이퍼로지 7 Bold"/>
                <a:ea typeface="페이퍼로지 7 Bold"/>
              </a:rPr>
              <a:t>기준선(10월 통영숙수 실적)  </a:t>
            </a:r>
            <a:r>
              <a:rPr sz="12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피드 클릭률 1.1~1.8%, 스마트채널 클릭률 0.1%, ADVoost 전복죽 클릭 대비 구매 5.3%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2633472"/>
          <a:ext cx="11274552" cy="29992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5394960"/>
                <a:gridCol w="4325112"/>
              </a:tblGrid>
              <a:tr h="365760"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판정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조건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조치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ED1438"/>
                          </a:solidFill>
                          <a:latin typeface="페이퍼로지 6 SemiBold"/>
                          <a:ea typeface="페이퍼로지 6 SemiBold"/>
                        </a:rPr>
                        <a:t>확대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ROAS 300%(BEP) 이상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예산을 20% 늘리고 2주 뒤 다시 판정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유지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ROAS 200~300%, 클릭률 기준선 이상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그대로 두고 보조 문구만 A/B 테스트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개선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클릭률은 괜찮은데 구매 전환율이 낮음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이미지는 두고 카피와 상세페이지 첫 화면 점검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08A00"/>
                          </a:solidFill>
                          <a:latin typeface="페이퍼로지 6 SemiBold"/>
                          <a:ea typeface="페이퍼로지 6 SemiBold"/>
                        </a:rPr>
                        <a:t>교체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클릭률이 기준선의 70% 미만(피드 0.8% 미만), 또는 ROAS 150% 미만이면서 구매 3건 이하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새 소재로 교체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08A00"/>
                          </a:solidFill>
                          <a:latin typeface="페이퍼로지 6 SemiBold"/>
                          <a:ea typeface="페이퍼로지 6 SemiBold"/>
                        </a:rPr>
                        <a:t>피로도 교체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최근 7일 클릭률이 첫 7일보다 30% 이상 떨어짐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메시지는 두고 이미지만 새로 제작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승자 판정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비교 소재가 모두 구매 10건 이상이고, 구매 전환율 차이가 20% 이상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이긴 쪽을 기본안으로 두고 진 쪽은 교체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57200" y="589788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6 SemiBold"/>
                <a:ea typeface="페이퍼로지 6 SemiBold"/>
              </a:rPr>
              <a:t>10월 통영숙수 수동 전환 캠페인(17일, ROAS 29%, 구매 10건)은 이 기준으로 보면 교체 대상입니다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45720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과제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46888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① 소재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② 판정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246888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페이퍼로지 7 Bold"/>
                <a:ea typeface="페이퍼로지 7 Bold"/>
              </a:rPr>
              <a:t>③ 비용 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296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④ 상시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운영·일정</a:t>
            </a:r>
          </a:p>
        </p:txBody>
      </p:sp>
      <p:pic>
        <p:nvPicPr>
          <p:cNvPr id="9" name="Picture 8" descr="logo_nic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713232"/>
            <a:ext cx="1938528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페이퍼로지 7 Bold"/>
                <a:ea typeface="페이퍼로지 7 Bold"/>
              </a:rPr>
              <a:t>③ 비용 누수 Top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24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계정 전체에서 월 약 516만 원이 새고 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 eaLnBrk="1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7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755648"/>
          <a:ext cx="11274552" cy="34564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02920"/>
                <a:gridCol w="914400"/>
                <a:gridCol w="1691640"/>
                <a:gridCol w="4069080"/>
                <a:gridCol w="1691640"/>
                <a:gridCol w="1216152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순위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범위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누수 지점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근거 (10/1~28)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현재 상태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월 절감 비용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순효과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통영숙수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GFA 수동 전환 캠페인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176.5만 원 집행, ROAS 25% (전복죽 29%, 쭈꾸미 12%)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전복죽 집행 중 (하루 약 8.1만 원)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약 242만 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약 208만 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계정 전체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GFA 저효율 연령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꼬기다 계열 24세 이하 ROAS 151%, 60세 이상 168% (핵심 연령 290%) / 통영숙수 60세 이상 85%, 연령 미상 35%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집행 중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약 209만 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약 122만 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통영숙수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쭈꾸미 쇼핑검색 일반어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30.7만 원, ROAS 20% ("쭈꾸미" 단독 21만 원에 구매 1건)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집행 중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약 33만 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약 31만 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계정 전체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제외키워드 0개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구매 없는 비브랜드 검색어(기장끝집전복죽, 호박죽 등)와 "죽" 단독(ROAS 94%)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집행 중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약 17만 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약 14만 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계정 전체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전환 측정 누락 파워링크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건담닭·올라잇그린 34.9만 원, 구매 0건. 올라잇그린 클릭당 447원(꼬기다 약 100원)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3분기부터 계속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약 16만 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약 16만 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/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EDE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/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EDE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7 Bold"/>
                          <a:ea typeface="페이퍼로지 7 Bold"/>
                        </a:rPr>
                        <a:t>합계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EDE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/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EDE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/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EDE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ED1438"/>
                          </a:solidFill>
                          <a:latin typeface="페이퍼로지 7 Bold"/>
                          <a:ea typeface="페이퍼로지 7 Bold"/>
                        </a:rPr>
                        <a:t>약 516만 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EDE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ED1438"/>
                          </a:solidFill>
                          <a:latin typeface="페이퍼로지 7 Bold"/>
                          <a:ea typeface="페이퍼로지 7 Bold"/>
                        </a:rPr>
                        <a:t>약 390만 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EDE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5321808"/>
            <a:ext cx="11277295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5000"/>
              </a:lnSpc>
            </a:pPr>
            <a:r>
              <a:rPr sz="1000" b="0">
                <a:solidFill>
                  <a:srgbClr val="4E5968"/>
                </a:solidFill>
                <a:latin typeface="페이퍼로지 4 Regular"/>
                <a:ea typeface="페이퍼로지 4 Regular"/>
              </a:rPr>
              <a:t>월 환산은 28일 실적에 30/28을 곱했고, 집행 중인 캠페인은 최근 7일 집행 속도로 계산했습니다. 순효과는 줄인 광고비에서 함께 줄어드는 매출의 3분의 1(BEP 300% 기준 이익)을 뺀 값입니다. 5번은 전환이 측정되면 나머지 약 37만 원의 효율도 판단할 수 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89788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6 SemiBold"/>
                <a:ea typeface="페이퍼로지 6 SemiBold"/>
              </a:rPr>
              <a:t>장바구니 매출이 구매 매출의 2.1배(GFA 6,464만 원, 3,025만 원)라, 리타겟으로 되찾을 몫이 큽니다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45720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과제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46888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① 소재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② 판정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246888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페이퍼로지 7 Bold"/>
                <a:ea typeface="페이퍼로지 7 Bold"/>
              </a:rPr>
              <a:t>③ 비용 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296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④ 상시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운영·일정</a:t>
            </a:r>
          </a:p>
        </p:txBody>
      </p:sp>
      <p:pic>
        <p:nvPicPr>
          <p:cNvPr id="9" name="Picture 8" descr="logo_nic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713232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페이퍼로지 7 Bold"/>
                <a:ea typeface="페이퍼로지 7 Bold"/>
              </a:rPr>
              <a:t>③ 비용 누수 · 개선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24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새는 곳은 막고, 아낀 예산은 효율이 확인된 곳으로 옮깁니다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 eaLnBrk="1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8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755648"/>
          <a:ext cx="11274552" cy="341985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6400800"/>
                <a:gridCol w="2953512"/>
              </a:tblGrid>
              <a:tr h="365760"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누수 지점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개선 방법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아낀 예산을 옮길 곳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1. 수동 전환 캠페인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수동 전환 캠페인을 멈추고, 상세페이지를 보거나 장바구니에 담은 고객에게 다시 보여주는 카탈로그 리타겟으로 바꿉니다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ADVoost 전복죽(10월 ROAS 155%)과 카탈로그 리타겟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2. 저효율 연령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24세 이하는 제외합니다. 60세 이상과 연령 미상은 입찰을 낮추고 2주 뒤 다시 판단합니다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핵심 연령(25~59세) 그룹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3. 쭈꾸미 일반어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"쭈꾸미" 단독 키워드는 멈추고, "장호준 쭈꾸미"처럼 셰프 이름이 붙은 키워드로 바꿉니다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쭈꾸미 GFA 신규 소재 테스트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4. 제외키워드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관련 없는 검색어와 타사 상품 검색어, "죽" 단독 키워드를 제외합니다. 제외할 후보 173개는 이미 뽑아 두었습니다(예: 기장끝집전복죽, 금채식탁전복죽, 호박죽, 수제호박죽, 하남쭈꾸미500G5팩). 전체 목록은 계약 후 첫 주에 등록하고, 이후 2주마다 검색어 보고서를 보고 추가합니다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전복죽 상품 키워드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5. 측정 누락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건담닭·올라잇그린 자사몰에 전환 스크립트를 연결합니다. 연결 전까지는 올라잇그린 입찰을 클릭당 150원 안팎으로 낮춥니다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측정이 연결된 뒤 효율을 보고 결정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57200" y="589788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6 SemiBold"/>
                <a:ea typeface="페이퍼로지 6 SemiBold"/>
              </a:rPr>
              <a:t>첫 달은 새는 돈을 막아 효율이 확인된 곳으로 옮기는 데 집중합니다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45720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과제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46888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① 소재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② 판정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③ 비용 누수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4296" y="246888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페이퍼로지 7 Bold"/>
                <a:ea typeface="페이퍼로지 7 Bold"/>
              </a:rPr>
              <a:t>④ 상시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운영·일정</a:t>
            </a:r>
          </a:p>
        </p:txBody>
      </p:sp>
      <p:pic>
        <p:nvPicPr>
          <p:cNvPr id="9" name="Picture 8" descr="logo_nic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71323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페이퍼로지 7 Bold"/>
                <a:ea typeface="페이퍼로지 7 Bold"/>
              </a:rPr>
              <a:t>④ 상시 점검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24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매일, 매주, 매월 볼 것을 정해 두고 점검합니다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 eaLnBrk="1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55648"/>
            <a:ext cx="3576218" cy="3931920"/>
          </a:xfrm>
          <a:prstGeom prst="roundRect">
            <a:avLst>
              <a:gd name="adj" fmla="val 2045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755648"/>
            <a:ext cx="3576218" cy="566928"/>
          </a:xfrm>
          <a:prstGeom prst="roundRect">
            <a:avLst>
              <a:gd name="adj" fmla="val 12903"/>
            </a:avLst>
          </a:prstGeom>
          <a:solidFill>
            <a:srgbClr val="394B63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페이퍼로지 7 Bold"/>
                <a:ea typeface="페이퍼로지 7 Bold"/>
              </a:rPr>
              <a:t>매일</a:t>
            </a:r>
            <a:r>
              <a:rPr sz="1200" b="0">
                <a:solidFill>
                  <a:srgbClr val="C4CED8"/>
                </a:solidFill>
                <a:latin typeface="페이퍼로지 4 Regular"/>
                <a:ea typeface="페이퍼로지 4 Regular"/>
              </a:rPr>
              <a:t>   오전 10시까지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3119018" cy="3063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캠페인 켜짐·꺼짐, 학습 제한 상태</a:t>
            </a:r>
          </a:p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하루 광고비와 구매를 최근 7일 평균과 비교</a:t>
            </a:r>
          </a:p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예산이 일찍 소진되는지</a:t>
            </a:r>
          </a:p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브랜드검색이 노출되고 있는지</a:t>
            </a:r>
          </a:p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클릭은 나는데 구매가 0건인 캠페인 (측정 누락 의심)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738" y="1755648"/>
            <a:ext cx="3576218" cy="3931920"/>
          </a:xfrm>
          <a:prstGeom prst="roundRect">
            <a:avLst>
              <a:gd name="adj" fmla="val 2045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07738" y="1755648"/>
            <a:ext cx="3576218" cy="566928"/>
          </a:xfrm>
          <a:prstGeom prst="roundRect">
            <a:avLst>
              <a:gd name="adj" fmla="val 12903"/>
            </a:avLst>
          </a:prstGeom>
          <a:solidFill>
            <a:srgbClr val="394B63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페이퍼로지 7 Bold"/>
                <a:ea typeface="페이퍼로지 7 Bold"/>
              </a:rPr>
              <a:t>매주</a:t>
            </a:r>
            <a:r>
              <a:rPr sz="1200" b="0">
                <a:solidFill>
                  <a:srgbClr val="C4CED8"/>
                </a:solidFill>
                <a:latin typeface="페이퍼로지 4 Regular"/>
                <a:ea typeface="페이퍼로지 4 Regular"/>
              </a:rPr>
              <a:t>   월요일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338" y="2514600"/>
            <a:ext cx="3119018" cy="3063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소재 판정 (② 기준)</a:t>
            </a:r>
          </a:p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검색어 보고서를 보고 제외키워드 추가</a:t>
            </a:r>
          </a:p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연령·지면별 효율과 입찰 조정</a:t>
            </a:r>
          </a:p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키워드 노출 순위와 클릭당 비용</a:t>
            </a:r>
          </a:p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주간 리포트 발송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8276" y="1755648"/>
            <a:ext cx="3576218" cy="3931920"/>
          </a:xfrm>
          <a:prstGeom prst="roundRect">
            <a:avLst>
              <a:gd name="adj" fmla="val 2045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58276" y="1755648"/>
            <a:ext cx="3576218" cy="566928"/>
          </a:xfrm>
          <a:prstGeom prst="roundRect">
            <a:avLst>
              <a:gd name="adj" fmla="val 12903"/>
            </a:avLst>
          </a:prstGeom>
          <a:solidFill>
            <a:srgbClr val="394B63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700" b="0">
                <a:solidFill>
                  <a:srgbClr val="FFFFFF"/>
                </a:solidFill>
                <a:latin typeface="페이퍼로지 7 Bold"/>
                <a:ea typeface="페이퍼로지 7 Bold"/>
              </a:rPr>
              <a:t>매월</a:t>
            </a:r>
            <a:r>
              <a:rPr sz="1200" b="0">
                <a:solidFill>
                  <a:srgbClr val="C4CED8"/>
                </a:solidFill>
                <a:latin typeface="페이퍼로지 4 Regular"/>
                <a:ea typeface="페이퍼로지 4 Regular"/>
              </a:rPr>
              <a:t>   첫째 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2514600"/>
            <a:ext cx="3119018" cy="3063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캠페인 구조 점검 (지나치게 쪼갠 캠페인, 겹치는 타겟)</a:t>
            </a:r>
          </a:p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상품별 성과를 스토어 판매와 맞춰 보기</a:t>
            </a:r>
          </a:p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전환 측정 점검 (스크립트·픽셀·전환 설정)</a:t>
            </a:r>
          </a:p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다음 달 소재·예산 계획</a:t>
            </a:r>
          </a:p>
          <a:p>
            <a:pPr algn="l" latinLnBrk="0" eaLnBrk="1" marL="156845" indent="-156845">
              <a:lnSpc>
                <a:spcPct val="125000"/>
              </a:lnSpc>
              <a:spcAft>
                <a:spcPts val="800"/>
              </a:spcAft>
              <a:buChar char="•"/>
            </a:pPr>
            <a:r>
              <a:rPr sz="13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월간 리뷰 미팅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788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6 SemiBold"/>
                <a:ea typeface="페이퍼로지 6 SemiBold"/>
              </a:rPr>
              <a:t>매니저가 매일 점검하고, 팀장이 매주 직접 검토합니다. 이상 신호는 당일 바로 알려드립니다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45720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과제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46888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① 소재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② 판정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③ 비용 누수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4296" y="246888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페이퍼로지 7 Bold"/>
                <a:ea typeface="페이퍼로지 7 Bold"/>
              </a:rPr>
              <a:t>④ 상시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운영·일정</a:t>
            </a:r>
          </a:p>
        </p:txBody>
      </p:sp>
      <p:pic>
        <p:nvPicPr>
          <p:cNvPr id="9" name="Picture 8" descr="logo_nic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71323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페이퍼로지 7 Bold"/>
                <a:ea typeface="페이퍼로지 7 Bold"/>
              </a:rPr>
              <a:t>④ 이상 신호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24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8가지 이상 신호 중 하나라도 보이면 바로 움직입니다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 eaLnBrk="1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10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755648"/>
          <a:ext cx="11274551" cy="38039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3977639"/>
                <a:gridCol w="4507992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지표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이상 신호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먼저 할 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공유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하루 광고비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최근 7일 평균보다 50% 이상 많거나 적음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예산·입찰·경쟁 상황 확인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ED1438"/>
                          </a:solidFill>
                          <a:latin typeface="페이퍼로지 4 Regular"/>
                          <a:ea typeface="페이퍼로지 4 Regular"/>
                        </a:rPr>
                        <a:t>당일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전환 측정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클릭 100회 이상인데 구매 0건이 3일 이어짐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전환 추적·스크립트 점검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ED1438"/>
                          </a:solidFill>
                          <a:latin typeface="페이퍼로지 4 Regular"/>
                          <a:ea typeface="페이퍼로지 4 Regular"/>
                        </a:rPr>
                        <a:t>당일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브랜드검색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노출 0건, 또는 계약 종료 7일 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재계약 확인. 연장하지 않으면 파워링크 브랜드 키워드에 입찰 상한 설정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ED1438"/>
                          </a:solidFill>
                          <a:latin typeface="페이퍼로지 4 Regular"/>
                          <a:ea typeface="페이퍼로지 4 Regular"/>
                        </a:rPr>
                        <a:t>즉시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캠페인 상태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학습 제한, 운영 불가, 예산 조기 소진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예산·타겟 조정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ED1438"/>
                          </a:solidFill>
                          <a:latin typeface="페이퍼로지 4 Regular"/>
                          <a:ea typeface="페이퍼로지 4 Regular"/>
                        </a:rPr>
                        <a:t>당일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클릭당 비용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최근 7일 평균보다 30% 이상 오름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입찰과 경쟁 광고 확인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4E5968"/>
                          </a:solidFill>
                          <a:latin typeface="페이퍼로지 4 Regular"/>
                          <a:ea typeface="페이퍼로지 4 Regular"/>
                        </a:rPr>
                        <a:t>주간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캠페인 효율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최근 2주 ROAS 150% 미만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예산 절반으로 축소, 소재·키워드 교체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4E5968"/>
                          </a:solidFill>
                          <a:latin typeface="페이퍼로지 4 Regular"/>
                          <a:ea typeface="페이퍼로지 4 Regular"/>
                        </a:rPr>
                        <a:t>주간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소재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클릭률이 기준선의 70% 미만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② 기준에 따라 교체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4E5968"/>
                          </a:solidFill>
                          <a:latin typeface="페이퍼로지 4 Regular"/>
                          <a:ea typeface="페이퍼로지 4 Regular"/>
                        </a:rPr>
                        <a:t>주간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스토어 전환율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3% 미만 (9월 4.9%, 10월 초 2.3%)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유입 품질과 상세페이지 점검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200" b="0">
                          <a:solidFill>
                            <a:srgbClr val="4E5968"/>
                          </a:solidFill>
                          <a:latin typeface="페이퍼로지 4 Regular"/>
                          <a:ea typeface="페이퍼로지 4 Regular"/>
                        </a:rPr>
                        <a:t>주간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57200" y="589788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6 SemiBold"/>
                <a:ea typeface="페이퍼로지 6 SemiBold"/>
              </a:rPr>
              <a:t>기준값은 이번 계정 데이터로 정했고, 운영하면서 2주마다 다시 맞춥니다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45720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과제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46888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① 소재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② 판정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③ 비용 누수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4296" y="246888"/>
            <a:ext cx="1124712" cy="256032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페이퍼로지 7 Bold"/>
                <a:ea typeface="페이퍼로지 7 Bold"/>
              </a:rPr>
              <a:t>④ 상시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운영·일정</a:t>
            </a:r>
          </a:p>
        </p:txBody>
      </p:sp>
      <p:pic>
        <p:nvPicPr>
          <p:cNvPr id="9" name="Picture 8" descr="logo_nic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713232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페이퍼로지 7 Bold"/>
                <a:ea typeface="페이퍼로지 7 Bold"/>
              </a:rPr>
              <a:t>④ 실제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24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꼬기다 브랜드검색이 끝난 뒤의 변화를 3일 만에 확인했습니다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 eaLnBrk="1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37360"/>
            <a:ext cx="5501487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1D6DB"/>
            </a:solidFill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548640" y="1783080"/>
          <a:ext cx="5318607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233007" y="1737360"/>
            <a:ext cx="5501487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1D6DB"/>
            </a:solidFill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324447" y="1783080"/>
          <a:ext cx="5318607" cy="2240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57200" y="4160520"/>
            <a:ext cx="11277295" cy="365760"/>
          </a:xfrm>
          <a:prstGeom prst="roundRect">
            <a:avLst>
              <a:gd name="adj" fmla="val 20000"/>
            </a:avLst>
          </a:prstGeom>
          <a:solidFill>
            <a:srgbClr val="FFEDEA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200" b="0">
                <a:solidFill>
                  <a:srgbClr val="ED1438"/>
                </a:solidFill>
                <a:latin typeface="페이퍼로지 7 Bold"/>
                <a:ea typeface="페이퍼로지 7 Bold"/>
              </a:rPr>
              <a:t>10월 26일부터 브랜드검색 노출 0건 (계약 10월 25일 종료)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4617720"/>
          <a:ext cx="11274551" cy="11887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4640"/>
                <a:gridCol w="4617720"/>
                <a:gridCol w="3822191"/>
              </a:tblGrid>
              <a:tr h="292608"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어떤 기준으로 잡았나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숫자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어떻게 대응하나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브랜드검색 노출 0건 (매일 점검)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10월 26일부터 노출 0건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재계약 여부를 바로 확인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하루 광고비 ±50% (매일 점검)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꼬기다 파워링크 하루 3.8만 원 → 10.5만 원 (2.8배), 브랜드 관련 구매 하루 306건 → 223건 (27% 감소)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연장하지 않으면 브랜드 키워드에 입찰 상한을 걸고, 브랜드 구매 추이를 매일 보고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57200" y="589788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6 SemiBold"/>
                <a:ea typeface="페이퍼로지 6 SemiBold"/>
              </a:rPr>
              <a:t>정해 둔 기준이 있어서 변화가 생긴 지 사흘 만에 원인과 영향을 숫자로 잡았습니다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45720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과제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46888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① 소재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② 판정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③ 비용 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296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④ 상시 점검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46888"/>
            <a:ext cx="886968" cy="256032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페이퍼로지 7 Bold"/>
                <a:ea typeface="페이퍼로지 7 Bold"/>
              </a:rPr>
              <a:t>운영·일정</a:t>
            </a:r>
          </a:p>
        </p:txBody>
      </p:sp>
      <p:pic>
        <p:nvPicPr>
          <p:cNvPr id="9" name="Picture 8" descr="logo_nic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7132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페이퍼로지 7 Bold"/>
                <a:ea typeface="페이퍼로지 7 Bold"/>
              </a:rPr>
              <a:t>운영 조건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24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팀장이 매주 직접 들여다보는 2인 전담 체제입니다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 eaLnBrk="1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755648"/>
            <a:ext cx="5501487" cy="1874519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1956816"/>
            <a:ext cx="365760" cy="365760"/>
          </a:xfrm>
          <a:prstGeom prst="ellipse">
            <a:avLst/>
          </a:prstGeom>
          <a:solidFill>
            <a:srgbClr val="ED143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7 Bold"/>
                <a:ea typeface="페이퍼로지 7 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956816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600" b="0">
                <a:solidFill>
                  <a:srgbClr val="191F28"/>
                </a:solidFill>
                <a:latin typeface="페이퍼로지 7 Bold"/>
                <a:ea typeface="페이퍼로지 7 Bold"/>
              </a:rPr>
              <a:t>2인 전담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41448"/>
            <a:ext cx="4541367" cy="1097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0000"/>
              </a:lnSpc>
              <a:spcAft>
                <a:spcPts val="500"/>
              </a:spcAft>
            </a:pPr>
            <a:r>
              <a:rPr sz="1200" b="0">
                <a:solidFill>
                  <a:srgbClr val="191F28"/>
                </a:solidFill>
                <a:latin typeface="페이퍼로지 7 Bold"/>
                <a:ea typeface="페이퍼로지 7 Bold"/>
              </a:rPr>
              <a:t>김현수 팀장 · 14년차  </a:t>
            </a:r>
            <a:r>
              <a:rPr sz="12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전략, 주간 점검과 소재 판정, 리포트, 월간 리뷰</a:t>
            </a:r>
          </a:p>
          <a:p>
            <a:pPr algn="l" latinLnBrk="0" eaLnBrk="1">
              <a:lnSpc>
                <a:spcPct val="130000"/>
              </a:lnSpc>
              <a:spcAft>
                <a:spcPts val="500"/>
              </a:spcAft>
            </a:pPr>
            <a:r>
              <a:rPr sz="1200" b="0">
                <a:solidFill>
                  <a:srgbClr val="191F28"/>
                </a:solidFill>
                <a:latin typeface="페이퍼로지 7 Bold"/>
                <a:ea typeface="페이퍼로지 7 Bold"/>
              </a:rPr>
              <a:t>김범준 매니저 · 1년차  </a:t>
            </a:r>
            <a:r>
              <a:rPr sz="12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매일 점검, 세팅, 소재 반영, 검색어·제외키워드 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755648"/>
            <a:ext cx="5501487" cy="1874519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61607" y="1956816"/>
            <a:ext cx="365760" cy="365760"/>
          </a:xfrm>
          <a:prstGeom prst="ellipse">
            <a:avLst/>
          </a:prstGeom>
          <a:solidFill>
            <a:srgbClr val="ED143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7 Bold"/>
                <a:ea typeface="페이퍼로지 7 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4527" y="1956816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600" b="0">
                <a:solidFill>
                  <a:srgbClr val="191F28"/>
                </a:solidFill>
                <a:latin typeface="페이퍼로지 7 Bold"/>
                <a:ea typeface="페이퍼로지 7 Bold"/>
              </a:rPr>
              <a:t>운영 계정 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4527" y="2441448"/>
            <a:ext cx="4541367" cy="1097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0000"/>
              </a:lnSpc>
              <a:spcAft>
                <a:spcPts val="500"/>
              </a:spcAft>
            </a:pPr>
            <a:r>
              <a:rPr sz="1200" b="0">
                <a:solidFill>
                  <a:srgbClr val="191F28"/>
                </a:solidFill>
                <a:latin typeface="페이퍼로지 7 Bold"/>
                <a:ea typeface="페이퍼로지 7 Bold"/>
              </a:rPr>
              <a:t>담당 매니저 기준 약 150개</a:t>
            </a:r>
          </a:p>
          <a:p>
            <a:pPr algn="l" latinLnBrk="0" eaLnBrk="1">
              <a:lnSpc>
                <a:spcPct val="130000"/>
              </a:lnSpc>
              <a:spcAft>
                <a:spcPts val="500"/>
              </a:spcAft>
            </a:pPr>
            <a:r>
              <a:rPr sz="12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대부분 월 광고비가 크지 않은 검색광고 위주 계정입니다. 브레이브컴퍼니는 팀장이 직접 관리하는 계정으로 지정해, 매일 이상 신호를 점검하고 매주 팀장이 검토합니다.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58768"/>
            <a:ext cx="5501487" cy="1874519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059935"/>
            <a:ext cx="365760" cy="365760"/>
          </a:xfrm>
          <a:prstGeom prst="ellipse">
            <a:avLst/>
          </a:prstGeom>
          <a:solidFill>
            <a:srgbClr val="ED143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7 Bold"/>
                <a:ea typeface="페이퍼로지 7 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059935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600" b="0">
                <a:solidFill>
                  <a:srgbClr val="191F28"/>
                </a:solidFill>
                <a:latin typeface="페이퍼로지 7 Bold"/>
                <a:ea typeface="페이퍼로지 7 Bold"/>
              </a:rPr>
              <a:t>소재 제작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544568"/>
            <a:ext cx="4541367" cy="1097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0000"/>
              </a:lnSpc>
              <a:spcAft>
                <a:spcPts val="500"/>
              </a:spcAft>
            </a:pPr>
            <a:r>
              <a:rPr sz="1200" b="0">
                <a:solidFill>
                  <a:srgbClr val="191F28"/>
                </a:solidFill>
                <a:latin typeface="페이퍼로지 7 Bold"/>
                <a:ea typeface="페이퍼로지 7 Bold"/>
              </a:rPr>
              <a:t>사내 디자인팀, 월 40개 이상 (GFA·카카오 규격 포함)</a:t>
            </a:r>
          </a:p>
          <a:p>
            <a:pPr algn="l" latinLnBrk="0" eaLnBrk="1">
              <a:lnSpc>
                <a:spcPct val="130000"/>
              </a:lnSpc>
              <a:spcAft>
                <a:spcPts val="500"/>
              </a:spcAft>
            </a:pPr>
            <a:r>
              <a:rPr sz="12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통영숙수에 필요한 양: 상품별 3종을 2주마다 바꾸면 월 약 12개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3858768"/>
            <a:ext cx="5501487" cy="1874519"/>
          </a:xfrm>
          <a:prstGeom prst="roundRect">
            <a:avLst>
              <a:gd name="adj" fmla="val 3902"/>
            </a:avLst>
          </a:prstGeom>
          <a:solidFill>
            <a:srgbClr val="F2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61607" y="4059935"/>
            <a:ext cx="365760" cy="365760"/>
          </a:xfrm>
          <a:prstGeom prst="ellipse">
            <a:avLst/>
          </a:prstGeom>
          <a:solidFill>
            <a:srgbClr val="ED143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7 Bold"/>
                <a:ea typeface="페이퍼로지 7 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4527" y="4059935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600" b="0">
                <a:solidFill>
                  <a:srgbClr val="191F28"/>
                </a:solidFill>
                <a:latin typeface="페이퍼로지 7 Bold"/>
                <a:ea typeface="페이퍼로지 7 Bold"/>
              </a:rPr>
              <a:t>소통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4527" y="4544568"/>
            <a:ext cx="4541367" cy="1097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30000"/>
              </a:lnSpc>
              <a:spcAft>
                <a:spcPts val="500"/>
              </a:spcAft>
            </a:pPr>
            <a:r>
              <a:rPr sz="1200" b="0">
                <a:solidFill>
                  <a:srgbClr val="191F28"/>
                </a:solidFill>
                <a:latin typeface="페이퍼로지 7 Bold"/>
                <a:ea typeface="페이퍼로지 7 Bold"/>
              </a:rPr>
              <a:t>주간 리포트(매주 월요일), 이상 신호 당일 공유, 월간 리뷰 미팅</a:t>
            </a:r>
          </a:p>
          <a:p>
            <a:pPr algn="l" latinLnBrk="0" eaLnBrk="1">
              <a:lnSpc>
                <a:spcPct val="130000"/>
              </a:lnSpc>
              <a:spcAft>
                <a:spcPts val="500"/>
              </a:spcAft>
            </a:pPr>
            <a:r>
              <a:rPr sz="1200" b="0">
                <a:solidFill>
                  <a:srgbClr val="191F28"/>
                </a:solidFill>
                <a:latin typeface="페이퍼로지 4 Regular"/>
                <a:ea typeface="페이퍼로지 4 Regular"/>
              </a:rPr>
              <a:t>운영 계정이 많아도 ④의 이상 신호 기준으로 빠짐없이 관리합니다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9788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6 SemiBold"/>
                <a:ea typeface="페이퍼로지 6 SemiBold"/>
              </a:rPr>
              <a:t>담당자 감에 맡기지 않고, 정해 둔 기준과 점검 체계로 계정을 지킵니다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sp>
        <p:nvSpPr>
          <p:cNvPr id="3" name="TextBox 2"/>
          <p:cNvSpPr txBox="1"/>
          <p:nvPr/>
        </p:nvSpPr>
        <p:spPr>
          <a:xfrm>
            <a:off x="457200" y="246888"/>
            <a:ext cx="8869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과제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46888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① 소재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8568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② 판정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③ 비용 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54296" y="246888"/>
            <a:ext cx="112471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8B95A1"/>
                </a:solidFill>
                <a:latin typeface="페이퍼로지 6 SemiBold"/>
                <a:ea typeface="페이퍼로지 6 SemiBold"/>
              </a:rPr>
              <a:t>④ 상시 점검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46888"/>
            <a:ext cx="886968" cy="256032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페이퍼로지 7 Bold"/>
                <a:ea typeface="페이퍼로지 7 Bold"/>
              </a:rPr>
              <a:t>운영·일정</a:t>
            </a:r>
          </a:p>
        </p:txBody>
      </p:sp>
      <p:pic>
        <p:nvPicPr>
          <p:cNvPr id="9" name="Picture 8" descr="logo_nic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7132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 latinLnBrk="0" eaLnBrk="1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페이퍼로지 7 Bold"/>
                <a:ea typeface="페이퍼로지 7 Bold"/>
              </a:rPr>
              <a:t>실행 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2400" b="0">
                <a:solidFill>
                  <a:srgbClr val="191F28"/>
                </a:solidFill>
                <a:latin typeface="페이퍼로지 6 SemiBold"/>
                <a:ea typeface="페이퍼로지 6 SemiBold"/>
              </a:rPr>
              <a:t>계약 다음 날부터 바로 시작할 수 있게 준비해 두었습니다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latinLnBrk="0" eaLnBrk="1">
              <a:lnSpc>
                <a:spcPct val="120000"/>
              </a:lnSpc>
            </a:pPr>
            <a:r>
              <a:rPr sz="900" b="0">
                <a:solidFill>
                  <a:srgbClr val="8B95A1"/>
                </a:solidFill>
                <a:latin typeface="페이퍼로지 4 Regular"/>
                <a:ea typeface="페이퍼로지 4 Regular"/>
              </a:rPr>
              <a:t>13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783080"/>
          <a:ext cx="11274552" cy="33649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074152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시점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할 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페이퍼로지 6 SemiBold"/>
                          <a:ea typeface="페이퍼로지 6 SemiBold"/>
                        </a:rPr>
                        <a:t>관련 과제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394B6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1주차 1~2일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계정 점검, 제외키워드 173개 등록, "쭈꾸미" 단독 키워드 정리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ED1438"/>
                          </a:solidFill>
                          <a:latin typeface="페이퍼로지 4 Regular"/>
                          <a:ea typeface="페이퍼로지 4 Regular"/>
                        </a:rPr>
                        <a:t>③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1주차 3~5일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수동 전환 캠페인 정리와 카탈로그 리타겟 세팅, 24세 이하 제외와 고연령 입찰 조정, 건담닭·올라잇그린 스크립트 연결 요청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ED1438"/>
                          </a:solidFill>
                          <a:latin typeface="페이퍼로지 4 Regular"/>
                          <a:ea typeface="페이퍼로지 4 Regular"/>
                        </a:rPr>
                        <a:t>③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2주차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디자인팀 신규 소재 6종 투입, 상품별 A/B 테스트 시작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ED1438"/>
                          </a:solidFill>
                          <a:latin typeface="페이퍼로지 4 Regular"/>
                          <a:ea typeface="페이퍼로지 4 Regular"/>
                        </a:rPr>
                        <a:t>①②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2주차 말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첫 주간 리포트: 누수 정리 결과와 절감액, 테스트 진행 현황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ED1438"/>
                          </a:solidFill>
                          <a:latin typeface="페이퍼로지 4 Regular"/>
                          <a:ea typeface="페이퍼로지 4 Regular"/>
                        </a:rPr>
                        <a:t>④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91F28"/>
                          </a:solidFill>
                          <a:latin typeface="페이퍼로지 6 SemiBold"/>
                          <a:ea typeface="페이퍼로지 6 SemiBold"/>
                        </a:rPr>
                        <a:t>4주차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191F28"/>
                          </a:solidFill>
                          <a:latin typeface="페이퍼로지 4 Regular"/>
                          <a:ea typeface="페이퍼로지 4 Regular"/>
                        </a:rPr>
                        <a:t>첫 소재 판정, 다음 달 예산 배분안 공유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ED1438"/>
                          </a:solidFill>
                          <a:latin typeface="페이퍼로지 4 Regular"/>
                          <a:ea typeface="페이퍼로지 4 Regular"/>
                        </a:rPr>
                        <a:t>②④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1D6DB"/>
                      </a:solidFill>
                    </a:lnL>
                    <a:lnR w="9525">
                      <a:solidFill>
                        <a:srgbClr val="D1D6DB"/>
                      </a:solidFill>
                    </a:lnR>
                    <a:lnT w="9525">
                      <a:solidFill>
                        <a:srgbClr val="D1D6DB"/>
                      </a:solidFill>
                    </a:lnT>
                    <a:lnB w="9525">
                      <a:solidFill>
                        <a:srgbClr val="D1D6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57200" y="589788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ED1438"/>
          </a:solidFill>
          <a:ln>
            <a:noFill/>
          </a:ln>
        </p:spPr>
        <p:txBody>
          <a:bodyPr rtlCol="0" anchor="ctr" wrap="square" lIns="228600" rIns="228600"/>
          <a:lstStyle/>
          <a:p>
            <a:pPr algn="l" latinLnBrk="0" eaLnBrk="1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페이퍼로지 6 SemiBold"/>
                <a:ea typeface="페이퍼로지 6 SemiBold"/>
              </a:rPr>
              <a:t>준비는 끝났습니다. 계약이 확정되면 첫 주부터 새는 비용을 막겠습니다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137160"/>
            <a:ext cx="11277295" cy="0"/>
          </a:xfrm>
          <a:prstGeom prst="line">
            <a:avLst/>
          </a:prstGeom>
          <a:ln w="15875">
            <a:solidFill>
              <a:srgbClr val="ED1438"/>
            </a:solidFill>
          </a:ln>
        </p:spPr>
      </p:cxnSp>
      <p:pic>
        <p:nvPicPr>
          <p:cNvPr id="3" name="Picture 2" descr="logo_nicecor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56032"/>
            <a:ext cx="1371600" cy="20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2103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4400" b="0">
                <a:solidFill>
                  <a:srgbClr val="FFFFFF"/>
                </a:solidFill>
                <a:latin typeface="페이퍼로지 7 Bold"/>
                <a:ea typeface="페이퍼로지 7 Bold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2200" b="0">
                <a:solidFill>
                  <a:srgbClr val="C4CED8"/>
                </a:solidFill>
                <a:latin typeface="페이퍼로지 6 SemiBold"/>
                <a:ea typeface="페이퍼로지 6 SemiBold"/>
              </a:rPr>
              <a:t>THANK YOU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3749039"/>
            <a:ext cx="3840480" cy="0"/>
          </a:xfrm>
          <a:prstGeom prst="line">
            <a:avLst/>
          </a:prstGeom>
          <a:ln w="19050">
            <a:solidFill>
              <a:srgbClr val="ED1438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1005840" y="3931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페이퍼로지 4 Regular"/>
                <a:ea typeface="페이퍼로지 4 Regular"/>
              </a:rPr>
              <a:t>자료로 전하기 어려운 부분은 30분 화상 미팅으로 김현수 팀장이 직접 설명드리겠습니다.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