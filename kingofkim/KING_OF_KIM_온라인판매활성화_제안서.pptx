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9232a95f-43d3-3614-7633-e7feefeb3fbc}">
          <p14:sldIdLst>
            <p14:sldId id="256"/>
          </p14:sldIdLst>
        </p14:section>
        <p14:section name="제안 개요" id="{eed96521-1f51-fe77-1b43-56c1e2f7b232}">
          <p14:sldIdLst>
            <p14:sldId id="257"/>
            <p14:sldId id="258"/>
          </p14:sldIdLst>
        </p14:section>
        <p14:section name="현황 진단" id="{96bc8e0b-15ba-ecb7-236b-5e5dbe55a655}">
          <p14:sldIdLst>
            <p14:sldId id="259"/>
            <p14:sldId id="260"/>
            <p14:sldId id="261"/>
          </p14:sldIdLst>
        </p14:section>
        <p14:section name="전략" id="{41cb45e6-3008-f2f6-38e8-74eaaae3c6ac}">
          <p14:sldIdLst>
            <p14:sldId id="262"/>
            <p14:sldId id="263"/>
            <p14:sldId id="264"/>
            <p14:sldId id="265"/>
          </p14:sldIdLst>
        </p14:section>
        <p14:section name="실행 계획" id="{daaaf1f0-7ae2-f3d3-a31f-36fda405aca2}">
          <p14:sldIdLst>
            <p14:sldId id="266"/>
            <p14:sldId id="267"/>
            <p14:sldId id="268"/>
            <p14:sldId id="269"/>
          </p14:sldIdLst>
        </p14:section>
        <p14:section name="기대 효과" id="{b40ea62d-0cb2-df6e-8c3a-433b680c6897}">
          <p14:sldIdLst>
            <p14:sldId id="270"/>
          </p14:sldIdLst>
        </p14:section>
        <p14:section name="부록" id="{a90c104b-cfe2-f9d5-a782-83617de1df11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1" i="0" u="none" strike="noStrike">
                <a:solidFill>
                  <a:srgbClr val="FFFFFF"/>
                </a:solidFill>
                <a:latin typeface="+mn-lt"/>
              </a:defRPr>
            </a:pPr>
            <a:r>
              <a:rPr sz="1500" b="1" i="0" u="none" strike="noStrike">
                <a:solidFill>
                  <a:srgbClr val="FFFFFF"/>
                </a:solidFill>
                <a:latin typeface="+mn-lt"/>
              </a:rPr>
              <a:t>온라인 월 매출 구성 (만 원)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온라인 월 매출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3182F6"/>
              </a:solidFill>
              <a:ln w="19050" cap="flat">
                <a:solidFill>
                  <a:srgbClr val="364960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B0D4FF"/>
              </a:solidFill>
              <a:ln w="19050" cap="flat">
                <a:solidFill>
                  <a:srgbClr val="364960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400" b="1" i="0" u="none" strike="noStrike">
                      <a:solidFill>
                        <a:srgbClr val="191F28"/>
                      </a:solidFill>
                      <a:latin typeface="+mn-lt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400" b="1" i="0" u="none" strike="noStrike">
                      <a:solidFill>
                        <a:srgbClr val="191F28"/>
                      </a:solidFill>
                      <a:latin typeface="+mn-lt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네이버 스마트스토어</c:v>
                </c:pt>
                <c:pt idx="1">
                  <c:v>쿠팡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200</c:v>
                </c:pt>
                <c:pt idx="1">
                  <c:v>100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D5DDE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FFFFFF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FFFFFF"/>
                </a:solidFill>
                <a:latin typeface="+mn-lt"/>
              </a:rPr>
              <a:t>월별 광고비 (만 원, 네이버 + 쿠팡)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A안</c:v>
                </c:pt>
              </c:strCache>
            </c:strRef>
          </c:tx>
          <c:spPr>
            <a:solidFill>
              <a:srgbClr val="8EA1B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1개월</c:v>
                  </c:pt>
                  <c:pt idx="1">
                    <c:v>2개월</c:v>
                  </c:pt>
                  <c:pt idx="2">
                    <c:v>3개월</c:v>
                  </c:pt>
                  <c:pt idx="3">
                    <c:v>4개월</c:v>
                  </c:pt>
                  <c:pt idx="4">
                    <c:v>5개월</c:v>
                  </c:pt>
                  <c:pt idx="5">
                    <c:v>6개월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150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500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B안 (권장)</c:v>
                </c:pt>
              </c:strCache>
            </c:strRef>
          </c:tx>
          <c:spPr>
            <a:solidFill>
              <a:srgbClr val="31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1개월</c:v>
                  </c:pt>
                  <c:pt idx="1">
                    <c:v>2개월</c:v>
                  </c:pt>
                  <c:pt idx="2">
                    <c:v>3개월</c:v>
                  </c:pt>
                  <c:pt idx="3">
                    <c:v>4개월</c:v>
                  </c:pt>
                  <c:pt idx="4">
                    <c:v>5개월</c:v>
                  </c:pt>
                  <c:pt idx="5">
                    <c:v>6개월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200</c:v>
                </c:pt>
                <c:pt idx="1">
                  <c:v>300</c:v>
                </c:pt>
                <c:pt idx="2">
                  <c:v>450</c:v>
                </c:pt>
                <c:pt idx="3">
                  <c:v>600</c:v>
                </c:pt>
                <c:pt idx="4">
                  <c:v>750</c:v>
                </c:pt>
                <c:pt idx="5">
                  <c:v>750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C안</c:v>
                </c:pt>
              </c:strCache>
            </c:strRef>
          </c:tx>
          <c:spPr>
            <a:solidFill>
              <a:srgbClr val="B0D4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1개월</c:v>
                  </c:pt>
                  <c:pt idx="1">
                    <c:v>2개월</c:v>
                  </c:pt>
                  <c:pt idx="2">
                    <c:v>3개월</c:v>
                  </c:pt>
                  <c:pt idx="3">
                    <c:v>4개월</c:v>
                  </c:pt>
                  <c:pt idx="4">
                    <c:v>5개월</c:v>
                  </c:pt>
                  <c:pt idx="5">
                    <c:v>6개월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250</c:v>
                </c:pt>
                <c:pt idx="1">
                  <c:v>400</c:v>
                </c:pt>
                <c:pt idx="2">
                  <c:v>600</c:v>
                </c:pt>
                <c:pt idx="3">
                  <c:v>800</c:v>
                </c:pt>
                <c:pt idx="4">
                  <c:v>1000</c:v>
                </c:pt>
                <c:pt idx="5">
                  <c:v>1000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5C6F86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D5DDE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0"/>
        </c:scaling>
        <c:delete val="0"/>
        <c:axPos val="l"/>
        <c:majorGridlines>
          <c:spPr>
            <a:ln w="9525" cap="flat">
              <a:solidFill>
                <a:srgbClr val="5C6F86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FB0C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5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D5DDE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RFP 중 온라인 판매 활성화(6.5)와 검색광고 기반 인지도 확대(6.4 일부)에 집중한 범위 제안임을 먼저 밝힙니다.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현재 매출 규모에서 예산을 여러 채널로 나누면 어느 채널에서도 검증 가능한 성과가 나오기 어렵다는 점을 먼저 설명합니다.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PT 질문 11번(직접 운영 가능 범위) 대응: 온라인은 직접 운영, 조사·오프라인·유통 영업은 범위 외임을 명확히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매출 수치는 광고주 통화 확인 기준(네이버 월 200만 원, 쿠팡 월 100만 원).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ym-kr.com 자사몰 확인 기준.
근거: 사이트 타이틀 '양명 킹오브김 ( 해풀잎 )' / KING OF KIM 도시락김 36봉 22,400원, 72봉 31,400원, 김자반 50g×5봉 18,600원 / 선물세트 사랑둥이 C1호 53,000원 ~ 효자둥이 특품 168,000원 / 첫 쇼핑 3,000원 할인 회원가입 쿠폰 배너 / 메타(페이스북) 픽셀 설치 확인 / 하단 SNS 링크가 instagram.com, youtube.com 등 메인 주소로만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PT 질문 1·2번 대응. 인지도 부족을 단정하지 않고 노출·전환·가격 중 어디서 막히는지 데이터로 구분합니다.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PT 질문 3·4·5번 대응: 브랜드 변경 없이 인지도 확대, 최초 구매 유도, 재구매 전환.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PT 질문 6번 대응: 스마트스토어·쿠팡 판매량 증대 방법.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체험단 운영비는 별도 견적. 제품은 광고주 제공 조건.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Pilot 기간을 2026년 11월~2027년 4월로 가정. 설 연휴는 2027년 2월 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1~3개월차는 리뷰를 쌓는 투자 구간이라 ROAS는 참고치. 4개월차부터 목표 ROAS 300% 적용. ROAS = 광고 매출 ÷ 광고비(수수료 제외).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PT 질문 10번 대응. 매체별 상세 배분은 부록 참조. 컨설팅·조사·오프라인 비용은 범위 외로 해당 없음.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C안 6개월차 월 광고 매출 3,000만 원은 현재 온라인 매출의 약 10배로 공격적인 목표. 3개월차 점검 결과에 따라 옵션 간 이동 가능함을 함께 설명.
계산: 광고 매출 = 월 광고비 × 해당 월 ROAS. 평균 ROAS = 6개월 광고 매출 합계 ÷ 6개월 광고비 합계 (A 5,250÷2,050, B 7,850÷3,050, C 10,450÷4,050, 반올림).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KPI는 온라인 지표로 한정. 오프라인 판매·신규 입점·조달 매출은 범위 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PT 질문 7·8번 대응: 오프라인 입점 확대의 근거를 온라인 판매 실적으로 먼저 만든다는 논리.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각 월의 세 매체 합 = 해당 옵션 월 광고비. 쿠팡 수수료 = 쿠팡 광고 합계 × 0.15 (A 690×0.15=103.5, B 1,020×0.15=153, C 1,340×0.15=201).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52667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roposal/4d3e0b65-993e-5bc6-8770-611c2df0debc/scratchpad/build/tpl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proposal/4d3e0b65-993e-5bc6-8770-611c2df0debc/scratchpad/build/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7097" y="6085332"/>
            <a:ext cx="1557223" cy="228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0147097" y="6483096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Credible Outcome Reliable Evolution</a:t>
            </a:r>
            <a:endParaRPr lang="en-US" sz="750" dirty="0"/>
          </a:p>
        </p:txBody>
      </p:sp>
      <p:sp>
        <p:nvSpPr>
          <p:cNvPr id="5" name="Text 1"/>
          <p:cNvSpPr/>
          <p:nvPr/>
        </p:nvSpPr>
        <p:spPr>
          <a:xfrm>
            <a:off x="200254" y="6510528"/>
            <a:ext cx="2743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©2026 NICECORE. ALL RIGHTS RESERVED.</a:t>
            </a:r>
            <a:endParaRPr lang="en-US" sz="600" dirty="0"/>
          </a:p>
        </p:txBody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1188720" y="1691640"/>
            <a:ext cx="96012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3649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roposal/4d3e0b65-993e-5bc6-8770-611c2df0debc/scratchpad/build/tpl_content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proposal/4d3e0b65-993e-5bc6-8770-611c2df0debc/scratchpad/build/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7097" y="6085332"/>
            <a:ext cx="1557223" cy="228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0147097" y="6483096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Credible Outcome Reliable Evolution</a:t>
            </a:r>
            <a:endParaRPr lang="en-US" sz="750" dirty="0"/>
          </a:p>
        </p:txBody>
      </p:sp>
      <p:sp>
        <p:nvSpPr>
          <p:cNvPr id="5" name="Text 1"/>
          <p:cNvSpPr/>
          <p:nvPr/>
        </p:nvSpPr>
        <p:spPr>
          <a:xfrm>
            <a:off x="200254" y="649224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©2026 NICECORE. ALL RIGHTS RESERVED.  |  KING OF KIM 온라인 판매 활성화 제안</a:t>
            </a:r>
            <a:endParaRPr lang="en-US" sz="800" dirty="0"/>
          </a:p>
        </p:txBody>
      </p:sp>
      <p:sp>
        <p:nvSpPr>
          <p:cNvPr id="6" name="Shape 2"/>
          <p:cNvSpPr/>
          <p:nvPr/>
        </p:nvSpPr>
        <p:spPr>
          <a:xfrm>
            <a:off x="1188720" y="1691640"/>
            <a:ext cx="1947672" cy="0"/>
          </a:xfrm>
          <a:prstGeom prst="line">
            <a:avLst/>
          </a:prstGeom>
          <a:noFill/>
          <a:ln w="190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7" name="Text 3"/>
          <p:cNvSpPr/>
          <p:nvPr>
            <p:ph idx="105" type="body" hasCustomPrompt="1"/>
          </p:nvPr>
        </p:nvSpPr>
        <p:spPr>
          <a:xfrm>
            <a:off x="1188720" y="475488"/>
            <a:ext cx="9811512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8" name="Text 3"/>
          <p:cNvSpPr/>
          <p:nvPr>
            <p:ph idx="106" type="title" hasCustomPrompt="1"/>
          </p:nvPr>
        </p:nvSpPr>
        <p:spPr>
          <a:xfrm>
            <a:off x="1188720" y="1069848"/>
            <a:ext cx="9811512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464040" y="6473952"/>
            <a:ext cx="5486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FFFF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464040" y="6473952"/>
            <a:ext cx="5486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FFFF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1"/>
          <p:cNvSpPr txBox="1"/>
          <p:nvPr/>
        </p:nvSpPr>
        <p:spPr>
          <a:xfrm>
            <a:off x="1188720" y="12344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B0D4FF"/>
                </a:solidFill>
              </a:rPr>
              <a:t>제안서 · 2026.10</a:t>
            </a:r>
            <a:endParaRPr lang="en-US" sz="16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1188720" y="1691640"/>
            <a:ext cx="9601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KING OF KIM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온라인 판매 활성화 6개월 Pilot</a:t>
            </a:r>
            <a:endParaRPr lang="en-US" sz="4000" dirty="0"/>
          </a:p>
        </p:txBody>
      </p:sp>
      <p:sp>
        <p:nvSpPr>
          <p:cNvPr id="4" name="text-2"/>
          <p:cNvSpPr txBox="1"/>
          <p:nvPr/>
        </p:nvSpPr>
        <p:spPr>
          <a:xfrm>
            <a:off x="1188720" y="338328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FFFFF"/>
                </a:solidFill>
              </a:rPr>
              <a:t>네이버 스마트스토어 · 쿠팡 퍼포먼스 마케팅 및 리뷰 기반 구축</a:t>
            </a:r>
            <a:endParaRPr lang="en-US" sz="2000" dirty="0"/>
          </a:p>
        </p:txBody>
      </p:sp>
      <p:sp>
        <p:nvSpPr>
          <p:cNvPr id="5" name="text-3"/>
          <p:cNvSpPr txBox="1"/>
          <p:nvPr/>
        </p:nvSpPr>
        <p:spPr>
          <a:xfrm>
            <a:off x="1188720" y="58978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주식회사 양명 귀중 | NICECORE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5" type="body" hasCustomPrompt="1"/>
          </p:nvPr>
        </p:nvSpPr>
        <p:spPr>
          <a:xfrm>
            <a:off x="1188720" y="475488"/>
            <a:ext cx="98115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01</a:t>
            </a:r>
            <a:pPr algn="l" indent="0" marL="0">
              <a:buNone/>
            </a:pPr>
            <a:r>
              <a:rPr lang="en-US" sz="2400" dirty="0">
                <a:solidFill>
                  <a:srgbClr val="FFFFFF"/>
                </a:solidFill>
              </a:rPr>
              <a:t>  제안 요약</a:t>
            </a:r>
            <a:endParaRPr lang="en-US" sz="2400" dirty="0"/>
          </a:p>
        </p:txBody>
      </p:sp>
      <p:sp>
        <p:nvSpPr>
          <p:cNvPr id="3" name="title-rule-strong"/>
          <p:cNvSpPr/>
          <p:nvPr/>
        </p:nvSpPr>
        <p:spPr>
          <a:xfrm>
            <a:off x="3563112" y="822960"/>
            <a:ext cx="777240" cy="274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itle-rule-faint"/>
          <p:cNvSpPr/>
          <p:nvPr/>
        </p:nvSpPr>
        <p:spPr>
          <a:xfrm>
            <a:off x="4340352" y="822960"/>
            <a:ext cx="6659880" cy="27432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</p:sp>
      <p:sp>
        <p:nvSpPr>
          <p:cNvPr id="5" name="Text 3"/>
          <p:cNvSpPr/>
          <p:nvPr>
            <p:ph idx="106" type="title" hasCustomPrompt="1"/>
          </p:nvPr>
        </p:nvSpPr>
        <p:spPr>
          <a:xfrm>
            <a:off x="1188720" y="1069848"/>
            <a:ext cx="9811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FFFFFF"/>
                </a:solidFill>
              </a:rPr>
              <a:t>6개월 동안 온라인에서 "팔리는 증거"를 만듭니다</a:t>
            </a:r>
            <a:endParaRPr lang="en-US" sz="2600" dirty="0"/>
          </a:p>
        </p:txBody>
      </p:sp>
      <p:sp>
        <p:nvSpPr>
          <p:cNvPr id="6" name="card-4"/>
          <p:cNvSpPr/>
          <p:nvPr/>
        </p:nvSpPr>
        <p:spPr>
          <a:xfrm>
            <a:off x="1188720" y="1920240"/>
            <a:ext cx="3087624" cy="1188720"/>
          </a:xfrm>
          <a:prstGeom prst="roundRect">
            <a:avLst>
              <a:gd name="adj" fmla="val 9231"/>
            </a:avLst>
          </a:prstGeom>
          <a:solidFill>
            <a:srgbClr val="FFFFFF">
              <a:alpha val="10000"/>
            </a:srgbClr>
          </a:solidFill>
          <a:ln/>
        </p:spPr>
      </p:sp>
      <p:sp>
        <p:nvSpPr>
          <p:cNvPr id="7" name="text-5"/>
          <p:cNvSpPr txBox="1"/>
          <p:nvPr/>
        </p:nvSpPr>
        <p:spPr>
          <a:xfrm>
            <a:off x="1463040" y="2103120"/>
            <a:ext cx="2630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B0D4FF"/>
                </a:solidFill>
              </a:rPr>
              <a:t>월 300만 원</a:t>
            </a:r>
            <a:endParaRPr lang="en-US" sz="3000" dirty="0"/>
          </a:p>
        </p:txBody>
      </p:sp>
      <p:sp>
        <p:nvSpPr>
          <p:cNvPr id="8" name="text-6"/>
          <p:cNvSpPr txBox="1"/>
          <p:nvPr/>
        </p:nvSpPr>
        <p:spPr>
          <a:xfrm>
            <a:off x="1463040" y="2706624"/>
            <a:ext cx="2676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5DDE8"/>
                </a:solidFill>
              </a:rPr>
              <a:t>현재 월 온라인 매출</a:t>
            </a:r>
            <a:endParaRPr lang="en-US" sz="1300" dirty="0"/>
          </a:p>
        </p:txBody>
      </p:sp>
      <p:sp>
        <p:nvSpPr>
          <p:cNvPr id="9" name="card-7"/>
          <p:cNvSpPr/>
          <p:nvPr/>
        </p:nvSpPr>
        <p:spPr>
          <a:xfrm>
            <a:off x="4550664" y="1920240"/>
            <a:ext cx="3087624" cy="1188720"/>
          </a:xfrm>
          <a:prstGeom prst="roundRect">
            <a:avLst>
              <a:gd name="adj" fmla="val 9231"/>
            </a:avLst>
          </a:prstGeom>
          <a:solidFill>
            <a:srgbClr val="FFFFFF">
              <a:alpha val="10000"/>
            </a:srgbClr>
          </a:solidFill>
          <a:ln/>
        </p:spPr>
      </p:sp>
      <p:sp>
        <p:nvSpPr>
          <p:cNvPr id="10" name="text-8"/>
          <p:cNvSpPr txBox="1"/>
          <p:nvPr/>
        </p:nvSpPr>
        <p:spPr>
          <a:xfrm>
            <a:off x="4824984" y="2103120"/>
            <a:ext cx="2630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B0D4FF"/>
                </a:solidFill>
              </a:rPr>
              <a:t>17개</a:t>
            </a:r>
            <a:endParaRPr lang="en-US" sz="3000" dirty="0"/>
          </a:p>
        </p:txBody>
      </p:sp>
      <p:sp>
        <p:nvSpPr>
          <p:cNvPr id="11" name="text-9"/>
          <p:cNvSpPr txBox="1"/>
          <p:nvPr/>
        </p:nvSpPr>
        <p:spPr>
          <a:xfrm>
            <a:off x="4824984" y="2706624"/>
            <a:ext cx="2676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5DDE8"/>
                </a:solidFill>
              </a:rPr>
              <a:t>스마트스토어 상품당 최대 리뷰 수</a:t>
            </a:r>
            <a:endParaRPr lang="en-US" sz="1300" dirty="0"/>
          </a:p>
        </p:txBody>
      </p:sp>
      <p:sp>
        <p:nvSpPr>
          <p:cNvPr id="12" name="card-10"/>
          <p:cNvSpPr/>
          <p:nvPr/>
        </p:nvSpPr>
        <p:spPr>
          <a:xfrm>
            <a:off x="7912608" y="1920240"/>
            <a:ext cx="3087624" cy="1188720"/>
          </a:xfrm>
          <a:prstGeom prst="roundRect">
            <a:avLst>
              <a:gd name="adj" fmla="val 9231"/>
            </a:avLst>
          </a:prstGeom>
          <a:solidFill>
            <a:srgbClr val="FFFFFF">
              <a:alpha val="10000"/>
            </a:srgbClr>
          </a:solidFill>
          <a:ln/>
        </p:spPr>
      </p:sp>
      <p:sp>
        <p:nvSpPr>
          <p:cNvPr id="13" name="text-11"/>
          <p:cNvSpPr txBox="1"/>
          <p:nvPr/>
        </p:nvSpPr>
        <p:spPr>
          <a:xfrm>
            <a:off x="8186928" y="2103120"/>
            <a:ext cx="2630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B0D4FF"/>
                </a:solidFill>
              </a:rPr>
              <a:t>300%</a:t>
            </a:r>
            <a:endParaRPr lang="en-US" sz="3000" dirty="0"/>
          </a:p>
        </p:txBody>
      </p:sp>
      <p:sp>
        <p:nvSpPr>
          <p:cNvPr id="14" name="text-12"/>
          <p:cNvSpPr txBox="1"/>
          <p:nvPr/>
        </p:nvSpPr>
        <p:spPr>
          <a:xfrm>
            <a:off x="8186928" y="2706624"/>
            <a:ext cx="2676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5DDE8"/>
                </a:solidFill>
              </a:rPr>
              <a:t>4개월차 이후 목표 ROAS</a:t>
            </a:r>
            <a:endParaRPr lang="en-US" sz="1300" dirty="0"/>
          </a:p>
        </p:txBody>
      </p:sp>
      <p:sp>
        <p:nvSpPr>
          <p:cNvPr id="15" name="card-13"/>
          <p:cNvSpPr/>
          <p:nvPr/>
        </p:nvSpPr>
        <p:spPr>
          <a:xfrm>
            <a:off x="1188720" y="3383280"/>
            <a:ext cx="3087624" cy="1508760"/>
          </a:xfrm>
          <a:prstGeom prst="roundRect">
            <a:avLst>
              <a:gd name="adj" fmla="val 7273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35000"/>
              </a:srgbClr>
            </a:solidFill>
            <a:prstDash val="solid"/>
          </a:ln>
        </p:spPr>
      </p:sp>
      <p:sp>
        <p:nvSpPr>
          <p:cNvPr id="16" name="badge-14"/>
          <p:cNvSpPr/>
          <p:nvPr/>
        </p:nvSpPr>
        <p:spPr>
          <a:xfrm>
            <a:off x="1463040" y="3611880"/>
            <a:ext cx="438912" cy="438912"/>
          </a:xfrm>
          <a:prstGeom prst="ellipse">
            <a:avLst/>
          </a:prstGeom>
          <a:solidFill>
            <a:srgbClr val="3182F6"/>
          </a:solidFill>
          <a:ln/>
        </p:spPr>
      </p:sp>
      <p:sp>
        <p:nvSpPr>
          <p:cNvPr id="17" name="badge-text-14"/>
          <p:cNvSpPr txBox="1"/>
          <p:nvPr/>
        </p:nvSpPr>
        <p:spPr>
          <a:xfrm>
            <a:off x="1463040" y="36118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18" name="text-15"/>
          <p:cNvSpPr txBox="1"/>
          <p:nvPr/>
        </p:nvSpPr>
        <p:spPr>
          <a:xfrm>
            <a:off x="2029968" y="3611880"/>
            <a:ext cx="19903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</a:rPr>
              <a:t>리뷰 확보</a:t>
            </a:r>
            <a:endParaRPr lang="en-US" sz="1800" dirty="0"/>
          </a:p>
        </p:txBody>
      </p:sp>
      <p:sp>
        <p:nvSpPr>
          <p:cNvPr id="19" name="text-16"/>
          <p:cNvSpPr txBox="1"/>
          <p:nvPr/>
        </p:nvSpPr>
        <p:spPr>
          <a:xfrm>
            <a:off x="1463040" y="4187952"/>
            <a:ext cx="25847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5DDE8"/>
                </a:solidFill>
              </a:rPr>
              <a:t>1~2개월차 체험단 집중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5DDE8"/>
                </a:solidFill>
              </a:rPr>
              <a:t>광고는 최소 수준으로 테스트</a:t>
            </a:r>
            <a:endParaRPr lang="en-US" sz="1400" dirty="0"/>
          </a:p>
        </p:txBody>
      </p:sp>
      <p:sp>
        <p:nvSpPr>
          <p:cNvPr id="20" name="card-17"/>
          <p:cNvSpPr/>
          <p:nvPr/>
        </p:nvSpPr>
        <p:spPr>
          <a:xfrm>
            <a:off x="4550664" y="3383280"/>
            <a:ext cx="3087624" cy="1508760"/>
          </a:xfrm>
          <a:prstGeom prst="roundRect">
            <a:avLst>
              <a:gd name="adj" fmla="val 7273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35000"/>
              </a:srgbClr>
            </a:solidFill>
            <a:prstDash val="solid"/>
          </a:ln>
        </p:spPr>
      </p:sp>
      <p:sp>
        <p:nvSpPr>
          <p:cNvPr id="21" name="badge-18"/>
          <p:cNvSpPr/>
          <p:nvPr/>
        </p:nvSpPr>
        <p:spPr>
          <a:xfrm>
            <a:off x="4824984" y="3611880"/>
            <a:ext cx="438912" cy="438912"/>
          </a:xfrm>
          <a:prstGeom prst="ellipse">
            <a:avLst/>
          </a:prstGeom>
          <a:solidFill>
            <a:srgbClr val="3182F6"/>
          </a:solidFill>
          <a:ln/>
        </p:spPr>
      </p:sp>
      <p:sp>
        <p:nvSpPr>
          <p:cNvPr id="22" name="badge-text-18"/>
          <p:cNvSpPr txBox="1"/>
          <p:nvPr/>
        </p:nvSpPr>
        <p:spPr>
          <a:xfrm>
            <a:off x="4824984" y="36118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23" name="text-19"/>
          <p:cNvSpPr txBox="1"/>
          <p:nvPr/>
        </p:nvSpPr>
        <p:spPr>
          <a:xfrm>
            <a:off x="5391912" y="3611880"/>
            <a:ext cx="19903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</a:rPr>
              <a:t>구매 전환</a:t>
            </a:r>
            <a:endParaRPr lang="en-US" sz="1800" dirty="0"/>
          </a:p>
        </p:txBody>
      </p:sp>
      <p:sp>
        <p:nvSpPr>
          <p:cNvPr id="24" name="text-20"/>
          <p:cNvSpPr txBox="1"/>
          <p:nvPr/>
        </p:nvSpPr>
        <p:spPr>
          <a:xfrm>
            <a:off x="4824984" y="4187952"/>
            <a:ext cx="25847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5DDE8"/>
                </a:solidFill>
              </a:rPr>
              <a:t>3개월차부터 네이버 쇼핑검색·쿠팡 광고로 구매 확대</a:t>
            </a:r>
            <a:endParaRPr lang="en-US" sz="1400" dirty="0"/>
          </a:p>
        </p:txBody>
      </p:sp>
      <p:sp>
        <p:nvSpPr>
          <p:cNvPr id="25" name="card-21"/>
          <p:cNvSpPr/>
          <p:nvPr/>
        </p:nvSpPr>
        <p:spPr>
          <a:xfrm>
            <a:off x="7912608" y="3383280"/>
            <a:ext cx="3087624" cy="1508760"/>
          </a:xfrm>
          <a:prstGeom prst="roundRect">
            <a:avLst>
              <a:gd name="adj" fmla="val 7273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35000"/>
              </a:srgbClr>
            </a:solidFill>
            <a:prstDash val="solid"/>
          </a:ln>
        </p:spPr>
      </p:sp>
      <p:sp>
        <p:nvSpPr>
          <p:cNvPr id="26" name="badge-22"/>
          <p:cNvSpPr/>
          <p:nvPr/>
        </p:nvSpPr>
        <p:spPr>
          <a:xfrm>
            <a:off x="8186928" y="3611880"/>
            <a:ext cx="438912" cy="438912"/>
          </a:xfrm>
          <a:prstGeom prst="ellipse">
            <a:avLst/>
          </a:prstGeom>
          <a:solidFill>
            <a:srgbClr val="3182F6"/>
          </a:solidFill>
          <a:ln/>
        </p:spPr>
      </p:sp>
      <p:sp>
        <p:nvSpPr>
          <p:cNvPr id="27" name="badge-text-22"/>
          <p:cNvSpPr txBox="1"/>
          <p:nvPr/>
        </p:nvSpPr>
        <p:spPr>
          <a:xfrm>
            <a:off x="8186928" y="36118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28" name="text-23"/>
          <p:cNvSpPr txBox="1"/>
          <p:nvPr/>
        </p:nvSpPr>
        <p:spPr>
          <a:xfrm>
            <a:off x="8753856" y="3611880"/>
            <a:ext cx="19903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</a:rPr>
              <a:t>단계 증액</a:t>
            </a:r>
            <a:endParaRPr lang="en-US" sz="1800" dirty="0"/>
          </a:p>
        </p:txBody>
      </p:sp>
      <p:sp>
        <p:nvSpPr>
          <p:cNvPr id="29" name="text-24"/>
          <p:cNvSpPr txBox="1"/>
          <p:nvPr/>
        </p:nvSpPr>
        <p:spPr>
          <a:xfrm>
            <a:off x="8186928" y="4187952"/>
            <a:ext cx="25847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5DDE8"/>
                </a:solidFill>
              </a:rPr>
              <a:t>목표 ROAS 달성 시에만 다음 단계로 광고비 증액</a:t>
            </a:r>
            <a:endParaRPr lang="en-US" sz="1400" dirty="0"/>
          </a:p>
        </p:txBody>
      </p:sp>
      <p:sp>
        <p:nvSpPr>
          <p:cNvPr id="30" name="card-25"/>
          <p:cNvSpPr/>
          <p:nvPr/>
        </p:nvSpPr>
        <p:spPr>
          <a:xfrm>
            <a:off x="1188720" y="5166360"/>
            <a:ext cx="9811512" cy="731520"/>
          </a:xfrm>
          <a:prstGeom prst="roundRect">
            <a:avLst>
              <a:gd name="adj" fmla="val 15000"/>
            </a:avLst>
          </a:prstGeom>
          <a:solidFill>
            <a:srgbClr val="3182F6">
              <a:alpha val="35000"/>
            </a:srgbClr>
          </a:solidFill>
          <a:ln/>
        </p:spPr>
      </p:sp>
      <p:sp>
        <p:nvSpPr>
          <p:cNvPr id="31" name="text-26"/>
          <p:cNvSpPr txBox="1"/>
          <p:nvPr/>
        </p:nvSpPr>
        <p:spPr>
          <a:xfrm>
            <a:off x="1463040" y="5166360"/>
            <a:ext cx="92628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</a:rPr>
              <a:t>6개월 성과(판매량 · 리뷰 · 검색량)는 유통 MD 제안과 조달 홍보에 쓸 수 있는 성과 자료로 정리해 드립니다.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464040" y="6473952"/>
            <a:ext cx="5486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FFFF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5" type="body" hasCustomPrompt="1"/>
          </p:nvPr>
        </p:nvSpPr>
        <p:spPr>
          <a:xfrm>
            <a:off x="1188720" y="475488"/>
            <a:ext cx="98115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02</a:t>
            </a:r>
            <a:pPr algn="l" indent="0" marL="0">
              <a:buNone/>
            </a:pPr>
            <a:r>
              <a:rPr lang="en-US" sz="2400" dirty="0">
                <a:solidFill>
                  <a:srgbClr val="FFFFFF"/>
                </a:solidFill>
              </a:rPr>
              <a:t>  제안 범위</a:t>
            </a:r>
            <a:endParaRPr lang="en-US" sz="2400" dirty="0"/>
          </a:p>
        </p:txBody>
      </p:sp>
      <p:sp>
        <p:nvSpPr>
          <p:cNvPr id="3" name="title-rule-strong"/>
          <p:cNvSpPr/>
          <p:nvPr/>
        </p:nvSpPr>
        <p:spPr>
          <a:xfrm>
            <a:off x="3563112" y="822960"/>
            <a:ext cx="777240" cy="274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itle-rule-faint"/>
          <p:cNvSpPr/>
          <p:nvPr/>
        </p:nvSpPr>
        <p:spPr>
          <a:xfrm>
            <a:off x="4340352" y="822960"/>
            <a:ext cx="6659880" cy="27432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</p:sp>
      <p:sp>
        <p:nvSpPr>
          <p:cNvPr id="5" name="Text 3"/>
          <p:cNvSpPr/>
          <p:nvPr>
            <p:ph idx="106" type="title" hasCustomPrompt="1"/>
          </p:nvPr>
        </p:nvSpPr>
        <p:spPr>
          <a:xfrm>
            <a:off x="1188720" y="1069848"/>
            <a:ext cx="9811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FFFFFF"/>
                </a:solidFill>
              </a:rPr>
              <a:t>예산이 성과로 이어지는 온라인 과업에 집중합니다</a:t>
            </a:r>
            <a:endParaRPr lang="en-US" sz="2600" dirty="0"/>
          </a:p>
        </p:txBody>
      </p:sp>
      <p:sp>
        <p:nvSpPr>
          <p:cNvPr id="6" name="card-27"/>
          <p:cNvSpPr/>
          <p:nvPr/>
        </p:nvSpPr>
        <p:spPr>
          <a:xfrm>
            <a:off x="1188720" y="1920240"/>
            <a:ext cx="3749040" cy="3703320"/>
          </a:xfrm>
          <a:prstGeom prst="roundRect">
            <a:avLst>
              <a:gd name="adj" fmla="val 2963"/>
            </a:avLst>
          </a:prstGeom>
          <a:solidFill>
            <a:srgbClr val="3182F6"/>
          </a:solidFill>
          <a:ln/>
        </p:spPr>
      </p:sp>
      <p:sp>
        <p:nvSpPr>
          <p:cNvPr id="7" name="text-28"/>
          <p:cNvSpPr txBox="1"/>
          <p:nvPr/>
        </p:nvSpPr>
        <p:spPr>
          <a:xfrm>
            <a:off x="1463040" y="219456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FFFFFF"/>
                </a:solidFill>
              </a:rPr>
              <a:t>직접 수행</a:t>
            </a:r>
            <a:endParaRPr lang="en-US" sz="2100" dirty="0"/>
          </a:p>
        </p:txBody>
      </p:sp>
      <p:sp>
        <p:nvSpPr>
          <p:cNvPr id="8" name="text-29"/>
          <p:cNvSpPr txBox="1"/>
          <p:nvPr/>
        </p:nvSpPr>
        <p:spPr>
          <a:xfrm>
            <a:off x="1463040" y="261518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0D4FF"/>
                </a:solidFill>
              </a:rPr>
              <a:t>NICECORE</a:t>
            </a:r>
            <a:endParaRPr lang="en-US" sz="1400" dirty="0"/>
          </a:p>
        </p:txBody>
      </p:sp>
      <p:sp>
        <p:nvSpPr>
          <p:cNvPr id="9" name="text-30"/>
          <p:cNvSpPr txBox="1"/>
          <p:nvPr/>
        </p:nvSpPr>
        <p:spPr>
          <a:xfrm>
            <a:off x="1463040" y="3063240"/>
            <a:ext cx="329184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네이버 쇼핑검색 · 파워링크 운영</a:t>
            </a:r>
            <a:endParaRPr lang="en-US" sz="140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쿠팡 광고 운영</a:t>
            </a:r>
            <a:endParaRPr lang="en-US" sz="140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체험단 기획 · 운영 (제품은 양명 제공)</a:t>
            </a:r>
            <a:endParaRPr lang="en-US" sz="140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운영 데이터 진단 · 월간 리포트 · 예산 재배분</a:t>
            </a:r>
            <a:endParaRPr lang="en-US" sz="140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6개월 성과 자료 정리 (MD · 조달 제안용)</a:t>
            </a:r>
            <a:endParaRPr lang="en-US" sz="1400" dirty="0"/>
          </a:p>
        </p:txBody>
      </p:sp>
      <p:sp>
        <p:nvSpPr>
          <p:cNvPr id="10" name="card-31"/>
          <p:cNvSpPr/>
          <p:nvPr/>
        </p:nvSpPr>
        <p:spPr>
          <a:xfrm>
            <a:off x="5212080" y="1920240"/>
            <a:ext cx="2514600" cy="3703320"/>
          </a:xfrm>
          <a:prstGeom prst="roundRect">
            <a:avLst>
              <a:gd name="adj" fmla="val 4364"/>
            </a:avLst>
          </a:prstGeom>
          <a:solidFill>
            <a:srgbClr val="FFFFFF">
              <a:alpha val="10000"/>
            </a:srgbClr>
          </a:solidFill>
          <a:ln/>
        </p:spPr>
      </p:sp>
      <p:sp>
        <p:nvSpPr>
          <p:cNvPr id="11" name="text-32"/>
          <p:cNvSpPr txBox="1"/>
          <p:nvPr/>
        </p:nvSpPr>
        <p:spPr>
          <a:xfrm>
            <a:off x="5486400" y="2194560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FFFFFF"/>
                </a:solidFill>
              </a:rPr>
              <a:t>별도 견적</a:t>
            </a:r>
            <a:endParaRPr lang="en-US" sz="2100" dirty="0"/>
          </a:p>
        </p:txBody>
      </p:sp>
      <p:sp>
        <p:nvSpPr>
          <p:cNvPr id="12" name="text-33"/>
          <p:cNvSpPr txBox="1"/>
          <p:nvPr/>
        </p:nvSpPr>
        <p:spPr>
          <a:xfrm>
            <a:off x="5486400" y="261518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9FB0C5"/>
                </a:solidFill>
              </a:rPr>
              <a:t>선택 시 협의</a:t>
            </a:r>
            <a:endParaRPr lang="en-US" sz="1400" dirty="0"/>
          </a:p>
        </p:txBody>
      </p:sp>
      <p:sp>
        <p:nvSpPr>
          <p:cNvPr id="13" name="text-34"/>
          <p:cNvSpPr txBox="1"/>
          <p:nvPr/>
        </p:nvSpPr>
        <p:spPr>
          <a:xfrm>
            <a:off x="5486400" y="3063240"/>
            <a:ext cx="20574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상세페이지 개선</a:t>
            </a:r>
            <a:endParaRPr lang="en-US" sz="1400" dirty="0"/>
          </a:p>
        </p:txBody>
      </p:sp>
      <p:sp>
        <p:nvSpPr>
          <p:cNvPr id="14" name="card-35"/>
          <p:cNvSpPr/>
          <p:nvPr/>
        </p:nvSpPr>
        <p:spPr>
          <a:xfrm>
            <a:off x="8001000" y="1920240"/>
            <a:ext cx="2999232" cy="3703320"/>
          </a:xfrm>
          <a:prstGeom prst="roundRect">
            <a:avLst>
              <a:gd name="adj" fmla="val 3659"/>
            </a:avLst>
          </a:prstGeom>
          <a:solidFill>
            <a:srgbClr val="FFFFFF">
              <a:alpha val="10000"/>
            </a:srgbClr>
          </a:solidFill>
          <a:ln/>
        </p:spPr>
      </p:sp>
      <p:sp>
        <p:nvSpPr>
          <p:cNvPr id="15" name="text-36"/>
          <p:cNvSpPr txBox="1"/>
          <p:nvPr/>
        </p:nvSpPr>
        <p:spPr>
          <a:xfrm>
            <a:off x="8275320" y="2194560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FFFFFF"/>
                </a:solidFill>
              </a:rPr>
              <a:t>범위 외</a:t>
            </a:r>
            <a:endParaRPr lang="en-US" sz="2100" dirty="0"/>
          </a:p>
        </p:txBody>
      </p:sp>
      <p:sp>
        <p:nvSpPr>
          <p:cNvPr id="16" name="text-37"/>
          <p:cNvSpPr txBox="1"/>
          <p:nvPr/>
        </p:nvSpPr>
        <p:spPr>
          <a:xfrm>
            <a:off x="8275320" y="261518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9FB0C5"/>
                </a:solidFill>
              </a:rPr>
              <a:t>전문 업체 또는 양명</a:t>
            </a:r>
            <a:endParaRPr lang="en-US" sz="1400" dirty="0"/>
          </a:p>
        </p:txBody>
      </p:sp>
      <p:sp>
        <p:nvSpPr>
          <p:cNvPr id="17" name="text-38"/>
          <p:cNvSpPr txBox="1"/>
          <p:nvPr/>
        </p:nvSpPr>
        <p:spPr>
          <a:xfrm>
            <a:off x="8275320" y="3063240"/>
            <a:ext cx="2542032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소비자 조사(설문 · FGI)</a:t>
            </a:r>
            <a:endParaRPr lang="en-US" sz="140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D5DDE8"/>
                </a:solidFill>
              </a:rPr>
              <a:t>→ 리서치 전문사</a:t>
            </a:r>
            <a:endParaRPr lang="en-US" sz="1400" dirty="0"/>
          </a:p>
          <a:p>
            <a:pPr marL="177800" indent="-1778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시식 · POP · 오프라인 광고</a:t>
            </a:r>
            <a:endParaRPr lang="en-US" sz="140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D5DDE8"/>
                </a:solidFill>
              </a:rPr>
              <a:t>→ 홍보 · 오프라인 대행사</a:t>
            </a:r>
            <a:endParaRPr lang="en-US" sz="1400" dirty="0"/>
          </a:p>
          <a:p>
            <a:pPr marL="177800" indent="-1778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유통 MD 영업 · 조달청 영업</a:t>
            </a:r>
            <a:endParaRPr lang="en-US" sz="140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D5DDE8"/>
                </a:solidFill>
              </a:rPr>
              <a:t>→ 양명 직접</a:t>
            </a:r>
            <a:endParaRPr lang="en-US" sz="1400" dirty="0"/>
          </a:p>
        </p:txBody>
      </p:sp>
      <p:sp>
        <p:nvSpPr>
          <p:cNvPr id="18" name="text-39"/>
          <p:cNvSpPr txBox="1"/>
          <p:nvPr/>
        </p:nvSpPr>
        <p:spPr>
          <a:xfrm>
            <a:off x="1188720" y="58064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FB0C5"/>
                </a:solidFill>
              </a:rPr>
              <a:t>RFP 8항 "예산 수준별 우선순위 및 제외 항목 제시" 기준에 따라 범위를 정의했습니다.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464040" y="6473952"/>
            <a:ext cx="5486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FFFF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5" type="body" hasCustomPrompt="1"/>
          </p:nvPr>
        </p:nvSpPr>
        <p:spPr>
          <a:xfrm>
            <a:off x="1188720" y="475488"/>
            <a:ext cx="98115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03</a:t>
            </a:r>
            <a:pPr algn="l" indent="0" marL="0">
              <a:buNone/>
            </a:pPr>
            <a:r>
              <a:rPr lang="en-US" sz="2400" dirty="0">
                <a:solidFill>
                  <a:srgbClr val="FFFFFF"/>
                </a:solidFill>
              </a:rPr>
              <a:t>  현황 진단 ① 매출과 리뷰</a:t>
            </a:r>
            <a:endParaRPr lang="en-US" sz="2400" dirty="0"/>
          </a:p>
        </p:txBody>
      </p:sp>
      <p:sp>
        <p:nvSpPr>
          <p:cNvPr id="3" name="title-rule-strong"/>
          <p:cNvSpPr/>
          <p:nvPr/>
        </p:nvSpPr>
        <p:spPr>
          <a:xfrm>
            <a:off x="5513832" y="822960"/>
            <a:ext cx="777240" cy="274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itle-rule-faint"/>
          <p:cNvSpPr/>
          <p:nvPr/>
        </p:nvSpPr>
        <p:spPr>
          <a:xfrm>
            <a:off x="6291072" y="822960"/>
            <a:ext cx="4709160" cy="27432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</p:sp>
      <p:sp>
        <p:nvSpPr>
          <p:cNvPr id="5" name="Text 3"/>
          <p:cNvSpPr/>
          <p:nvPr>
            <p:ph idx="106" type="title" hasCustomPrompt="1"/>
          </p:nvPr>
        </p:nvSpPr>
        <p:spPr>
          <a:xfrm>
            <a:off x="1188720" y="1069848"/>
            <a:ext cx="9811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FFFFFF"/>
                </a:solidFill>
              </a:rPr>
              <a:t>리뷰 부족이 광고 효율을 막는 구조입니다</a:t>
            </a:r>
            <a:endParaRPr lang="en-US" sz="2600" dirty="0"/>
          </a:p>
        </p:txBody>
      </p:sp>
      <p:sp>
        <p:nvSpPr>
          <p:cNvPr id="6" name="card-40"/>
          <p:cNvSpPr/>
          <p:nvPr/>
        </p:nvSpPr>
        <p:spPr>
          <a:xfrm>
            <a:off x="1188720" y="1920240"/>
            <a:ext cx="4480560" cy="3977640"/>
          </a:xfrm>
          <a:prstGeom prst="roundRect">
            <a:avLst>
              <a:gd name="adj" fmla="val 2759"/>
            </a:avLst>
          </a:prstGeom>
          <a:solidFill>
            <a:srgbClr val="FFFFFF">
              <a:alpha val="10000"/>
            </a:srgbClr>
          </a:solidFill>
          <a:ln/>
        </p:spPr>
      </p:sp>
      <p:graphicFrame>
        <p:nvGraphicFramePr>
          <p:cNvPr id="7" name="chart-sales-mix" descr=""/>
          <p:cNvGraphicFramePr/>
          <p:nvPr/>
        </p:nvGraphicFramePr>
        <p:xfrm>
          <a:off x="1325880" y="2011680"/>
          <a:ext cx="42062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card-41"/>
          <p:cNvSpPr/>
          <p:nvPr/>
        </p:nvSpPr>
        <p:spPr>
          <a:xfrm>
            <a:off x="5943600" y="1920240"/>
            <a:ext cx="5056632" cy="1691640"/>
          </a:xfrm>
          <a:prstGeom prst="roundRect">
            <a:avLst>
              <a:gd name="adj" fmla="val 6486"/>
            </a:avLst>
          </a:prstGeom>
          <a:solidFill>
            <a:srgbClr val="FFFFFF">
              <a:alpha val="10000"/>
            </a:srgbClr>
          </a:solidFill>
          <a:ln/>
        </p:spPr>
      </p:sp>
      <p:sp>
        <p:nvSpPr>
          <p:cNvPr id="9" name="text-42"/>
          <p:cNvSpPr txBox="1"/>
          <p:nvPr/>
        </p:nvSpPr>
        <p:spPr>
          <a:xfrm>
            <a:off x="6263640" y="21031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b="1" dirty="0">
                <a:solidFill>
                  <a:srgbClr val="B0D4FF"/>
                </a:solidFill>
              </a:rPr>
              <a:t>17개</a:t>
            </a:r>
            <a:endParaRPr lang="en-US" sz="4600" dirty="0"/>
          </a:p>
        </p:txBody>
      </p:sp>
      <p:sp>
        <p:nvSpPr>
          <p:cNvPr id="10" name="text-43"/>
          <p:cNvSpPr txBox="1"/>
          <p:nvPr/>
        </p:nvSpPr>
        <p:spPr>
          <a:xfrm>
            <a:off x="6263640" y="2880360"/>
            <a:ext cx="4416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</a:rPr>
              <a:t>스마트스토어 상품당 최대 리뷰 수</a:t>
            </a:r>
            <a:endParaRPr lang="en-US" sz="1500" dirty="0"/>
          </a:p>
        </p:txBody>
      </p:sp>
      <p:sp>
        <p:nvSpPr>
          <p:cNvPr id="11" name="text-44"/>
          <p:cNvSpPr txBox="1"/>
          <p:nvPr/>
        </p:nvSpPr>
        <p:spPr>
          <a:xfrm>
            <a:off x="6263640" y="3200400"/>
            <a:ext cx="4416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9FB0C5"/>
                </a:solidFill>
              </a:rPr>
              <a:t>경쟁 브랜드는 리뷰 수천~수만 건</a:t>
            </a:r>
            <a:endParaRPr lang="en-US" sz="1400" dirty="0"/>
          </a:p>
        </p:txBody>
      </p:sp>
      <p:sp>
        <p:nvSpPr>
          <p:cNvPr id="12" name="card-45"/>
          <p:cNvSpPr/>
          <p:nvPr/>
        </p:nvSpPr>
        <p:spPr>
          <a:xfrm>
            <a:off x="5943600" y="3886200"/>
            <a:ext cx="5056632" cy="2011680"/>
          </a:xfrm>
          <a:prstGeom prst="roundRect">
            <a:avLst>
              <a:gd name="adj" fmla="val 5455"/>
            </a:avLst>
          </a:prstGeom>
          <a:solidFill>
            <a:srgbClr val="3182F6"/>
          </a:solidFill>
          <a:ln/>
        </p:spPr>
      </p:sp>
      <p:sp>
        <p:nvSpPr>
          <p:cNvPr id="13" name="text-46"/>
          <p:cNvSpPr txBox="1"/>
          <p:nvPr/>
        </p:nvSpPr>
        <p:spPr>
          <a:xfrm>
            <a:off x="6263640" y="4160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B0D4FF"/>
                </a:solidFill>
              </a:rPr>
              <a:t>시사점</a:t>
            </a:r>
            <a:endParaRPr lang="en-US" sz="1400" dirty="0"/>
          </a:p>
        </p:txBody>
      </p:sp>
      <p:sp>
        <p:nvSpPr>
          <p:cNvPr id="14" name="text-47"/>
          <p:cNvSpPr txBox="1"/>
          <p:nvPr/>
        </p:nvSpPr>
        <p:spPr>
          <a:xfrm>
            <a:off x="6263640" y="4544568"/>
            <a:ext cx="44165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FFFFFF"/>
                </a:solidFill>
              </a:rPr>
              <a:t>지금 광고비를 크게 늘리면 클릭은 늘지만 구매는 따라오지 않습니다. 광고보다 리뷰 확보가 먼저입니다.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464040" y="6473952"/>
            <a:ext cx="5486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FFFF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5" type="body" hasCustomPrompt="1"/>
          </p:nvPr>
        </p:nvSpPr>
        <p:spPr>
          <a:xfrm>
            <a:off x="1188720" y="475488"/>
            <a:ext cx="98115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03</a:t>
            </a:r>
            <a:pPr algn="l" indent="0" marL="0">
              <a:buNone/>
            </a:pPr>
            <a:r>
              <a:rPr lang="en-US" sz="2400" dirty="0">
                <a:solidFill>
                  <a:srgbClr val="FFFFFF"/>
                </a:solidFill>
              </a:rPr>
              <a:t>  현황 진단 ② 자사몰</a:t>
            </a:r>
            <a:endParaRPr lang="en-US" sz="2400" dirty="0"/>
          </a:p>
        </p:txBody>
      </p:sp>
      <p:sp>
        <p:nvSpPr>
          <p:cNvPr id="3" name="title-rule-strong"/>
          <p:cNvSpPr/>
          <p:nvPr/>
        </p:nvSpPr>
        <p:spPr>
          <a:xfrm>
            <a:off x="4812792" y="822960"/>
            <a:ext cx="777240" cy="274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itle-rule-faint"/>
          <p:cNvSpPr/>
          <p:nvPr/>
        </p:nvSpPr>
        <p:spPr>
          <a:xfrm>
            <a:off x="5590032" y="822960"/>
            <a:ext cx="5410200" cy="27432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</p:sp>
      <p:sp>
        <p:nvSpPr>
          <p:cNvPr id="5" name="Text 3"/>
          <p:cNvSpPr/>
          <p:nvPr>
            <p:ph idx="106" type="title" hasCustomPrompt="1"/>
          </p:nvPr>
        </p:nvSpPr>
        <p:spPr>
          <a:xfrm>
            <a:off x="1188720" y="1069848"/>
            <a:ext cx="9811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FFFFFF"/>
                </a:solidFill>
              </a:rPr>
              <a:t>자사몰에서 확인한 세 가지 과제</a:t>
            </a:r>
            <a:endParaRPr lang="en-US" sz="2600" dirty="0"/>
          </a:p>
        </p:txBody>
      </p:sp>
      <p:sp>
        <p:nvSpPr>
          <p:cNvPr id="6" name="card-48"/>
          <p:cNvSpPr/>
          <p:nvPr/>
        </p:nvSpPr>
        <p:spPr>
          <a:xfrm>
            <a:off x="1188720" y="1920240"/>
            <a:ext cx="3087624" cy="2971800"/>
          </a:xfrm>
          <a:prstGeom prst="roundRect">
            <a:avLst>
              <a:gd name="adj" fmla="val 3692"/>
            </a:avLst>
          </a:prstGeom>
          <a:solidFill>
            <a:srgbClr val="FFFFFF">
              <a:alpha val="10000"/>
            </a:srgbClr>
          </a:solidFill>
          <a:ln/>
        </p:spPr>
      </p:sp>
      <p:sp>
        <p:nvSpPr>
          <p:cNvPr id="7" name="badge-49"/>
          <p:cNvSpPr/>
          <p:nvPr/>
        </p:nvSpPr>
        <p:spPr>
          <a:xfrm>
            <a:off x="1463040" y="2194560"/>
            <a:ext cx="457200" cy="457200"/>
          </a:xfrm>
          <a:prstGeom prst="ellipse">
            <a:avLst/>
          </a:prstGeom>
          <a:solidFill>
            <a:srgbClr val="3182F6"/>
          </a:solidFill>
          <a:ln/>
        </p:spPr>
      </p:sp>
      <p:sp>
        <p:nvSpPr>
          <p:cNvPr id="8" name="badge-text-49"/>
          <p:cNvSpPr txBox="1"/>
          <p:nvPr/>
        </p:nvSpPr>
        <p:spPr>
          <a:xfrm>
            <a:off x="146304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-50"/>
          <p:cNvSpPr txBox="1"/>
          <p:nvPr/>
        </p:nvSpPr>
        <p:spPr>
          <a:xfrm>
            <a:off x="1463040" y="2788920"/>
            <a:ext cx="2538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FFFFFF"/>
                </a:solidFill>
              </a:rPr>
              <a:t>브랜드명 혼재</a:t>
            </a:r>
            <a:endParaRPr lang="en-US" sz="1900" dirty="0"/>
          </a:p>
        </p:txBody>
      </p:sp>
      <p:sp>
        <p:nvSpPr>
          <p:cNvPr id="10" name="text-51"/>
          <p:cNvSpPr txBox="1"/>
          <p:nvPr/>
        </p:nvSpPr>
        <p:spPr>
          <a:xfrm>
            <a:off x="1463040" y="3264408"/>
            <a:ext cx="258470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5DDE8"/>
                </a:solidFill>
              </a:rPr>
              <a:t>사이트명이 "양명 킹오브김 (해풀잎)"이고, 상품명에 KING OF KIM · 해풀잎 · 사랑둥이 등이 섞여 있어 브랜드 검색으로 이어지기 어렵습니다.</a:t>
            </a:r>
            <a:endParaRPr lang="en-US" sz="1400" dirty="0"/>
          </a:p>
        </p:txBody>
      </p:sp>
      <p:sp>
        <p:nvSpPr>
          <p:cNvPr id="11" name="card-52"/>
          <p:cNvSpPr/>
          <p:nvPr/>
        </p:nvSpPr>
        <p:spPr>
          <a:xfrm>
            <a:off x="4550664" y="1920240"/>
            <a:ext cx="3087624" cy="2971800"/>
          </a:xfrm>
          <a:prstGeom prst="roundRect">
            <a:avLst>
              <a:gd name="adj" fmla="val 3692"/>
            </a:avLst>
          </a:prstGeom>
          <a:solidFill>
            <a:srgbClr val="FFFFFF">
              <a:alpha val="10000"/>
            </a:srgbClr>
          </a:solidFill>
          <a:ln/>
        </p:spPr>
      </p:sp>
      <p:sp>
        <p:nvSpPr>
          <p:cNvPr id="12" name="badge-53"/>
          <p:cNvSpPr/>
          <p:nvPr/>
        </p:nvSpPr>
        <p:spPr>
          <a:xfrm>
            <a:off x="4824984" y="2194560"/>
            <a:ext cx="457200" cy="457200"/>
          </a:xfrm>
          <a:prstGeom prst="ellipse">
            <a:avLst/>
          </a:prstGeom>
          <a:solidFill>
            <a:srgbClr val="3182F6"/>
          </a:solidFill>
          <a:ln/>
        </p:spPr>
      </p:sp>
      <p:sp>
        <p:nvSpPr>
          <p:cNvPr id="13" name="badge-text-53"/>
          <p:cNvSpPr txBox="1"/>
          <p:nvPr/>
        </p:nvSpPr>
        <p:spPr>
          <a:xfrm>
            <a:off x="4824984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4" name="text-54"/>
          <p:cNvSpPr txBox="1"/>
          <p:nvPr/>
        </p:nvSpPr>
        <p:spPr>
          <a:xfrm>
            <a:off x="4824984" y="2788920"/>
            <a:ext cx="2538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FFFFFF"/>
                </a:solidFill>
              </a:rPr>
              <a:t>상품군 이원화</a:t>
            </a:r>
            <a:endParaRPr lang="en-US" sz="1900" dirty="0"/>
          </a:p>
        </p:txBody>
      </p:sp>
      <p:sp>
        <p:nvSpPr>
          <p:cNvPr id="15" name="text-55"/>
          <p:cNvSpPr txBox="1"/>
          <p:nvPr/>
        </p:nvSpPr>
        <p:spPr>
          <a:xfrm>
            <a:off x="4824984" y="3264408"/>
            <a:ext cx="258470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5DDE8"/>
                </a:solidFill>
              </a:rPr>
              <a:t>일상용(도시락김 · 김자반) 1.8~3.1만 원, 선물세트 5.3~16.8만 원. 객단가 높은 선물세트가 광고 효율에 유리합니다.</a:t>
            </a:r>
            <a:endParaRPr lang="en-US" sz="1400" dirty="0"/>
          </a:p>
        </p:txBody>
      </p:sp>
      <p:sp>
        <p:nvSpPr>
          <p:cNvPr id="16" name="card-56"/>
          <p:cNvSpPr/>
          <p:nvPr/>
        </p:nvSpPr>
        <p:spPr>
          <a:xfrm>
            <a:off x="7912608" y="1920240"/>
            <a:ext cx="3087624" cy="2971800"/>
          </a:xfrm>
          <a:prstGeom prst="roundRect">
            <a:avLst>
              <a:gd name="adj" fmla="val 3692"/>
            </a:avLst>
          </a:prstGeom>
          <a:solidFill>
            <a:srgbClr val="FFFFFF">
              <a:alpha val="10000"/>
            </a:srgbClr>
          </a:solidFill>
          <a:ln/>
        </p:spPr>
      </p:sp>
      <p:sp>
        <p:nvSpPr>
          <p:cNvPr id="17" name="badge-57"/>
          <p:cNvSpPr/>
          <p:nvPr/>
        </p:nvSpPr>
        <p:spPr>
          <a:xfrm>
            <a:off x="8186928" y="2194560"/>
            <a:ext cx="457200" cy="457200"/>
          </a:xfrm>
          <a:prstGeom prst="ellipse">
            <a:avLst/>
          </a:prstGeom>
          <a:solidFill>
            <a:srgbClr val="3182F6"/>
          </a:solidFill>
          <a:ln/>
        </p:spPr>
      </p:sp>
      <p:sp>
        <p:nvSpPr>
          <p:cNvPr id="18" name="badge-text-57"/>
          <p:cNvSpPr txBox="1"/>
          <p:nvPr/>
        </p:nvSpPr>
        <p:spPr>
          <a:xfrm>
            <a:off x="8186928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9" name="text-58"/>
          <p:cNvSpPr txBox="1"/>
          <p:nvPr/>
        </p:nvSpPr>
        <p:spPr>
          <a:xfrm>
            <a:off x="8186928" y="2788920"/>
            <a:ext cx="2538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FFFFFF"/>
                </a:solidFill>
              </a:rPr>
              <a:t>리뷰 · 채널 연결 부족</a:t>
            </a:r>
            <a:endParaRPr lang="en-US" sz="1900" dirty="0"/>
          </a:p>
        </p:txBody>
      </p:sp>
      <p:sp>
        <p:nvSpPr>
          <p:cNvPr id="20" name="text-59"/>
          <p:cNvSpPr txBox="1"/>
          <p:nvPr/>
        </p:nvSpPr>
        <p:spPr>
          <a:xfrm>
            <a:off x="8186928" y="3264408"/>
            <a:ext cx="258470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5DDE8"/>
                </a:solidFill>
              </a:rPr>
              <a:t>상품 리뷰가 거의 없고, 하단 SNS 링크가 실제 계정과 연결되어 있지 않습니다.</a:t>
            </a:r>
            <a:endParaRPr lang="en-US" sz="1400" dirty="0"/>
          </a:p>
        </p:txBody>
      </p:sp>
      <p:sp>
        <p:nvSpPr>
          <p:cNvPr id="21" name="card-60"/>
          <p:cNvSpPr/>
          <p:nvPr/>
        </p:nvSpPr>
        <p:spPr>
          <a:xfrm>
            <a:off x="1188720" y="5166360"/>
            <a:ext cx="9811512" cy="731520"/>
          </a:xfrm>
          <a:prstGeom prst="roundRect">
            <a:avLst>
              <a:gd name="adj" fmla="val 15000"/>
            </a:avLst>
          </a:prstGeom>
          <a:solidFill>
            <a:srgbClr val="3182F6">
              <a:alpha val="35000"/>
            </a:srgbClr>
          </a:solidFill>
          <a:ln/>
        </p:spPr>
      </p:sp>
      <p:sp>
        <p:nvSpPr>
          <p:cNvPr id="22" name="text-61"/>
          <p:cNvSpPr txBox="1"/>
          <p:nvPr/>
        </p:nvSpPr>
        <p:spPr>
          <a:xfrm>
            <a:off x="1463040" y="5166360"/>
            <a:ext cx="92628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B0D4FF"/>
                </a:solidFill>
              </a:rPr>
              <a:t>활용 가능 자산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    첫 구매 3,000원 회원가입 쿠폰 운영 중 · 메타 픽셀 설치 완료 (추후 리타겟팅 기반)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464040" y="6473952"/>
            <a:ext cx="5486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FFFF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5" type="body" hasCustomPrompt="1"/>
          </p:nvPr>
        </p:nvSpPr>
        <p:spPr>
          <a:xfrm>
            <a:off x="1188720" y="475488"/>
            <a:ext cx="98115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03</a:t>
            </a:r>
            <a:pPr algn="l" indent="0" marL="0">
              <a:buNone/>
            </a:pPr>
            <a:r>
              <a:rPr lang="en-US" sz="2400" dirty="0">
                <a:solidFill>
                  <a:srgbClr val="FFFFFF"/>
                </a:solidFill>
              </a:rPr>
              <a:t>  원인 확인 방법</a:t>
            </a:r>
            <a:endParaRPr lang="en-US" sz="2400" dirty="0"/>
          </a:p>
        </p:txBody>
      </p:sp>
      <p:sp>
        <p:nvSpPr>
          <p:cNvPr id="3" name="title-rule-strong"/>
          <p:cNvSpPr/>
          <p:nvPr/>
        </p:nvSpPr>
        <p:spPr>
          <a:xfrm>
            <a:off x="4264152" y="822960"/>
            <a:ext cx="777240" cy="274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itle-rule-faint"/>
          <p:cNvSpPr/>
          <p:nvPr/>
        </p:nvSpPr>
        <p:spPr>
          <a:xfrm>
            <a:off x="5041392" y="822960"/>
            <a:ext cx="5958840" cy="27432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</p:sp>
      <p:sp>
        <p:nvSpPr>
          <p:cNvPr id="5" name="Text 3"/>
          <p:cNvSpPr/>
          <p:nvPr>
            <p:ph idx="106" type="title" hasCustomPrompt="1"/>
          </p:nvPr>
        </p:nvSpPr>
        <p:spPr>
          <a:xfrm>
            <a:off x="1188720" y="1069848"/>
            <a:ext cx="9811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FFFFFF"/>
                </a:solidFill>
              </a:rPr>
              <a:t>"인지도 부족"인지 운영 데이터로 구분합니다</a:t>
            </a:r>
            <a:endParaRPr lang="en-US" sz="2600" dirty="0"/>
          </a:p>
        </p:txBody>
      </p:sp>
      <p:sp>
        <p:nvSpPr>
          <p:cNvPr id="6" name="text-62"/>
          <p:cNvSpPr txBox="1"/>
          <p:nvPr/>
        </p:nvSpPr>
        <p:spPr>
          <a:xfrm>
            <a:off x="2103120" y="19202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FB0C5"/>
                </a:solidFill>
              </a:rPr>
              <a:t>확인 질문</a:t>
            </a:r>
            <a:endParaRPr lang="en-US" sz="1200" dirty="0"/>
          </a:p>
        </p:txBody>
      </p:sp>
      <p:sp>
        <p:nvSpPr>
          <p:cNvPr id="7" name="text-63"/>
          <p:cNvSpPr txBox="1"/>
          <p:nvPr/>
        </p:nvSpPr>
        <p:spPr>
          <a:xfrm>
            <a:off x="4343400" y="192024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FB0C5"/>
                </a:solidFill>
              </a:rPr>
              <a:t>확인 지표</a:t>
            </a:r>
            <a:endParaRPr lang="en-US" sz="1200" dirty="0"/>
          </a:p>
        </p:txBody>
      </p:sp>
      <p:sp>
        <p:nvSpPr>
          <p:cNvPr id="8" name="text-64"/>
          <p:cNvSpPr txBox="1"/>
          <p:nvPr/>
        </p:nvSpPr>
        <p:spPr>
          <a:xfrm>
            <a:off x="7589520" y="19202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FB0C5"/>
                </a:solidFill>
              </a:rPr>
              <a:t>판단</a:t>
            </a:r>
            <a:endParaRPr lang="en-US" sz="1200" dirty="0"/>
          </a:p>
        </p:txBody>
      </p:sp>
      <p:sp>
        <p:nvSpPr>
          <p:cNvPr id="9" name="card-65"/>
          <p:cNvSpPr/>
          <p:nvPr/>
        </p:nvSpPr>
        <p:spPr>
          <a:xfrm>
            <a:off x="1188720" y="2267712"/>
            <a:ext cx="9811512" cy="914400"/>
          </a:xfrm>
          <a:prstGeom prst="roundRect">
            <a:avLst>
              <a:gd name="adj" fmla="val 12000"/>
            </a:avLst>
          </a:prstGeom>
          <a:solidFill>
            <a:srgbClr val="FFFFFF">
              <a:alpha val="10000"/>
            </a:srgbClr>
          </a:solidFill>
          <a:ln/>
        </p:spPr>
      </p:sp>
      <p:sp>
        <p:nvSpPr>
          <p:cNvPr id="10" name="badge-66"/>
          <p:cNvSpPr/>
          <p:nvPr/>
        </p:nvSpPr>
        <p:spPr>
          <a:xfrm>
            <a:off x="1463040" y="2505456"/>
            <a:ext cx="438912" cy="438912"/>
          </a:xfrm>
          <a:prstGeom prst="ellipse">
            <a:avLst/>
          </a:prstGeom>
          <a:solidFill>
            <a:srgbClr val="3182F6"/>
          </a:solidFill>
          <a:ln/>
        </p:spPr>
      </p:sp>
      <p:sp>
        <p:nvSpPr>
          <p:cNvPr id="11" name="badge-text-66"/>
          <p:cNvSpPr txBox="1"/>
          <p:nvPr/>
        </p:nvSpPr>
        <p:spPr>
          <a:xfrm>
            <a:off x="1463040" y="250545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12" name="text-67"/>
          <p:cNvSpPr txBox="1"/>
          <p:nvPr/>
        </p:nvSpPr>
        <p:spPr>
          <a:xfrm>
            <a:off x="2103120" y="2267712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</a:rPr>
              <a:t>노출 문제?</a:t>
            </a:r>
            <a:endParaRPr lang="en-US" sz="1800" dirty="0"/>
          </a:p>
        </p:txBody>
      </p:sp>
      <p:sp>
        <p:nvSpPr>
          <p:cNvPr id="13" name="text-68"/>
          <p:cNvSpPr txBox="1"/>
          <p:nvPr/>
        </p:nvSpPr>
        <p:spPr>
          <a:xfrm>
            <a:off x="4343400" y="2267712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5DDE8"/>
                </a:solidFill>
              </a:rPr>
              <a:t>브랜드 검색량, 쇼핑검색 노출수</a:t>
            </a:r>
            <a:endParaRPr lang="en-US" sz="1400" dirty="0"/>
          </a:p>
        </p:txBody>
      </p:sp>
      <p:sp>
        <p:nvSpPr>
          <p:cNvPr id="14" name="text-69"/>
          <p:cNvSpPr txBox="1"/>
          <p:nvPr/>
        </p:nvSpPr>
        <p:spPr>
          <a:xfrm>
            <a:off x="7589520" y="2267712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B0D4FF"/>
                </a:solidFill>
              </a:rPr>
              <a:t>검색량이 거의 없으면 인지도 문제</a:t>
            </a:r>
            <a:endParaRPr lang="en-US" sz="1400" dirty="0"/>
          </a:p>
        </p:txBody>
      </p:sp>
      <p:sp>
        <p:nvSpPr>
          <p:cNvPr id="15" name="card-70"/>
          <p:cNvSpPr/>
          <p:nvPr/>
        </p:nvSpPr>
        <p:spPr>
          <a:xfrm>
            <a:off x="1188720" y="3456432"/>
            <a:ext cx="9811512" cy="914400"/>
          </a:xfrm>
          <a:prstGeom prst="roundRect">
            <a:avLst>
              <a:gd name="adj" fmla="val 12000"/>
            </a:avLst>
          </a:prstGeom>
          <a:solidFill>
            <a:srgbClr val="FFFFFF">
              <a:alpha val="10000"/>
            </a:srgbClr>
          </a:solidFill>
          <a:ln/>
        </p:spPr>
      </p:sp>
      <p:sp>
        <p:nvSpPr>
          <p:cNvPr id="16" name="badge-71"/>
          <p:cNvSpPr/>
          <p:nvPr/>
        </p:nvSpPr>
        <p:spPr>
          <a:xfrm>
            <a:off x="1463040" y="3694176"/>
            <a:ext cx="438912" cy="438912"/>
          </a:xfrm>
          <a:prstGeom prst="ellipse">
            <a:avLst/>
          </a:prstGeom>
          <a:solidFill>
            <a:srgbClr val="3182F6"/>
          </a:solidFill>
          <a:ln/>
        </p:spPr>
      </p:sp>
      <p:sp>
        <p:nvSpPr>
          <p:cNvPr id="17" name="badge-text-71"/>
          <p:cNvSpPr txBox="1"/>
          <p:nvPr/>
        </p:nvSpPr>
        <p:spPr>
          <a:xfrm>
            <a:off x="1463040" y="36941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8" name="text-72"/>
          <p:cNvSpPr txBox="1"/>
          <p:nvPr/>
        </p:nvSpPr>
        <p:spPr>
          <a:xfrm>
            <a:off x="2103120" y="3456432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</a:rPr>
              <a:t>전환 문제?</a:t>
            </a:r>
            <a:endParaRPr lang="en-US" sz="1800" dirty="0"/>
          </a:p>
        </p:txBody>
      </p:sp>
      <p:sp>
        <p:nvSpPr>
          <p:cNvPr id="19" name="text-73"/>
          <p:cNvSpPr txBox="1"/>
          <p:nvPr/>
        </p:nvSpPr>
        <p:spPr>
          <a:xfrm>
            <a:off x="4343400" y="3456432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5DDE8"/>
                </a:solidFill>
              </a:rPr>
              <a:t>유입 대비 구매전환율</a:t>
            </a:r>
            <a:endParaRPr lang="en-US" sz="1400" dirty="0"/>
          </a:p>
        </p:txBody>
      </p:sp>
      <p:sp>
        <p:nvSpPr>
          <p:cNvPr id="20" name="text-74"/>
          <p:cNvSpPr txBox="1"/>
          <p:nvPr/>
        </p:nvSpPr>
        <p:spPr>
          <a:xfrm>
            <a:off x="7589520" y="3456432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B0D4FF"/>
                </a:solidFill>
              </a:rPr>
              <a:t>유입은 있는데 구매가 없으면 리뷰 · 가격 · 상세페이지 문제</a:t>
            </a:r>
            <a:endParaRPr lang="en-US" sz="1400" dirty="0"/>
          </a:p>
        </p:txBody>
      </p:sp>
      <p:sp>
        <p:nvSpPr>
          <p:cNvPr id="21" name="card-75"/>
          <p:cNvSpPr/>
          <p:nvPr/>
        </p:nvSpPr>
        <p:spPr>
          <a:xfrm>
            <a:off x="1188720" y="4645152"/>
            <a:ext cx="9811512" cy="914400"/>
          </a:xfrm>
          <a:prstGeom prst="roundRect">
            <a:avLst>
              <a:gd name="adj" fmla="val 12000"/>
            </a:avLst>
          </a:prstGeom>
          <a:solidFill>
            <a:srgbClr val="FFFFFF">
              <a:alpha val="10000"/>
            </a:srgbClr>
          </a:solidFill>
          <a:ln/>
        </p:spPr>
      </p:sp>
      <p:sp>
        <p:nvSpPr>
          <p:cNvPr id="22" name="badge-76"/>
          <p:cNvSpPr/>
          <p:nvPr/>
        </p:nvSpPr>
        <p:spPr>
          <a:xfrm>
            <a:off x="1463040" y="4882896"/>
            <a:ext cx="438912" cy="438912"/>
          </a:xfrm>
          <a:prstGeom prst="ellipse">
            <a:avLst/>
          </a:prstGeom>
          <a:solidFill>
            <a:srgbClr val="3182F6"/>
          </a:solidFill>
          <a:ln/>
        </p:spPr>
      </p:sp>
      <p:sp>
        <p:nvSpPr>
          <p:cNvPr id="23" name="badge-text-76"/>
          <p:cNvSpPr txBox="1"/>
          <p:nvPr/>
        </p:nvSpPr>
        <p:spPr>
          <a:xfrm>
            <a:off x="1463040" y="488289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24" name="text-77"/>
          <p:cNvSpPr txBox="1"/>
          <p:nvPr/>
        </p:nvSpPr>
        <p:spPr>
          <a:xfrm>
            <a:off x="2103120" y="4645152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</a:rPr>
              <a:t>가격 문제?</a:t>
            </a:r>
            <a:endParaRPr lang="en-US" sz="1800" dirty="0"/>
          </a:p>
        </p:txBody>
      </p:sp>
      <p:sp>
        <p:nvSpPr>
          <p:cNvPr id="25" name="text-78"/>
          <p:cNvSpPr txBox="1"/>
          <p:nvPr/>
        </p:nvSpPr>
        <p:spPr>
          <a:xfrm>
            <a:off x="4343400" y="4645152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5DDE8"/>
                </a:solidFill>
              </a:rPr>
              <a:t>경쟁사 동일 규격 가격 · 리뷰 수, 세트별 전환율</a:t>
            </a:r>
            <a:endParaRPr lang="en-US" sz="1400" dirty="0"/>
          </a:p>
        </p:txBody>
      </p:sp>
      <p:sp>
        <p:nvSpPr>
          <p:cNvPr id="26" name="text-79"/>
          <p:cNvSpPr txBox="1"/>
          <p:nvPr/>
        </p:nvSpPr>
        <p:spPr>
          <a:xfrm>
            <a:off x="7589520" y="4645152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B0D4FF"/>
                </a:solidFill>
              </a:rPr>
              <a:t>가격 경쟁력과 세트 구성 조정 필요 여부</a:t>
            </a:r>
            <a:endParaRPr lang="en-US" sz="1400" dirty="0"/>
          </a:p>
        </p:txBody>
      </p:sp>
      <p:sp>
        <p:nvSpPr>
          <p:cNvPr id="27" name="text-80"/>
          <p:cNvSpPr txBox="1"/>
          <p:nvPr/>
        </p:nvSpPr>
        <p:spPr>
          <a:xfrm>
            <a:off x="1188720" y="571500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FB0C5"/>
                </a:solidFill>
              </a:rPr>
              <a:t>정량 소비자 조사는 범위 외입니다. 위 데이터는 매월 리포트로 제공해 양명의 추가 조사 · 의사결정 근거로 활용할 수 있게 합니다.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464040" y="6473952"/>
            <a:ext cx="5486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FFFF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5" type="body" hasCustomPrompt="1"/>
          </p:nvPr>
        </p:nvSpPr>
        <p:spPr>
          <a:xfrm>
            <a:off x="1188720" y="475488"/>
            <a:ext cx="98115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04</a:t>
            </a:r>
            <a:pPr algn="l" indent="0" marL="0">
              <a:buNone/>
            </a:pPr>
            <a:r>
              <a:rPr lang="en-US" sz="2400" dirty="0">
                <a:solidFill>
                  <a:srgbClr val="FFFFFF"/>
                </a:solidFill>
              </a:rPr>
              <a:t>  전략 방향</a:t>
            </a:r>
            <a:endParaRPr lang="en-US" sz="2400" dirty="0"/>
          </a:p>
        </p:txBody>
      </p:sp>
      <p:sp>
        <p:nvSpPr>
          <p:cNvPr id="3" name="title-rule-strong"/>
          <p:cNvSpPr/>
          <p:nvPr/>
        </p:nvSpPr>
        <p:spPr>
          <a:xfrm>
            <a:off x="3563112" y="822960"/>
            <a:ext cx="777240" cy="274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itle-rule-faint"/>
          <p:cNvSpPr/>
          <p:nvPr/>
        </p:nvSpPr>
        <p:spPr>
          <a:xfrm>
            <a:off x="4340352" y="822960"/>
            <a:ext cx="6659880" cy="27432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</p:sp>
      <p:sp>
        <p:nvSpPr>
          <p:cNvPr id="5" name="Text 3"/>
          <p:cNvSpPr/>
          <p:nvPr>
            <p:ph idx="106" type="title" hasCustomPrompt="1"/>
          </p:nvPr>
        </p:nvSpPr>
        <p:spPr>
          <a:xfrm>
            <a:off x="1188720" y="1069848"/>
            <a:ext cx="9811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FFFFFF"/>
                </a:solidFill>
              </a:rPr>
              <a:t>리뷰 → 검색 → 구매 → 재구매 순서로 갑니다</a:t>
            </a:r>
            <a:endParaRPr lang="en-US" sz="2600" dirty="0"/>
          </a:p>
        </p:txBody>
      </p:sp>
      <p:sp>
        <p:nvSpPr>
          <p:cNvPr id="6" name="badge-81"/>
          <p:cNvSpPr/>
          <p:nvPr/>
        </p:nvSpPr>
        <p:spPr>
          <a:xfrm>
            <a:off x="1188720" y="1965960"/>
            <a:ext cx="1188720" cy="1188720"/>
          </a:xfrm>
          <a:prstGeom prst="ellipse">
            <a:avLst/>
          </a:prstGeom>
          <a:solidFill>
            <a:srgbClr val="3182F6"/>
          </a:solidFill>
          <a:ln/>
        </p:spPr>
      </p:sp>
      <p:sp>
        <p:nvSpPr>
          <p:cNvPr id="7" name="badge-text-81"/>
          <p:cNvSpPr txBox="1"/>
          <p:nvPr/>
        </p:nvSpPr>
        <p:spPr>
          <a:xfrm>
            <a:off x="1188720" y="196596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리뷰</a:t>
            </a:r>
            <a:endParaRPr lang="en-US" sz="2000" dirty="0"/>
          </a:p>
        </p:txBody>
      </p:sp>
      <p:sp>
        <p:nvSpPr>
          <p:cNvPr id="8" name="text-82"/>
          <p:cNvSpPr txBox="1"/>
          <p:nvPr/>
        </p:nvSpPr>
        <p:spPr>
          <a:xfrm>
            <a:off x="1188720" y="3337560"/>
            <a:ext cx="21556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D5DDE8"/>
                </a:solidFill>
              </a:rPr>
              <a:t>체험단으로 구매 결정 근거 확보</a:t>
            </a:r>
            <a:endParaRPr lang="en-US" sz="1500" dirty="0"/>
          </a:p>
        </p:txBody>
      </p:sp>
      <p:sp>
        <p:nvSpPr>
          <p:cNvPr id="9" name="arrow-0"/>
          <p:cNvSpPr/>
          <p:nvPr/>
        </p:nvSpPr>
        <p:spPr>
          <a:xfrm>
            <a:off x="2560320" y="2560320"/>
            <a:ext cx="966978" cy="0"/>
          </a:xfrm>
          <a:prstGeom prst="line">
            <a:avLst/>
          </a:prstGeom>
          <a:noFill/>
          <a:ln w="31750">
            <a:solidFill>
              <a:srgbClr val="B0D4FF"/>
            </a:solidFill>
            <a:prstDash val="solid"/>
            <a:tailEnd type="triangle"/>
          </a:ln>
        </p:spPr>
      </p:sp>
      <p:sp>
        <p:nvSpPr>
          <p:cNvPr id="10" name="badge-83"/>
          <p:cNvSpPr/>
          <p:nvPr/>
        </p:nvSpPr>
        <p:spPr>
          <a:xfrm>
            <a:off x="3710178" y="1965960"/>
            <a:ext cx="1188720" cy="1188720"/>
          </a:xfrm>
          <a:prstGeom prst="ellipse">
            <a:avLst/>
          </a:prstGeom>
          <a:solidFill>
            <a:srgbClr val="3182F6"/>
          </a:solidFill>
          <a:ln/>
        </p:spPr>
      </p:sp>
      <p:sp>
        <p:nvSpPr>
          <p:cNvPr id="11" name="badge-text-83"/>
          <p:cNvSpPr txBox="1"/>
          <p:nvPr/>
        </p:nvSpPr>
        <p:spPr>
          <a:xfrm>
            <a:off x="3710178" y="196596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검색</a:t>
            </a:r>
            <a:endParaRPr lang="en-US" sz="2000" dirty="0"/>
          </a:p>
        </p:txBody>
      </p:sp>
      <p:sp>
        <p:nvSpPr>
          <p:cNvPr id="12" name="text-84"/>
          <p:cNvSpPr txBox="1"/>
          <p:nvPr/>
        </p:nvSpPr>
        <p:spPr>
          <a:xfrm>
            <a:off x="3710178" y="3337560"/>
            <a:ext cx="21556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D5DDE8"/>
                </a:solidFill>
              </a:rPr>
              <a:t>쇼핑검색 · 브랜드 키워드 노출</a:t>
            </a:r>
            <a:endParaRPr lang="en-US" sz="1500" dirty="0"/>
          </a:p>
        </p:txBody>
      </p:sp>
      <p:sp>
        <p:nvSpPr>
          <p:cNvPr id="13" name="arrow-1"/>
          <p:cNvSpPr/>
          <p:nvPr/>
        </p:nvSpPr>
        <p:spPr>
          <a:xfrm>
            <a:off x="5081778" y="2560320"/>
            <a:ext cx="966978" cy="0"/>
          </a:xfrm>
          <a:prstGeom prst="line">
            <a:avLst/>
          </a:prstGeom>
          <a:noFill/>
          <a:ln w="31750">
            <a:solidFill>
              <a:srgbClr val="B0D4FF"/>
            </a:solidFill>
            <a:prstDash val="solid"/>
            <a:tailEnd type="triangle"/>
          </a:ln>
        </p:spPr>
      </p:sp>
      <p:sp>
        <p:nvSpPr>
          <p:cNvPr id="14" name="badge-85"/>
          <p:cNvSpPr/>
          <p:nvPr/>
        </p:nvSpPr>
        <p:spPr>
          <a:xfrm>
            <a:off x="6231636" y="1965960"/>
            <a:ext cx="1188720" cy="11887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5" name="badge-text-85"/>
          <p:cNvSpPr txBox="1"/>
          <p:nvPr/>
        </p:nvSpPr>
        <p:spPr>
          <a:xfrm>
            <a:off x="6231636" y="196596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182F6"/>
                </a:solidFill>
              </a:rPr>
              <a:t>구매</a:t>
            </a:r>
            <a:endParaRPr lang="en-US" sz="2000" dirty="0"/>
          </a:p>
        </p:txBody>
      </p:sp>
      <p:sp>
        <p:nvSpPr>
          <p:cNvPr id="16" name="text-86"/>
          <p:cNvSpPr txBox="1"/>
          <p:nvPr/>
        </p:nvSpPr>
        <p:spPr>
          <a:xfrm>
            <a:off x="6231636" y="3337560"/>
            <a:ext cx="21556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D5DDE8"/>
                </a:solidFill>
              </a:rPr>
              <a:t>리뷰 갖춘 대표 상품으로 전환</a:t>
            </a:r>
            <a:endParaRPr lang="en-US" sz="1500" dirty="0"/>
          </a:p>
        </p:txBody>
      </p:sp>
      <p:sp>
        <p:nvSpPr>
          <p:cNvPr id="17" name="arrow-2"/>
          <p:cNvSpPr/>
          <p:nvPr/>
        </p:nvSpPr>
        <p:spPr>
          <a:xfrm>
            <a:off x="7603236" y="2560320"/>
            <a:ext cx="966978" cy="0"/>
          </a:xfrm>
          <a:prstGeom prst="line">
            <a:avLst/>
          </a:prstGeom>
          <a:noFill/>
          <a:ln w="31750">
            <a:solidFill>
              <a:srgbClr val="B0D4FF"/>
            </a:solidFill>
            <a:prstDash val="solid"/>
            <a:tailEnd type="triangle"/>
          </a:ln>
        </p:spPr>
      </p:sp>
      <p:sp>
        <p:nvSpPr>
          <p:cNvPr id="18" name="badge-87"/>
          <p:cNvSpPr/>
          <p:nvPr/>
        </p:nvSpPr>
        <p:spPr>
          <a:xfrm>
            <a:off x="8753094" y="1965960"/>
            <a:ext cx="1188720" cy="1188720"/>
          </a:xfrm>
          <a:prstGeom prst="ellipse">
            <a:avLst/>
          </a:prstGeom>
          <a:solidFill>
            <a:srgbClr val="3182F6"/>
          </a:solidFill>
          <a:ln/>
        </p:spPr>
      </p:sp>
      <p:sp>
        <p:nvSpPr>
          <p:cNvPr id="19" name="badge-text-87"/>
          <p:cNvSpPr txBox="1"/>
          <p:nvPr/>
        </p:nvSpPr>
        <p:spPr>
          <a:xfrm>
            <a:off x="8753094" y="196596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재구매</a:t>
            </a:r>
            <a:endParaRPr lang="en-US" sz="2000" dirty="0"/>
          </a:p>
        </p:txBody>
      </p:sp>
      <p:sp>
        <p:nvSpPr>
          <p:cNvPr id="20" name="text-88"/>
          <p:cNvSpPr txBox="1"/>
          <p:nvPr/>
        </p:nvSpPr>
        <p:spPr>
          <a:xfrm>
            <a:off x="8753094" y="3337560"/>
            <a:ext cx="21556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D5DDE8"/>
                </a:solidFill>
              </a:rPr>
              <a:t>알림받기 · 재구매 쿠폰 권장</a:t>
            </a:r>
            <a:endParaRPr lang="en-US" sz="1500" dirty="0"/>
          </a:p>
        </p:txBody>
      </p:sp>
      <p:sp>
        <p:nvSpPr>
          <p:cNvPr id="21" name="card-89"/>
          <p:cNvSpPr/>
          <p:nvPr/>
        </p:nvSpPr>
        <p:spPr>
          <a:xfrm>
            <a:off x="1188720" y="4114800"/>
            <a:ext cx="9811512" cy="1783080"/>
          </a:xfrm>
          <a:prstGeom prst="roundRect">
            <a:avLst>
              <a:gd name="adj" fmla="val 6154"/>
            </a:avLst>
          </a:prstGeom>
          <a:solidFill>
            <a:srgbClr val="3182F6">
              <a:alpha val="35000"/>
            </a:srgbClr>
          </a:solidFill>
          <a:ln/>
        </p:spPr>
      </p:sp>
      <p:sp>
        <p:nvSpPr>
          <p:cNvPr id="22" name="text-90"/>
          <p:cNvSpPr txBox="1"/>
          <p:nvPr/>
        </p:nvSpPr>
        <p:spPr>
          <a:xfrm>
            <a:off x="1508760" y="4389120"/>
            <a:ext cx="9171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FFFFFF"/>
                </a:solidFill>
              </a:rPr>
              <a:t>브랜드명 · 패키지는 그대로 유지합니다</a:t>
            </a:r>
            <a:endParaRPr lang="en-US" sz="1900" dirty="0"/>
          </a:p>
        </p:txBody>
      </p:sp>
      <p:sp>
        <p:nvSpPr>
          <p:cNvPr id="23" name="text-91"/>
          <p:cNvSpPr txBox="1"/>
          <p:nvPr/>
        </p:nvSpPr>
        <p:spPr>
          <a:xfrm>
            <a:off x="1508760" y="4864608"/>
            <a:ext cx="91714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대신 상품명 · 광고 문구 · 체험단 콘텐츠에서 "KING OF KIM"을 일관되게 노출해, 구매 경험이 브랜드 검색으로 이어지게 만듭니다. 리뷰가 없는 상태의 광고는 밑 빠진 독에 물 붓기와 같아서, 리뷰부터 채우고 광고를 늘립니다.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464040" y="6473952"/>
            <a:ext cx="5486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FFFF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5" type="body" hasCustomPrompt="1"/>
          </p:nvPr>
        </p:nvSpPr>
        <p:spPr>
          <a:xfrm>
            <a:off x="1188720" y="475488"/>
            <a:ext cx="98115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04</a:t>
            </a:r>
            <a:pPr algn="l" indent="0" marL="0">
              <a:buNone/>
            </a:pPr>
            <a:r>
              <a:rPr lang="en-US" sz="2400" dirty="0">
                <a:solidFill>
                  <a:srgbClr val="FFFFFF"/>
                </a:solidFill>
              </a:rPr>
              <a:t>  채널 전략</a:t>
            </a:r>
            <a:endParaRPr lang="en-US" sz="2400" dirty="0"/>
          </a:p>
        </p:txBody>
      </p:sp>
      <p:sp>
        <p:nvSpPr>
          <p:cNvPr id="3" name="title-rule-strong"/>
          <p:cNvSpPr/>
          <p:nvPr/>
        </p:nvSpPr>
        <p:spPr>
          <a:xfrm>
            <a:off x="3563112" y="822960"/>
            <a:ext cx="777240" cy="274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itle-rule-faint"/>
          <p:cNvSpPr/>
          <p:nvPr/>
        </p:nvSpPr>
        <p:spPr>
          <a:xfrm>
            <a:off x="4340352" y="822960"/>
            <a:ext cx="6659880" cy="27432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</p:sp>
      <p:sp>
        <p:nvSpPr>
          <p:cNvPr id="5" name="Text 3"/>
          <p:cNvSpPr/>
          <p:nvPr>
            <p:ph idx="106" type="title" hasCustomPrompt="1"/>
          </p:nvPr>
        </p:nvSpPr>
        <p:spPr>
          <a:xfrm>
            <a:off x="1188720" y="1069848"/>
            <a:ext cx="9811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FFFFFF"/>
                </a:solidFill>
              </a:rPr>
              <a:t>네이버 쇼핑검색을 주력으로, 쿠팡은 단계 확대</a:t>
            </a:r>
            <a:endParaRPr lang="en-US" sz="2600" dirty="0"/>
          </a:p>
        </p:txBody>
      </p:sp>
      <p:sp>
        <p:nvSpPr>
          <p:cNvPr id="6" name="card-92"/>
          <p:cNvSpPr/>
          <p:nvPr/>
        </p:nvSpPr>
        <p:spPr>
          <a:xfrm>
            <a:off x="1188720" y="1920240"/>
            <a:ext cx="3087624" cy="3657600"/>
          </a:xfrm>
          <a:prstGeom prst="roundRect">
            <a:avLst>
              <a:gd name="adj" fmla="val 3554"/>
            </a:avLst>
          </a:prstGeom>
          <a:solidFill>
            <a:srgbClr val="FFFFFF">
              <a:alpha val="10000"/>
            </a:srgbClr>
          </a:solidFill>
          <a:ln/>
        </p:spPr>
      </p:sp>
      <p:sp>
        <p:nvSpPr>
          <p:cNvPr id="7" name="text-93"/>
          <p:cNvSpPr txBox="1"/>
          <p:nvPr/>
        </p:nvSpPr>
        <p:spPr>
          <a:xfrm>
            <a:off x="1463040" y="214884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800" b="1" dirty="0">
                <a:solidFill>
                  <a:srgbClr val="B0D4FF"/>
                </a:solidFill>
              </a:rPr>
              <a:t>50%</a:t>
            </a:r>
            <a:endParaRPr lang="en-US" sz="3800" dirty="0"/>
          </a:p>
        </p:txBody>
      </p:sp>
      <p:sp>
        <p:nvSpPr>
          <p:cNvPr id="8" name="tag-0"/>
          <p:cNvSpPr/>
          <p:nvPr/>
        </p:nvSpPr>
        <p:spPr>
          <a:xfrm>
            <a:off x="3316224" y="2295144"/>
            <a:ext cx="68580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9" name="text-94"/>
          <p:cNvSpPr txBox="1"/>
          <p:nvPr/>
        </p:nvSpPr>
        <p:spPr>
          <a:xfrm>
            <a:off x="3316224" y="2295144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3182F6"/>
                </a:solidFill>
              </a:rPr>
              <a:t>주력</a:t>
            </a:r>
            <a:endParaRPr lang="en-US" sz="1300" dirty="0"/>
          </a:p>
        </p:txBody>
      </p:sp>
      <p:sp>
        <p:nvSpPr>
          <p:cNvPr id="10" name="text-95"/>
          <p:cNvSpPr txBox="1"/>
          <p:nvPr/>
        </p:nvSpPr>
        <p:spPr>
          <a:xfrm>
            <a:off x="1463040" y="2971800"/>
            <a:ext cx="2538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FFFFFF"/>
                </a:solidFill>
              </a:rPr>
              <a:t>네이버 쇼핑검색</a:t>
            </a:r>
            <a:endParaRPr lang="en-US" sz="1900" dirty="0"/>
          </a:p>
        </p:txBody>
      </p:sp>
      <p:sp>
        <p:nvSpPr>
          <p:cNvPr id="11" name="text-96"/>
          <p:cNvSpPr txBox="1"/>
          <p:nvPr/>
        </p:nvSpPr>
        <p:spPr>
          <a:xfrm>
            <a:off x="1463040" y="3493008"/>
            <a:ext cx="2630424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D5DDE8"/>
                </a:solidFill>
              </a:rPr>
              <a:t>가격 · 리뷰 비교 구매 품목이라 구매와 가장 가까운 지면</a:t>
            </a:r>
            <a:endParaRPr lang="en-US" sz="140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D5DDE8"/>
                </a:solidFill>
              </a:rPr>
              <a:t>도시락김 · 곱창김 · 김자반 + 용도 키워드</a:t>
            </a:r>
            <a:endParaRPr lang="en-US" sz="140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D5DDE8"/>
                </a:solidFill>
              </a:rPr>
              <a:t>경쟁이 덜한 세부 키워드부터 시작</a:t>
            </a:r>
            <a:endParaRPr lang="en-US" sz="1400" dirty="0"/>
          </a:p>
        </p:txBody>
      </p:sp>
      <p:sp>
        <p:nvSpPr>
          <p:cNvPr id="12" name="card-97"/>
          <p:cNvSpPr/>
          <p:nvPr/>
        </p:nvSpPr>
        <p:spPr>
          <a:xfrm>
            <a:off x="4550664" y="1920240"/>
            <a:ext cx="3087624" cy="3657600"/>
          </a:xfrm>
          <a:prstGeom prst="roundRect">
            <a:avLst>
              <a:gd name="adj" fmla="val 3554"/>
            </a:avLst>
          </a:prstGeom>
          <a:solidFill>
            <a:srgbClr val="FFFFFF">
              <a:alpha val="10000"/>
            </a:srgbClr>
          </a:solidFill>
          <a:ln/>
        </p:spPr>
      </p:sp>
      <p:sp>
        <p:nvSpPr>
          <p:cNvPr id="13" name="text-98"/>
          <p:cNvSpPr txBox="1"/>
          <p:nvPr/>
        </p:nvSpPr>
        <p:spPr>
          <a:xfrm>
            <a:off x="4824984" y="214884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800" b="1" dirty="0">
                <a:solidFill>
                  <a:srgbClr val="B0D4FF"/>
                </a:solidFill>
              </a:rPr>
              <a:t>17%</a:t>
            </a:r>
            <a:endParaRPr lang="en-US" sz="3800" dirty="0"/>
          </a:p>
        </p:txBody>
      </p:sp>
      <p:sp>
        <p:nvSpPr>
          <p:cNvPr id="14" name="tag-1"/>
          <p:cNvSpPr/>
          <p:nvPr/>
        </p:nvSpPr>
        <p:spPr>
          <a:xfrm>
            <a:off x="6678168" y="2295144"/>
            <a:ext cx="68580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5" name="text-99"/>
          <p:cNvSpPr txBox="1"/>
          <p:nvPr/>
        </p:nvSpPr>
        <p:spPr>
          <a:xfrm>
            <a:off x="6678168" y="2295144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3182F6"/>
                </a:solidFill>
              </a:rPr>
              <a:t>보조</a:t>
            </a:r>
            <a:endParaRPr lang="en-US" sz="1300" dirty="0"/>
          </a:p>
        </p:txBody>
      </p:sp>
      <p:sp>
        <p:nvSpPr>
          <p:cNvPr id="16" name="text-100"/>
          <p:cNvSpPr txBox="1"/>
          <p:nvPr/>
        </p:nvSpPr>
        <p:spPr>
          <a:xfrm>
            <a:off x="4824984" y="2971800"/>
            <a:ext cx="2538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FFFFFF"/>
                </a:solidFill>
              </a:rPr>
              <a:t>네이버 파워링크</a:t>
            </a:r>
            <a:endParaRPr lang="en-US" sz="1900" dirty="0"/>
          </a:p>
        </p:txBody>
      </p:sp>
      <p:sp>
        <p:nvSpPr>
          <p:cNvPr id="17" name="text-101"/>
          <p:cNvSpPr txBox="1"/>
          <p:nvPr/>
        </p:nvSpPr>
        <p:spPr>
          <a:xfrm>
            <a:off x="4824984" y="3493008"/>
            <a:ext cx="2630424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D5DDE8"/>
                </a:solidFill>
              </a:rPr>
              <a:t>"킹오브김" 브랜드 키워드 방어</a:t>
            </a:r>
            <a:endParaRPr lang="en-US" sz="140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D5DDE8"/>
                </a:solidFill>
              </a:rPr>
              <a:t>선물세트 키워드는 자사몰 선물세트 페이지로 연결</a:t>
            </a:r>
            <a:endParaRPr lang="en-US" sz="140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D5DDE8"/>
                </a:solidFill>
              </a:rPr>
              <a:t>고단가 상품 판매 담당</a:t>
            </a:r>
            <a:endParaRPr lang="en-US" sz="1400" dirty="0"/>
          </a:p>
        </p:txBody>
      </p:sp>
      <p:sp>
        <p:nvSpPr>
          <p:cNvPr id="18" name="card-102"/>
          <p:cNvSpPr/>
          <p:nvPr/>
        </p:nvSpPr>
        <p:spPr>
          <a:xfrm>
            <a:off x="7912608" y="1920240"/>
            <a:ext cx="3087624" cy="3657600"/>
          </a:xfrm>
          <a:prstGeom prst="roundRect">
            <a:avLst>
              <a:gd name="adj" fmla="val 3554"/>
            </a:avLst>
          </a:prstGeom>
          <a:solidFill>
            <a:srgbClr val="FFFFFF">
              <a:alpha val="10000"/>
            </a:srgbClr>
          </a:solidFill>
          <a:ln/>
        </p:spPr>
      </p:sp>
      <p:sp>
        <p:nvSpPr>
          <p:cNvPr id="19" name="text-103"/>
          <p:cNvSpPr txBox="1"/>
          <p:nvPr/>
        </p:nvSpPr>
        <p:spPr>
          <a:xfrm>
            <a:off x="8186928" y="214884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800" b="1" dirty="0">
                <a:solidFill>
                  <a:srgbClr val="B0D4FF"/>
                </a:solidFill>
              </a:rPr>
              <a:t>33%</a:t>
            </a:r>
            <a:endParaRPr lang="en-US" sz="3800" dirty="0"/>
          </a:p>
        </p:txBody>
      </p:sp>
      <p:sp>
        <p:nvSpPr>
          <p:cNvPr id="20" name="tag-2"/>
          <p:cNvSpPr/>
          <p:nvPr/>
        </p:nvSpPr>
        <p:spPr>
          <a:xfrm>
            <a:off x="9674352" y="2295144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21" name="text-104"/>
          <p:cNvSpPr txBox="1"/>
          <p:nvPr/>
        </p:nvSpPr>
        <p:spPr>
          <a:xfrm>
            <a:off x="9674352" y="2295144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3182F6"/>
                </a:solidFill>
              </a:rPr>
              <a:t>단계 확대</a:t>
            </a:r>
            <a:endParaRPr lang="en-US" sz="1300" dirty="0"/>
          </a:p>
        </p:txBody>
      </p:sp>
      <p:sp>
        <p:nvSpPr>
          <p:cNvPr id="22" name="text-105"/>
          <p:cNvSpPr txBox="1"/>
          <p:nvPr/>
        </p:nvSpPr>
        <p:spPr>
          <a:xfrm>
            <a:off x="8186928" y="2971800"/>
            <a:ext cx="2538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FFFFFF"/>
                </a:solidFill>
              </a:rPr>
              <a:t>쿠팡 광고</a:t>
            </a:r>
            <a:endParaRPr lang="en-US" sz="1900" dirty="0"/>
          </a:p>
        </p:txBody>
      </p:sp>
      <p:sp>
        <p:nvSpPr>
          <p:cNvPr id="23" name="text-106"/>
          <p:cNvSpPr txBox="1"/>
          <p:nvPr/>
        </p:nvSpPr>
        <p:spPr>
          <a:xfrm>
            <a:off x="8186928" y="3493008"/>
            <a:ext cx="2630424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D5DDE8"/>
                </a:solidFill>
              </a:rPr>
              <a:t>대표 상품(대용량 도시락김 · 김자반) 중심</a:t>
            </a:r>
            <a:endParaRPr lang="en-US" sz="140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D5DDE8"/>
                </a:solidFill>
              </a:rPr>
              <a:t>리뷰 축적 속도에 맞춰 증액</a:t>
            </a:r>
            <a:endParaRPr lang="en-US" sz="1400" dirty="0"/>
          </a:p>
          <a:p>
            <a:pPr marL="177800" indent="-1778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D5DDE8"/>
                </a:solidFill>
              </a:rPr>
              <a:t>3개월차 효율 비교 후 비중 조정</a:t>
            </a:r>
            <a:endParaRPr lang="en-US" sz="1400" dirty="0"/>
          </a:p>
        </p:txBody>
      </p:sp>
      <p:sp>
        <p:nvSpPr>
          <p:cNvPr id="24" name="text-107"/>
          <p:cNvSpPr txBox="1"/>
          <p:nvPr/>
        </p:nvSpPr>
        <p:spPr>
          <a:xfrm>
            <a:off x="1188720" y="576072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FB0C5"/>
                </a:solidFill>
              </a:rPr>
              <a:t>비중은 전체 광고비 기준 시작값(네이버:쿠팡 = 현재 매출 비중 2:1)이며, 3개월차부터 매체별 ROAS로 재배분합니다.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464040" y="6473952"/>
            <a:ext cx="5486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FFFF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5" type="body" hasCustomPrompt="1"/>
          </p:nvPr>
        </p:nvSpPr>
        <p:spPr>
          <a:xfrm>
            <a:off x="1188720" y="475488"/>
            <a:ext cx="98115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04</a:t>
            </a:r>
            <a:pPr algn="l" indent="0" marL="0">
              <a:buNone/>
            </a:pPr>
            <a:r>
              <a:rPr lang="en-US" sz="2400" dirty="0">
                <a:solidFill>
                  <a:srgbClr val="FFFFFF"/>
                </a:solidFill>
              </a:rPr>
              <a:t>  체험단 · 리뷰 확보</a:t>
            </a:r>
            <a:endParaRPr lang="en-US" sz="2400" dirty="0"/>
          </a:p>
        </p:txBody>
      </p:sp>
      <p:sp>
        <p:nvSpPr>
          <p:cNvPr id="3" name="title-rule-strong"/>
          <p:cNvSpPr/>
          <p:nvPr/>
        </p:nvSpPr>
        <p:spPr>
          <a:xfrm>
            <a:off x="4812792" y="822960"/>
            <a:ext cx="777240" cy="274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itle-rule-faint"/>
          <p:cNvSpPr/>
          <p:nvPr/>
        </p:nvSpPr>
        <p:spPr>
          <a:xfrm>
            <a:off x="5590032" y="822960"/>
            <a:ext cx="5410200" cy="27432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</p:sp>
      <p:sp>
        <p:nvSpPr>
          <p:cNvPr id="5" name="Text 3"/>
          <p:cNvSpPr/>
          <p:nvPr>
            <p:ph idx="106" type="title" hasCustomPrompt="1"/>
          </p:nvPr>
        </p:nvSpPr>
        <p:spPr>
          <a:xfrm>
            <a:off x="1188720" y="1069848"/>
            <a:ext cx="9811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FFFFFF"/>
                </a:solidFill>
              </a:rPr>
              <a:t>1~2개월차, 체험단으로 리뷰 기반부터 만듭니다</a:t>
            </a:r>
            <a:endParaRPr lang="en-US" sz="2600" dirty="0"/>
          </a:p>
        </p:txBody>
      </p:sp>
      <p:sp>
        <p:nvSpPr>
          <p:cNvPr id="6" name="card-108"/>
          <p:cNvSpPr/>
          <p:nvPr/>
        </p:nvSpPr>
        <p:spPr>
          <a:xfrm>
            <a:off x="1188720" y="1920240"/>
            <a:ext cx="2834640" cy="3977640"/>
          </a:xfrm>
          <a:prstGeom prst="roundRect">
            <a:avLst>
              <a:gd name="adj" fmla="val 3871"/>
            </a:avLst>
          </a:prstGeom>
          <a:solidFill>
            <a:srgbClr val="3182F6"/>
          </a:solidFill>
          <a:ln/>
        </p:spPr>
      </p:sp>
      <p:sp>
        <p:nvSpPr>
          <p:cNvPr id="7" name="text-109"/>
          <p:cNvSpPr txBox="1"/>
          <p:nvPr/>
        </p:nvSpPr>
        <p:spPr>
          <a:xfrm>
            <a:off x="1508760" y="22402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B0D4FF"/>
                </a:solidFill>
              </a:rPr>
              <a:t>대표 상품 리뷰 목표</a:t>
            </a:r>
            <a:endParaRPr lang="en-US" sz="1500" dirty="0"/>
          </a:p>
        </p:txBody>
      </p:sp>
      <p:sp>
        <p:nvSpPr>
          <p:cNvPr id="8" name="text-110"/>
          <p:cNvSpPr txBox="1"/>
          <p:nvPr/>
        </p:nvSpPr>
        <p:spPr>
          <a:xfrm>
            <a:off x="1508760" y="27889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</a:rPr>
              <a:t>50건+</a:t>
            </a:r>
            <a:endParaRPr lang="en-US" sz="4400" dirty="0"/>
          </a:p>
        </p:txBody>
      </p:sp>
      <p:sp>
        <p:nvSpPr>
          <p:cNvPr id="9" name="text-111"/>
          <p:cNvSpPr txBox="1"/>
          <p:nvPr/>
        </p:nvSpPr>
        <p:spPr>
          <a:xfrm>
            <a:off x="1508760" y="35661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2개월차까지</a:t>
            </a:r>
            <a:endParaRPr lang="en-US" sz="1500" dirty="0"/>
          </a:p>
        </p:txBody>
      </p:sp>
      <p:sp>
        <p:nvSpPr>
          <p:cNvPr id="10" name="text-112"/>
          <p:cNvSpPr txBox="1"/>
          <p:nvPr/>
        </p:nvSpPr>
        <p:spPr>
          <a:xfrm>
            <a:off x="1508760" y="42519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</a:rPr>
              <a:t>150건+</a:t>
            </a:r>
            <a:endParaRPr lang="en-US" sz="4400" dirty="0"/>
          </a:p>
        </p:txBody>
      </p:sp>
      <p:sp>
        <p:nvSpPr>
          <p:cNvPr id="11" name="text-113"/>
          <p:cNvSpPr txBox="1"/>
          <p:nvPr/>
        </p:nvSpPr>
        <p:spPr>
          <a:xfrm>
            <a:off x="1508760" y="50292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6개월차까지</a:t>
            </a:r>
            <a:endParaRPr lang="en-US" sz="1500" dirty="0"/>
          </a:p>
        </p:txBody>
      </p:sp>
      <p:sp>
        <p:nvSpPr>
          <p:cNvPr id="12" name="card-114"/>
          <p:cNvSpPr/>
          <p:nvPr/>
        </p:nvSpPr>
        <p:spPr>
          <a:xfrm>
            <a:off x="4297680" y="1920240"/>
            <a:ext cx="6702552" cy="1143000"/>
          </a:xfrm>
          <a:prstGeom prst="roundRect">
            <a:avLst>
              <a:gd name="adj" fmla="val 9600"/>
            </a:avLst>
          </a:prstGeom>
          <a:solidFill>
            <a:srgbClr val="FFFFFF">
              <a:alpha val="10000"/>
            </a:srgbClr>
          </a:solidFill>
          <a:ln/>
        </p:spPr>
      </p:sp>
      <p:sp>
        <p:nvSpPr>
          <p:cNvPr id="13" name="badge-115"/>
          <p:cNvSpPr/>
          <p:nvPr/>
        </p:nvSpPr>
        <p:spPr>
          <a:xfrm>
            <a:off x="4572000" y="2103120"/>
            <a:ext cx="411480" cy="411480"/>
          </a:xfrm>
          <a:prstGeom prst="ellipse">
            <a:avLst/>
          </a:prstGeom>
          <a:solidFill>
            <a:srgbClr val="3182F6"/>
          </a:solidFill>
          <a:ln/>
        </p:spPr>
      </p:sp>
      <p:sp>
        <p:nvSpPr>
          <p:cNvPr id="14" name="badge-text-115"/>
          <p:cNvSpPr txBox="1"/>
          <p:nvPr/>
        </p:nvSpPr>
        <p:spPr>
          <a:xfrm>
            <a:off x="4572000" y="21031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15" name="text-116"/>
          <p:cNvSpPr txBox="1"/>
          <p:nvPr/>
        </p:nvSpPr>
        <p:spPr>
          <a:xfrm>
            <a:off x="5166360" y="2084832"/>
            <a:ext cx="5559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</a:rPr>
              <a:t>역할 분담</a:t>
            </a:r>
            <a:endParaRPr lang="en-US" sz="1800" dirty="0"/>
          </a:p>
        </p:txBody>
      </p:sp>
      <p:sp>
        <p:nvSpPr>
          <p:cNvPr id="16" name="text-117"/>
          <p:cNvSpPr txBox="1"/>
          <p:nvPr/>
        </p:nvSpPr>
        <p:spPr>
          <a:xfrm>
            <a:off x="5166360" y="2523744"/>
            <a:ext cx="560527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5DDE8"/>
                </a:solidFill>
              </a:rPr>
              <a:t>제품은 양명이 제공하고, 체험단 모집 · 운영 · 콘텐츠 관리는 NICECORE가 담당합니다.</a:t>
            </a:r>
            <a:endParaRPr lang="en-US" sz="1400" dirty="0"/>
          </a:p>
        </p:txBody>
      </p:sp>
      <p:sp>
        <p:nvSpPr>
          <p:cNvPr id="17" name="card-118"/>
          <p:cNvSpPr/>
          <p:nvPr/>
        </p:nvSpPr>
        <p:spPr>
          <a:xfrm>
            <a:off x="4297680" y="3337560"/>
            <a:ext cx="6702552" cy="1143000"/>
          </a:xfrm>
          <a:prstGeom prst="roundRect">
            <a:avLst>
              <a:gd name="adj" fmla="val 9600"/>
            </a:avLst>
          </a:prstGeom>
          <a:solidFill>
            <a:srgbClr val="FFFFFF">
              <a:alpha val="10000"/>
            </a:srgbClr>
          </a:solidFill>
          <a:ln/>
        </p:spPr>
      </p:sp>
      <p:sp>
        <p:nvSpPr>
          <p:cNvPr id="18" name="badge-119"/>
          <p:cNvSpPr/>
          <p:nvPr/>
        </p:nvSpPr>
        <p:spPr>
          <a:xfrm>
            <a:off x="4572000" y="3520440"/>
            <a:ext cx="411480" cy="411480"/>
          </a:xfrm>
          <a:prstGeom prst="ellipse">
            <a:avLst/>
          </a:prstGeom>
          <a:solidFill>
            <a:srgbClr val="3182F6"/>
          </a:solidFill>
          <a:ln/>
        </p:spPr>
      </p:sp>
      <p:sp>
        <p:nvSpPr>
          <p:cNvPr id="19" name="badge-text-119"/>
          <p:cNvSpPr txBox="1"/>
          <p:nvPr/>
        </p:nvSpPr>
        <p:spPr>
          <a:xfrm>
            <a:off x="4572000" y="3520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20" name="text-120"/>
          <p:cNvSpPr txBox="1"/>
          <p:nvPr/>
        </p:nvSpPr>
        <p:spPr>
          <a:xfrm>
            <a:off x="5166360" y="3502152"/>
            <a:ext cx="5559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</a:rPr>
              <a:t>확보 채널</a:t>
            </a:r>
            <a:endParaRPr lang="en-US" sz="1800" dirty="0"/>
          </a:p>
        </p:txBody>
      </p:sp>
      <p:sp>
        <p:nvSpPr>
          <p:cNvPr id="21" name="text-121"/>
          <p:cNvSpPr txBox="1"/>
          <p:nvPr/>
        </p:nvSpPr>
        <p:spPr>
          <a:xfrm>
            <a:off x="5166360" y="3941064"/>
            <a:ext cx="560527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5DDE8"/>
                </a:solidFill>
              </a:rPr>
              <a:t>스마트스토어 리뷰와 네이버 블로그 후기 중심. 블로그 후기는 "킹오브김" 검색 결과에도 노출됩니다.</a:t>
            </a:r>
            <a:endParaRPr lang="en-US" sz="1400" dirty="0"/>
          </a:p>
        </p:txBody>
      </p:sp>
      <p:sp>
        <p:nvSpPr>
          <p:cNvPr id="22" name="card-122"/>
          <p:cNvSpPr/>
          <p:nvPr/>
        </p:nvSpPr>
        <p:spPr>
          <a:xfrm>
            <a:off x="4297680" y="4754880"/>
            <a:ext cx="6702552" cy="1143000"/>
          </a:xfrm>
          <a:prstGeom prst="roundRect">
            <a:avLst>
              <a:gd name="adj" fmla="val 9600"/>
            </a:avLst>
          </a:prstGeom>
          <a:solidFill>
            <a:srgbClr val="FFFFFF">
              <a:alpha val="10000"/>
            </a:srgbClr>
          </a:solidFill>
          <a:ln/>
        </p:spPr>
      </p:sp>
      <p:sp>
        <p:nvSpPr>
          <p:cNvPr id="23" name="badge-123"/>
          <p:cNvSpPr/>
          <p:nvPr/>
        </p:nvSpPr>
        <p:spPr>
          <a:xfrm>
            <a:off x="4572000" y="4937760"/>
            <a:ext cx="411480" cy="411480"/>
          </a:xfrm>
          <a:prstGeom prst="ellipse">
            <a:avLst/>
          </a:prstGeom>
          <a:solidFill>
            <a:srgbClr val="3182F6"/>
          </a:solidFill>
          <a:ln/>
        </p:spPr>
      </p:sp>
      <p:sp>
        <p:nvSpPr>
          <p:cNvPr id="24" name="badge-text-123"/>
          <p:cNvSpPr txBox="1"/>
          <p:nvPr/>
        </p:nvSpPr>
        <p:spPr>
          <a:xfrm>
            <a:off x="4572000" y="4937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25" name="text-124"/>
          <p:cNvSpPr txBox="1"/>
          <p:nvPr/>
        </p:nvSpPr>
        <p:spPr>
          <a:xfrm>
            <a:off x="5166360" y="4919472"/>
            <a:ext cx="5559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</a:rPr>
              <a:t>쿠팡 운영</a:t>
            </a:r>
            <a:endParaRPr lang="en-US" sz="1800" dirty="0"/>
          </a:p>
        </p:txBody>
      </p:sp>
      <p:sp>
        <p:nvSpPr>
          <p:cNvPr id="26" name="text-125"/>
          <p:cNvSpPr txBox="1"/>
          <p:nvPr/>
        </p:nvSpPr>
        <p:spPr>
          <a:xfrm>
            <a:off x="5166360" y="5358384"/>
            <a:ext cx="560527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5DDE8"/>
                </a:solidFill>
              </a:rPr>
              <a:t>쿠팡은 외부 체험단 리뷰에 제한이 있어, 플랫폼 정책에 맞는 방식(쿠팡 체험단 프로그램 등)을 별도 검토합니다.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464040" y="6473952"/>
            <a:ext cx="5486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FFFF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5" type="body" hasCustomPrompt="1"/>
          </p:nvPr>
        </p:nvSpPr>
        <p:spPr>
          <a:xfrm>
            <a:off x="1188720" y="475488"/>
            <a:ext cx="98115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04</a:t>
            </a:r>
            <a:pPr algn="l" indent="0" marL="0">
              <a:buNone/>
            </a:pPr>
            <a:r>
              <a:rPr lang="en-US" sz="2400" dirty="0">
                <a:solidFill>
                  <a:srgbClr val="FFFFFF"/>
                </a:solidFill>
              </a:rPr>
              <a:t>  시즌 전략</a:t>
            </a:r>
            <a:endParaRPr lang="en-US" sz="2400" dirty="0"/>
          </a:p>
        </p:txBody>
      </p:sp>
      <p:sp>
        <p:nvSpPr>
          <p:cNvPr id="3" name="title-rule-strong"/>
          <p:cNvSpPr/>
          <p:nvPr/>
        </p:nvSpPr>
        <p:spPr>
          <a:xfrm>
            <a:off x="3563112" y="822960"/>
            <a:ext cx="777240" cy="274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itle-rule-faint"/>
          <p:cNvSpPr/>
          <p:nvPr/>
        </p:nvSpPr>
        <p:spPr>
          <a:xfrm>
            <a:off x="4340352" y="822960"/>
            <a:ext cx="6659880" cy="27432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</p:sp>
      <p:sp>
        <p:nvSpPr>
          <p:cNvPr id="5" name="Text 3"/>
          <p:cNvSpPr/>
          <p:nvPr>
            <p:ph idx="106" type="title" hasCustomPrompt="1"/>
          </p:nvPr>
        </p:nvSpPr>
        <p:spPr>
          <a:xfrm>
            <a:off x="1188720" y="1069848"/>
            <a:ext cx="9811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FFFFFF"/>
                </a:solidFill>
              </a:rPr>
              <a:t>2027년 설, 선물세트로 첫 성공사례를 만듭니다</a:t>
            </a:r>
            <a:endParaRPr lang="en-US" sz="2600" dirty="0"/>
          </a:p>
        </p:txBody>
      </p:sp>
      <p:sp>
        <p:nvSpPr>
          <p:cNvPr id="6" name="card-126"/>
          <p:cNvSpPr/>
          <p:nvPr/>
        </p:nvSpPr>
        <p:spPr>
          <a:xfrm>
            <a:off x="1188720" y="1920240"/>
            <a:ext cx="3087624" cy="1965960"/>
          </a:xfrm>
          <a:prstGeom prst="roundRect">
            <a:avLst>
              <a:gd name="adj" fmla="val 5581"/>
            </a:avLst>
          </a:prstGeom>
          <a:solidFill>
            <a:srgbClr val="FFFFFF">
              <a:alpha val="10000"/>
            </a:srgbClr>
          </a:solidFill>
          <a:ln/>
        </p:spPr>
      </p:sp>
      <p:sp>
        <p:nvSpPr>
          <p:cNvPr id="7" name="text-127"/>
          <p:cNvSpPr txBox="1"/>
          <p:nvPr/>
        </p:nvSpPr>
        <p:spPr>
          <a:xfrm>
            <a:off x="1463040" y="2121408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B0D4FF"/>
                </a:solidFill>
              </a:rPr>
              <a:t>12월</a:t>
            </a:r>
            <a:endParaRPr lang="en-US" sz="2400" dirty="0"/>
          </a:p>
        </p:txBody>
      </p:sp>
      <p:sp>
        <p:nvSpPr>
          <p:cNvPr id="8" name="text-128"/>
          <p:cNvSpPr txBox="1"/>
          <p:nvPr/>
        </p:nvSpPr>
        <p:spPr>
          <a:xfrm>
            <a:off x="1463040" y="2606040"/>
            <a:ext cx="2538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FFFF"/>
                </a:solidFill>
              </a:rPr>
              <a:t>준비</a:t>
            </a:r>
            <a:endParaRPr lang="en-US" sz="1700" dirty="0"/>
          </a:p>
        </p:txBody>
      </p:sp>
      <p:sp>
        <p:nvSpPr>
          <p:cNvPr id="9" name="text-129"/>
          <p:cNvSpPr txBox="1"/>
          <p:nvPr/>
        </p:nvSpPr>
        <p:spPr>
          <a:xfrm>
            <a:off x="1463040" y="2999232"/>
            <a:ext cx="25847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5DDE8"/>
                </a:solidFill>
              </a:rPr>
              <a:t>선물세트 키워드 · 광고 소재 세팅, 자사몰 선물세트 페이지 점검</a:t>
            </a:r>
            <a:endParaRPr lang="en-US" sz="1400" dirty="0"/>
          </a:p>
        </p:txBody>
      </p:sp>
      <p:sp>
        <p:nvSpPr>
          <p:cNvPr id="10" name="tl-arrow-0"/>
          <p:cNvSpPr/>
          <p:nvPr/>
        </p:nvSpPr>
        <p:spPr>
          <a:xfrm>
            <a:off x="4212336" y="2702052"/>
            <a:ext cx="402336" cy="40233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364960"/>
            </a:solidFill>
            <a:prstDash val="solid"/>
          </a:ln>
        </p:spPr>
      </p:sp>
      <p:sp>
        <p:nvSpPr>
          <p:cNvPr id="11" name="text-130"/>
          <p:cNvSpPr txBox="1"/>
          <p:nvPr/>
        </p:nvSpPr>
        <p:spPr>
          <a:xfrm>
            <a:off x="4212336" y="26746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FFFFFF"/>
                </a:solidFill>
              </a:rPr>
              <a:t>›</a:t>
            </a:r>
            <a:endParaRPr lang="en-US" sz="2000" dirty="0"/>
          </a:p>
        </p:txBody>
      </p:sp>
      <p:sp>
        <p:nvSpPr>
          <p:cNvPr id="12" name="card-131"/>
          <p:cNvSpPr/>
          <p:nvPr/>
        </p:nvSpPr>
        <p:spPr>
          <a:xfrm>
            <a:off x="4550664" y="1920240"/>
            <a:ext cx="3087624" cy="1965960"/>
          </a:xfrm>
          <a:prstGeom prst="roundRect">
            <a:avLst>
              <a:gd name="adj" fmla="val 5581"/>
            </a:avLst>
          </a:prstGeom>
          <a:solidFill>
            <a:srgbClr val="FFFFFF">
              <a:alpha val="10000"/>
            </a:srgbClr>
          </a:solidFill>
          <a:ln/>
        </p:spPr>
      </p:sp>
      <p:sp>
        <p:nvSpPr>
          <p:cNvPr id="13" name="text-132"/>
          <p:cNvSpPr txBox="1"/>
          <p:nvPr/>
        </p:nvSpPr>
        <p:spPr>
          <a:xfrm>
            <a:off x="4824984" y="2121408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B0D4FF"/>
                </a:solidFill>
              </a:rPr>
              <a:t>1월</a:t>
            </a:r>
            <a:endParaRPr lang="en-US" sz="2400" dirty="0"/>
          </a:p>
        </p:txBody>
      </p:sp>
      <p:sp>
        <p:nvSpPr>
          <p:cNvPr id="14" name="text-133"/>
          <p:cNvSpPr txBox="1"/>
          <p:nvPr/>
        </p:nvSpPr>
        <p:spPr>
          <a:xfrm>
            <a:off x="4824984" y="2606040"/>
            <a:ext cx="2538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FFFF"/>
                </a:solidFill>
              </a:rPr>
              <a:t>집중</a:t>
            </a:r>
            <a:endParaRPr lang="en-US" sz="1700" dirty="0"/>
          </a:p>
        </p:txBody>
      </p:sp>
      <p:sp>
        <p:nvSpPr>
          <p:cNvPr id="15" name="text-134"/>
          <p:cNvSpPr txBox="1"/>
          <p:nvPr/>
        </p:nvSpPr>
        <p:spPr>
          <a:xfrm>
            <a:off x="4824984" y="2999232"/>
            <a:ext cx="25847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5DDE8"/>
                </a:solidFill>
              </a:rPr>
              <a:t>파워링크 · 쇼핑검색으로 선물세트 집중 노출, 광고비 증액 구간</a:t>
            </a:r>
            <a:endParaRPr lang="en-US" sz="1400" dirty="0"/>
          </a:p>
        </p:txBody>
      </p:sp>
      <p:sp>
        <p:nvSpPr>
          <p:cNvPr id="16" name="tl-arrow-1"/>
          <p:cNvSpPr/>
          <p:nvPr/>
        </p:nvSpPr>
        <p:spPr>
          <a:xfrm>
            <a:off x="7574280" y="2702052"/>
            <a:ext cx="402336" cy="40233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364960"/>
            </a:solidFill>
            <a:prstDash val="solid"/>
          </a:ln>
        </p:spPr>
      </p:sp>
      <p:sp>
        <p:nvSpPr>
          <p:cNvPr id="17" name="text-135"/>
          <p:cNvSpPr txBox="1"/>
          <p:nvPr/>
        </p:nvSpPr>
        <p:spPr>
          <a:xfrm>
            <a:off x="7574280" y="26746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FFFFFF"/>
                </a:solidFill>
              </a:rPr>
              <a:t>›</a:t>
            </a:r>
            <a:endParaRPr lang="en-US" sz="2000" dirty="0"/>
          </a:p>
        </p:txBody>
      </p:sp>
      <p:sp>
        <p:nvSpPr>
          <p:cNvPr id="18" name="card-136"/>
          <p:cNvSpPr/>
          <p:nvPr/>
        </p:nvSpPr>
        <p:spPr>
          <a:xfrm>
            <a:off x="7912608" y="1920240"/>
            <a:ext cx="3087624" cy="1965960"/>
          </a:xfrm>
          <a:prstGeom prst="roundRect">
            <a:avLst>
              <a:gd name="adj" fmla="val 5581"/>
            </a:avLst>
          </a:prstGeom>
          <a:solidFill>
            <a:srgbClr val="FFFFFF">
              <a:alpha val="10000"/>
            </a:srgbClr>
          </a:solidFill>
          <a:ln/>
        </p:spPr>
      </p:sp>
      <p:sp>
        <p:nvSpPr>
          <p:cNvPr id="19" name="text-137"/>
          <p:cNvSpPr txBox="1"/>
          <p:nvPr/>
        </p:nvSpPr>
        <p:spPr>
          <a:xfrm>
            <a:off x="8186928" y="2121408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B0D4FF"/>
                </a:solidFill>
              </a:rPr>
              <a:t>2월 초</a:t>
            </a:r>
            <a:endParaRPr lang="en-US" sz="2400" dirty="0"/>
          </a:p>
        </p:txBody>
      </p:sp>
      <p:sp>
        <p:nvSpPr>
          <p:cNvPr id="20" name="text-138"/>
          <p:cNvSpPr txBox="1"/>
          <p:nvPr/>
        </p:nvSpPr>
        <p:spPr>
          <a:xfrm>
            <a:off x="8186928" y="2606040"/>
            <a:ext cx="2538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FFFF"/>
                </a:solidFill>
              </a:rPr>
              <a:t>피크 · 분석</a:t>
            </a:r>
            <a:endParaRPr lang="en-US" sz="1700" dirty="0"/>
          </a:p>
        </p:txBody>
      </p:sp>
      <p:sp>
        <p:nvSpPr>
          <p:cNvPr id="21" name="text-139"/>
          <p:cNvSpPr txBox="1"/>
          <p:nvPr/>
        </p:nvSpPr>
        <p:spPr>
          <a:xfrm>
            <a:off x="8186928" y="2999232"/>
            <a:ext cx="25847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5DDE8"/>
                </a:solidFill>
              </a:rPr>
              <a:t>명절 직전 피크 운영, 종료 후 상품 · 키워드별 성과 분석</a:t>
            </a:r>
            <a:endParaRPr lang="en-US" sz="1400" dirty="0"/>
          </a:p>
        </p:txBody>
      </p:sp>
      <p:sp>
        <p:nvSpPr>
          <p:cNvPr id="22" name="card-140"/>
          <p:cNvSpPr/>
          <p:nvPr/>
        </p:nvSpPr>
        <p:spPr>
          <a:xfrm>
            <a:off x="1188720" y="4160520"/>
            <a:ext cx="4768596" cy="1737360"/>
          </a:xfrm>
          <a:prstGeom prst="roundRect">
            <a:avLst>
              <a:gd name="adj" fmla="val 6316"/>
            </a:avLst>
          </a:prstGeom>
          <a:solidFill>
            <a:srgbClr val="3182F6">
              <a:alpha val="35000"/>
            </a:srgbClr>
          </a:solidFill>
          <a:ln/>
        </p:spPr>
      </p:sp>
      <p:sp>
        <p:nvSpPr>
          <p:cNvPr id="23" name="text-141"/>
          <p:cNvSpPr txBox="1"/>
          <p:nvPr/>
        </p:nvSpPr>
        <p:spPr>
          <a:xfrm>
            <a:off x="1508760" y="4416552"/>
            <a:ext cx="41285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</a:rPr>
              <a:t>5~16만 원대</a:t>
            </a:r>
            <a:endParaRPr lang="en-US" sz="3400" dirty="0"/>
          </a:p>
        </p:txBody>
      </p:sp>
      <p:sp>
        <p:nvSpPr>
          <p:cNvPr id="24" name="text-142"/>
          <p:cNvSpPr txBox="1"/>
          <p:nvPr/>
        </p:nvSpPr>
        <p:spPr>
          <a:xfrm>
            <a:off x="1508760" y="5148072"/>
            <a:ext cx="41285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선물세트 가격대. 같은 광고비로 일상용 상품보다 큰 매출을 기대할 수 있습니다.</a:t>
            </a:r>
            <a:endParaRPr lang="en-US" sz="1500" dirty="0"/>
          </a:p>
        </p:txBody>
      </p:sp>
      <p:sp>
        <p:nvSpPr>
          <p:cNvPr id="25" name="card-143"/>
          <p:cNvSpPr/>
          <p:nvPr/>
        </p:nvSpPr>
        <p:spPr>
          <a:xfrm>
            <a:off x="6231636" y="4160520"/>
            <a:ext cx="4768596" cy="1737360"/>
          </a:xfrm>
          <a:prstGeom prst="roundRect">
            <a:avLst>
              <a:gd name="adj" fmla="val 6316"/>
            </a:avLst>
          </a:prstGeom>
          <a:solidFill>
            <a:srgbClr val="3182F6">
              <a:alpha val="35000"/>
            </a:srgbClr>
          </a:solidFill>
          <a:ln/>
        </p:spPr>
      </p:sp>
      <p:sp>
        <p:nvSpPr>
          <p:cNvPr id="26" name="text-144"/>
          <p:cNvSpPr txBox="1"/>
          <p:nvPr/>
        </p:nvSpPr>
        <p:spPr>
          <a:xfrm>
            <a:off x="6551676" y="4416552"/>
            <a:ext cx="41285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</a:rPr>
              <a:t>Sales Case</a:t>
            </a:r>
            <a:endParaRPr lang="en-US" sz="3400" dirty="0"/>
          </a:p>
        </p:txBody>
      </p:sp>
      <p:sp>
        <p:nvSpPr>
          <p:cNvPr id="27" name="text-145"/>
          <p:cNvSpPr txBox="1"/>
          <p:nvPr/>
        </p:nvSpPr>
        <p:spPr>
          <a:xfrm>
            <a:off x="6551676" y="5148072"/>
            <a:ext cx="41285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명절 실적은 6개월 성과 자료의 핵심 사례로, 유통 MD · 기업 특판 제안에 활용됩니다.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464040" y="6473952"/>
            <a:ext cx="5486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FFFF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5" type="body" hasCustomPrompt="1"/>
          </p:nvPr>
        </p:nvSpPr>
        <p:spPr>
          <a:xfrm>
            <a:off x="1188720" y="475488"/>
            <a:ext cx="98115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05</a:t>
            </a:r>
            <a:pPr algn="l" indent="0" marL="0">
              <a:buNone/>
            </a:pPr>
            <a:r>
              <a:rPr lang="en-US" sz="2400" dirty="0">
                <a:solidFill>
                  <a:srgbClr val="FFFFFF"/>
                </a:solidFill>
              </a:rPr>
              <a:t>  6개월 로드맵</a:t>
            </a:r>
            <a:endParaRPr lang="en-US" sz="2400" dirty="0"/>
          </a:p>
        </p:txBody>
      </p:sp>
      <p:sp>
        <p:nvSpPr>
          <p:cNvPr id="3" name="title-rule-strong"/>
          <p:cNvSpPr/>
          <p:nvPr/>
        </p:nvSpPr>
        <p:spPr>
          <a:xfrm>
            <a:off x="4044696" y="822960"/>
            <a:ext cx="777240" cy="274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itle-rule-faint"/>
          <p:cNvSpPr/>
          <p:nvPr/>
        </p:nvSpPr>
        <p:spPr>
          <a:xfrm>
            <a:off x="4821936" y="822960"/>
            <a:ext cx="6178296" cy="27432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</p:sp>
      <p:sp>
        <p:nvSpPr>
          <p:cNvPr id="5" name="Text 3"/>
          <p:cNvSpPr/>
          <p:nvPr>
            <p:ph idx="106" type="title" hasCustomPrompt="1"/>
          </p:nvPr>
        </p:nvSpPr>
        <p:spPr>
          <a:xfrm>
            <a:off x="1188720" y="1069848"/>
            <a:ext cx="9811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FFFFFF"/>
                </a:solidFill>
              </a:rPr>
              <a:t>매출 반응을 보며 단계적으로 증액합니다</a:t>
            </a:r>
            <a:endParaRPr lang="en-US" sz="2600" dirty="0"/>
          </a:p>
        </p:txBody>
      </p:sp>
      <p:sp>
        <p:nvSpPr>
          <p:cNvPr id="6" name="card-146"/>
          <p:cNvSpPr/>
          <p:nvPr/>
        </p:nvSpPr>
        <p:spPr>
          <a:xfrm>
            <a:off x="1188720" y="1920240"/>
            <a:ext cx="1482852" cy="2286000"/>
          </a:xfrm>
          <a:prstGeom prst="roundRect">
            <a:avLst>
              <a:gd name="adj" fmla="val 7400"/>
            </a:avLst>
          </a:prstGeom>
          <a:solidFill>
            <a:srgbClr val="FFFFFF">
              <a:alpha val="10000"/>
            </a:srgbClr>
          </a:solidFill>
          <a:ln/>
        </p:spPr>
      </p:sp>
      <p:sp>
        <p:nvSpPr>
          <p:cNvPr id="7" name="text-147"/>
          <p:cNvSpPr txBox="1"/>
          <p:nvPr/>
        </p:nvSpPr>
        <p:spPr>
          <a:xfrm>
            <a:off x="1353312" y="2103120"/>
            <a:ext cx="11536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0D4FF"/>
                </a:solidFill>
              </a:rPr>
              <a:t>11월</a:t>
            </a:r>
            <a:endParaRPr lang="en-US" sz="2000" dirty="0"/>
          </a:p>
        </p:txBody>
      </p:sp>
      <p:sp>
        <p:nvSpPr>
          <p:cNvPr id="8" name="text-148"/>
          <p:cNvSpPr txBox="1"/>
          <p:nvPr/>
        </p:nvSpPr>
        <p:spPr>
          <a:xfrm>
            <a:off x="1353312" y="2542032"/>
            <a:ext cx="11536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</a:rPr>
              <a:t>기반 구축</a:t>
            </a:r>
            <a:endParaRPr lang="en-US" sz="1600" dirty="0"/>
          </a:p>
        </p:txBody>
      </p:sp>
      <p:sp>
        <p:nvSpPr>
          <p:cNvPr id="9" name="text-149"/>
          <p:cNvSpPr txBox="1"/>
          <p:nvPr/>
        </p:nvSpPr>
        <p:spPr>
          <a:xfrm>
            <a:off x="1335024" y="2944368"/>
            <a:ext cx="12451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D5DDE8"/>
                </a:solidFill>
              </a:rPr>
              <a:t>계정 세팅</a:t>
            </a:r>
            <a:endParaRPr lang="en-US" sz="1400" dirty="0"/>
          </a:p>
          <a:p>
            <a:pPr marL="127000" indent="-1270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D5DDE8"/>
                </a:solidFill>
              </a:rPr>
              <a:t>Baseline 측정</a:t>
            </a:r>
            <a:endParaRPr lang="en-US" sz="1400" dirty="0"/>
          </a:p>
          <a:p>
            <a:pPr marL="127000" indent="-1270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D5DDE8"/>
                </a:solidFill>
              </a:rPr>
              <a:t>체험단 1차</a:t>
            </a:r>
            <a:endParaRPr lang="en-US" sz="1400" dirty="0"/>
          </a:p>
        </p:txBody>
      </p:sp>
      <p:sp>
        <p:nvSpPr>
          <p:cNvPr id="10" name="roas-chip-0"/>
          <p:cNvSpPr/>
          <p:nvPr/>
        </p:nvSpPr>
        <p:spPr>
          <a:xfrm>
            <a:off x="1188720" y="4343400"/>
            <a:ext cx="1482852" cy="621792"/>
          </a:xfrm>
          <a:prstGeom prst="roundRect">
            <a:avLst>
              <a:gd name="adj" fmla="val 22059"/>
            </a:avLst>
          </a:prstGeom>
          <a:solidFill>
            <a:srgbClr val="FFFFFF">
              <a:alpha val="15000"/>
            </a:srgbClr>
          </a:solidFill>
          <a:ln w="12700">
            <a:solidFill>
              <a:srgbClr val="B0D4FF"/>
            </a:solidFill>
            <a:prstDash val="solid"/>
          </a:ln>
        </p:spPr>
      </p:sp>
      <p:sp>
        <p:nvSpPr>
          <p:cNvPr id="11" name="text-150"/>
          <p:cNvSpPr txBox="1"/>
          <p:nvPr/>
        </p:nvSpPr>
        <p:spPr>
          <a:xfrm>
            <a:off x="1188720" y="4343400"/>
            <a:ext cx="14828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B0D4FF"/>
                </a:solidFill>
              </a:rPr>
              <a:t>참고 ROAS</a:t>
            </a:r>
            <a:endParaRPr lang="en-US" sz="14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B0D4FF"/>
                </a:solidFill>
              </a:rPr>
              <a:t>100%</a:t>
            </a:r>
            <a:endParaRPr lang="en-US" sz="1400" dirty="0"/>
          </a:p>
        </p:txBody>
      </p:sp>
      <p:sp>
        <p:nvSpPr>
          <p:cNvPr id="12" name="card-151"/>
          <p:cNvSpPr/>
          <p:nvPr/>
        </p:nvSpPr>
        <p:spPr>
          <a:xfrm>
            <a:off x="2854452" y="1920240"/>
            <a:ext cx="1482852" cy="2286000"/>
          </a:xfrm>
          <a:prstGeom prst="roundRect">
            <a:avLst>
              <a:gd name="adj" fmla="val 7400"/>
            </a:avLst>
          </a:prstGeom>
          <a:solidFill>
            <a:srgbClr val="FFFFFF">
              <a:alpha val="10000"/>
            </a:srgbClr>
          </a:solidFill>
          <a:ln/>
        </p:spPr>
      </p:sp>
      <p:sp>
        <p:nvSpPr>
          <p:cNvPr id="13" name="text-152"/>
          <p:cNvSpPr txBox="1"/>
          <p:nvPr/>
        </p:nvSpPr>
        <p:spPr>
          <a:xfrm>
            <a:off x="3019044" y="2103120"/>
            <a:ext cx="11536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0D4FF"/>
                </a:solidFill>
              </a:rPr>
              <a:t>12월</a:t>
            </a:r>
            <a:endParaRPr lang="en-US" sz="2000" dirty="0"/>
          </a:p>
        </p:txBody>
      </p:sp>
      <p:sp>
        <p:nvSpPr>
          <p:cNvPr id="14" name="text-153"/>
          <p:cNvSpPr txBox="1"/>
          <p:nvPr/>
        </p:nvSpPr>
        <p:spPr>
          <a:xfrm>
            <a:off x="3019044" y="2542032"/>
            <a:ext cx="11536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</a:rPr>
              <a:t>리뷰 확보</a:t>
            </a:r>
            <a:endParaRPr lang="en-US" sz="1600" dirty="0"/>
          </a:p>
        </p:txBody>
      </p:sp>
      <p:sp>
        <p:nvSpPr>
          <p:cNvPr id="15" name="text-154"/>
          <p:cNvSpPr txBox="1"/>
          <p:nvPr/>
        </p:nvSpPr>
        <p:spPr>
          <a:xfrm>
            <a:off x="3000756" y="2944368"/>
            <a:ext cx="12451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D5DDE8"/>
                </a:solidFill>
              </a:rPr>
              <a:t>체험단 2차</a:t>
            </a:r>
            <a:endParaRPr lang="en-US" sz="1400" dirty="0"/>
          </a:p>
          <a:p>
            <a:pPr marL="127000" indent="-1270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D5DDE8"/>
                </a:solidFill>
              </a:rPr>
              <a:t>광고 소재 테스트</a:t>
            </a:r>
            <a:endParaRPr lang="en-US" sz="1400" dirty="0"/>
          </a:p>
        </p:txBody>
      </p:sp>
      <p:sp>
        <p:nvSpPr>
          <p:cNvPr id="16" name="roas-chip-1"/>
          <p:cNvSpPr/>
          <p:nvPr/>
        </p:nvSpPr>
        <p:spPr>
          <a:xfrm>
            <a:off x="2854452" y="4343400"/>
            <a:ext cx="1482852" cy="621792"/>
          </a:xfrm>
          <a:prstGeom prst="roundRect">
            <a:avLst>
              <a:gd name="adj" fmla="val 22059"/>
            </a:avLst>
          </a:prstGeom>
          <a:solidFill>
            <a:srgbClr val="FFFFFF">
              <a:alpha val="15000"/>
            </a:srgbClr>
          </a:solidFill>
          <a:ln w="12700">
            <a:solidFill>
              <a:srgbClr val="B0D4FF"/>
            </a:solidFill>
            <a:prstDash val="solid"/>
          </a:ln>
        </p:spPr>
      </p:sp>
      <p:sp>
        <p:nvSpPr>
          <p:cNvPr id="17" name="text-155"/>
          <p:cNvSpPr txBox="1"/>
          <p:nvPr/>
        </p:nvSpPr>
        <p:spPr>
          <a:xfrm>
            <a:off x="2854452" y="4343400"/>
            <a:ext cx="14828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B0D4FF"/>
                </a:solidFill>
              </a:rPr>
              <a:t>참고 ROAS</a:t>
            </a:r>
            <a:endParaRPr lang="en-US" sz="14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B0D4FF"/>
                </a:solidFill>
              </a:rPr>
              <a:t>150%</a:t>
            </a:r>
            <a:endParaRPr lang="en-US" sz="1400" dirty="0"/>
          </a:p>
        </p:txBody>
      </p:sp>
      <p:sp>
        <p:nvSpPr>
          <p:cNvPr id="18" name="card-156"/>
          <p:cNvSpPr/>
          <p:nvPr/>
        </p:nvSpPr>
        <p:spPr>
          <a:xfrm>
            <a:off x="4520184" y="1920240"/>
            <a:ext cx="1482852" cy="2286000"/>
          </a:xfrm>
          <a:prstGeom prst="roundRect">
            <a:avLst>
              <a:gd name="adj" fmla="val 7400"/>
            </a:avLst>
          </a:prstGeom>
          <a:solidFill>
            <a:srgbClr val="FFFFFF">
              <a:alpha val="10000"/>
            </a:srgbClr>
          </a:solidFill>
          <a:ln/>
        </p:spPr>
      </p:sp>
      <p:sp>
        <p:nvSpPr>
          <p:cNvPr id="19" name="text-157"/>
          <p:cNvSpPr txBox="1"/>
          <p:nvPr/>
        </p:nvSpPr>
        <p:spPr>
          <a:xfrm>
            <a:off x="4684776" y="2103120"/>
            <a:ext cx="11536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0D4FF"/>
                </a:solidFill>
              </a:rPr>
              <a:t>1월</a:t>
            </a:r>
            <a:endParaRPr lang="en-US" sz="2000" dirty="0"/>
          </a:p>
        </p:txBody>
      </p:sp>
      <p:sp>
        <p:nvSpPr>
          <p:cNvPr id="20" name="text-158"/>
          <p:cNvSpPr txBox="1"/>
          <p:nvPr/>
        </p:nvSpPr>
        <p:spPr>
          <a:xfrm>
            <a:off x="4684776" y="2542032"/>
            <a:ext cx="11536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</a:rPr>
              <a:t>확대 ①</a:t>
            </a:r>
            <a:endParaRPr lang="en-US" sz="1600" dirty="0"/>
          </a:p>
        </p:txBody>
      </p:sp>
      <p:sp>
        <p:nvSpPr>
          <p:cNvPr id="21" name="text-159"/>
          <p:cNvSpPr txBox="1"/>
          <p:nvPr/>
        </p:nvSpPr>
        <p:spPr>
          <a:xfrm>
            <a:off x="4666488" y="2944368"/>
            <a:ext cx="12451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D5DDE8"/>
                </a:solidFill>
              </a:rPr>
              <a:t>설 선물세트 집중</a:t>
            </a:r>
            <a:endParaRPr lang="en-US" sz="1400" dirty="0"/>
          </a:p>
          <a:p>
            <a:pPr marL="127000" indent="-1270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D5DDE8"/>
                </a:solidFill>
              </a:rPr>
              <a:t>광고 증액</a:t>
            </a:r>
            <a:endParaRPr lang="en-US" sz="1400" dirty="0"/>
          </a:p>
        </p:txBody>
      </p:sp>
      <p:sp>
        <p:nvSpPr>
          <p:cNvPr id="22" name="roas-chip-2"/>
          <p:cNvSpPr/>
          <p:nvPr/>
        </p:nvSpPr>
        <p:spPr>
          <a:xfrm>
            <a:off x="4520184" y="4343400"/>
            <a:ext cx="1482852" cy="621792"/>
          </a:xfrm>
          <a:prstGeom prst="roundRect">
            <a:avLst>
              <a:gd name="adj" fmla="val 22059"/>
            </a:avLst>
          </a:prstGeom>
          <a:solidFill>
            <a:srgbClr val="FFFFFF">
              <a:alpha val="15000"/>
            </a:srgbClr>
          </a:solidFill>
          <a:ln w="12700">
            <a:solidFill>
              <a:srgbClr val="B0D4FF"/>
            </a:solidFill>
            <a:prstDash val="solid"/>
          </a:ln>
        </p:spPr>
      </p:sp>
      <p:sp>
        <p:nvSpPr>
          <p:cNvPr id="23" name="text-160"/>
          <p:cNvSpPr txBox="1"/>
          <p:nvPr/>
        </p:nvSpPr>
        <p:spPr>
          <a:xfrm>
            <a:off x="4520184" y="4343400"/>
            <a:ext cx="14828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B0D4FF"/>
                </a:solidFill>
              </a:rPr>
              <a:t>참고 ROAS</a:t>
            </a:r>
            <a:endParaRPr lang="en-US" sz="14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B0D4FF"/>
                </a:solidFill>
              </a:rPr>
              <a:t>200%</a:t>
            </a:r>
            <a:endParaRPr lang="en-US" sz="1400" dirty="0"/>
          </a:p>
        </p:txBody>
      </p:sp>
      <p:sp>
        <p:nvSpPr>
          <p:cNvPr id="24" name="card-161"/>
          <p:cNvSpPr/>
          <p:nvPr/>
        </p:nvSpPr>
        <p:spPr>
          <a:xfrm>
            <a:off x="6185916" y="1920240"/>
            <a:ext cx="1482852" cy="2286000"/>
          </a:xfrm>
          <a:prstGeom prst="roundRect">
            <a:avLst>
              <a:gd name="adj" fmla="val 7400"/>
            </a:avLst>
          </a:prstGeom>
          <a:solidFill>
            <a:srgbClr val="FFFFFF">
              <a:alpha val="10000"/>
            </a:srgbClr>
          </a:solidFill>
          <a:ln/>
        </p:spPr>
      </p:sp>
      <p:sp>
        <p:nvSpPr>
          <p:cNvPr id="25" name="text-162"/>
          <p:cNvSpPr txBox="1"/>
          <p:nvPr/>
        </p:nvSpPr>
        <p:spPr>
          <a:xfrm>
            <a:off x="6350508" y="2103120"/>
            <a:ext cx="11536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0D4FF"/>
                </a:solidFill>
              </a:rPr>
              <a:t>2월</a:t>
            </a:r>
            <a:endParaRPr lang="en-US" sz="2000" dirty="0"/>
          </a:p>
        </p:txBody>
      </p:sp>
      <p:sp>
        <p:nvSpPr>
          <p:cNvPr id="26" name="text-163"/>
          <p:cNvSpPr txBox="1"/>
          <p:nvPr/>
        </p:nvSpPr>
        <p:spPr>
          <a:xfrm>
            <a:off x="6350508" y="2542032"/>
            <a:ext cx="11536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</a:rPr>
              <a:t>확대 ②</a:t>
            </a:r>
            <a:endParaRPr lang="en-US" sz="1600" dirty="0"/>
          </a:p>
        </p:txBody>
      </p:sp>
      <p:sp>
        <p:nvSpPr>
          <p:cNvPr id="27" name="text-164"/>
          <p:cNvSpPr txBox="1"/>
          <p:nvPr/>
        </p:nvSpPr>
        <p:spPr>
          <a:xfrm>
            <a:off x="6332220" y="2944368"/>
            <a:ext cx="12451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D5DDE8"/>
                </a:solidFill>
              </a:rPr>
              <a:t>명절 성과 분석</a:t>
            </a:r>
            <a:endParaRPr lang="en-US" sz="1400" dirty="0"/>
          </a:p>
          <a:p>
            <a:pPr marL="127000" indent="-1270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D5DDE8"/>
                </a:solidFill>
              </a:rPr>
              <a:t>효율 채널 재배분</a:t>
            </a:r>
            <a:endParaRPr lang="en-US" sz="1400" dirty="0"/>
          </a:p>
        </p:txBody>
      </p:sp>
      <p:sp>
        <p:nvSpPr>
          <p:cNvPr id="28" name="roas-chip-3"/>
          <p:cNvSpPr/>
          <p:nvPr/>
        </p:nvSpPr>
        <p:spPr>
          <a:xfrm>
            <a:off x="6185916" y="4343400"/>
            <a:ext cx="1482852" cy="621792"/>
          </a:xfrm>
          <a:prstGeom prst="roundRect">
            <a:avLst>
              <a:gd name="adj" fmla="val 22059"/>
            </a:avLst>
          </a:prstGeom>
          <a:solidFill>
            <a:srgbClr val="3182F6"/>
          </a:solidFill>
          <a:ln/>
        </p:spPr>
      </p:sp>
      <p:sp>
        <p:nvSpPr>
          <p:cNvPr id="29" name="text-165"/>
          <p:cNvSpPr txBox="1"/>
          <p:nvPr/>
        </p:nvSpPr>
        <p:spPr>
          <a:xfrm>
            <a:off x="6185916" y="4343400"/>
            <a:ext cx="14828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목표 ROAS</a:t>
            </a:r>
            <a:endParaRPr lang="en-US" sz="14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</a:rPr>
              <a:t>300%</a:t>
            </a:r>
            <a:endParaRPr lang="en-US" sz="1400" dirty="0"/>
          </a:p>
        </p:txBody>
      </p:sp>
      <p:sp>
        <p:nvSpPr>
          <p:cNvPr id="30" name="card-166"/>
          <p:cNvSpPr/>
          <p:nvPr/>
        </p:nvSpPr>
        <p:spPr>
          <a:xfrm>
            <a:off x="7851648" y="1920240"/>
            <a:ext cx="1482852" cy="2286000"/>
          </a:xfrm>
          <a:prstGeom prst="roundRect">
            <a:avLst>
              <a:gd name="adj" fmla="val 7400"/>
            </a:avLst>
          </a:prstGeom>
          <a:solidFill>
            <a:srgbClr val="FFFFFF">
              <a:alpha val="10000"/>
            </a:srgbClr>
          </a:solidFill>
          <a:ln/>
        </p:spPr>
      </p:sp>
      <p:sp>
        <p:nvSpPr>
          <p:cNvPr id="31" name="text-167"/>
          <p:cNvSpPr txBox="1"/>
          <p:nvPr/>
        </p:nvSpPr>
        <p:spPr>
          <a:xfrm>
            <a:off x="8016240" y="2103120"/>
            <a:ext cx="11536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0D4FF"/>
                </a:solidFill>
              </a:rPr>
              <a:t>3월</a:t>
            </a:r>
            <a:endParaRPr lang="en-US" sz="2000" dirty="0"/>
          </a:p>
        </p:txBody>
      </p:sp>
      <p:sp>
        <p:nvSpPr>
          <p:cNvPr id="32" name="text-168"/>
          <p:cNvSpPr txBox="1"/>
          <p:nvPr/>
        </p:nvSpPr>
        <p:spPr>
          <a:xfrm>
            <a:off x="8016240" y="2542032"/>
            <a:ext cx="11536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</a:rPr>
              <a:t>집중</a:t>
            </a:r>
            <a:endParaRPr lang="en-US" sz="1600" dirty="0"/>
          </a:p>
        </p:txBody>
      </p:sp>
      <p:sp>
        <p:nvSpPr>
          <p:cNvPr id="33" name="text-169"/>
          <p:cNvSpPr txBox="1"/>
          <p:nvPr/>
        </p:nvSpPr>
        <p:spPr>
          <a:xfrm>
            <a:off x="7997952" y="2944368"/>
            <a:ext cx="12451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D5DDE8"/>
                </a:solidFill>
              </a:rPr>
              <a:t>효율 상품</a:t>
            </a:r>
            <a:endParaRPr lang="en-US" sz="1400" dirty="0"/>
          </a:p>
          <a:p>
            <a:pPr marL="127000" indent="-1270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D5DDE8"/>
                </a:solidFill>
              </a:rPr>
              <a:t>채널에 예산 집중</a:t>
            </a:r>
            <a:endParaRPr lang="en-US" sz="1400" dirty="0"/>
          </a:p>
        </p:txBody>
      </p:sp>
      <p:sp>
        <p:nvSpPr>
          <p:cNvPr id="34" name="roas-chip-4"/>
          <p:cNvSpPr/>
          <p:nvPr/>
        </p:nvSpPr>
        <p:spPr>
          <a:xfrm>
            <a:off x="7851648" y="4343400"/>
            <a:ext cx="1482852" cy="621792"/>
          </a:xfrm>
          <a:prstGeom prst="roundRect">
            <a:avLst>
              <a:gd name="adj" fmla="val 22059"/>
            </a:avLst>
          </a:prstGeom>
          <a:solidFill>
            <a:srgbClr val="3182F6"/>
          </a:solidFill>
          <a:ln/>
        </p:spPr>
      </p:sp>
      <p:sp>
        <p:nvSpPr>
          <p:cNvPr id="35" name="text-170"/>
          <p:cNvSpPr txBox="1"/>
          <p:nvPr/>
        </p:nvSpPr>
        <p:spPr>
          <a:xfrm>
            <a:off x="7851648" y="4343400"/>
            <a:ext cx="14828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목표 ROAS</a:t>
            </a:r>
            <a:endParaRPr lang="en-US" sz="14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</a:rPr>
              <a:t>300%</a:t>
            </a:r>
            <a:endParaRPr lang="en-US" sz="1400" dirty="0"/>
          </a:p>
        </p:txBody>
      </p:sp>
      <p:sp>
        <p:nvSpPr>
          <p:cNvPr id="36" name="card-171"/>
          <p:cNvSpPr/>
          <p:nvPr/>
        </p:nvSpPr>
        <p:spPr>
          <a:xfrm>
            <a:off x="9517380" y="1920240"/>
            <a:ext cx="1482852" cy="2286000"/>
          </a:xfrm>
          <a:prstGeom prst="roundRect">
            <a:avLst>
              <a:gd name="adj" fmla="val 7400"/>
            </a:avLst>
          </a:prstGeom>
          <a:solidFill>
            <a:srgbClr val="FFFFFF">
              <a:alpha val="10000"/>
            </a:srgbClr>
          </a:solidFill>
          <a:ln/>
        </p:spPr>
      </p:sp>
      <p:sp>
        <p:nvSpPr>
          <p:cNvPr id="37" name="text-172"/>
          <p:cNvSpPr txBox="1"/>
          <p:nvPr/>
        </p:nvSpPr>
        <p:spPr>
          <a:xfrm>
            <a:off x="9681972" y="2103120"/>
            <a:ext cx="11536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0D4FF"/>
                </a:solidFill>
              </a:rPr>
              <a:t>4월</a:t>
            </a:r>
            <a:endParaRPr lang="en-US" sz="2000" dirty="0"/>
          </a:p>
        </p:txBody>
      </p:sp>
      <p:sp>
        <p:nvSpPr>
          <p:cNvPr id="38" name="text-173"/>
          <p:cNvSpPr txBox="1"/>
          <p:nvPr/>
        </p:nvSpPr>
        <p:spPr>
          <a:xfrm>
            <a:off x="9681972" y="2542032"/>
            <a:ext cx="11536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</a:rPr>
              <a:t>정리</a:t>
            </a:r>
            <a:endParaRPr lang="en-US" sz="1600" dirty="0"/>
          </a:p>
        </p:txBody>
      </p:sp>
      <p:sp>
        <p:nvSpPr>
          <p:cNvPr id="39" name="text-174"/>
          <p:cNvSpPr txBox="1"/>
          <p:nvPr/>
        </p:nvSpPr>
        <p:spPr>
          <a:xfrm>
            <a:off x="9663684" y="2944368"/>
            <a:ext cx="12451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D5DDE8"/>
                </a:solidFill>
              </a:rPr>
              <a:t>성과 유지</a:t>
            </a:r>
            <a:endParaRPr lang="en-US" sz="1400" dirty="0"/>
          </a:p>
          <a:p>
            <a:pPr marL="127000" indent="-1270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D5DDE8"/>
                </a:solidFill>
              </a:rPr>
              <a:t>6개월 성과 자료 작성</a:t>
            </a:r>
            <a:endParaRPr lang="en-US" sz="1400" dirty="0"/>
          </a:p>
        </p:txBody>
      </p:sp>
      <p:sp>
        <p:nvSpPr>
          <p:cNvPr id="40" name="roas-chip-5"/>
          <p:cNvSpPr/>
          <p:nvPr/>
        </p:nvSpPr>
        <p:spPr>
          <a:xfrm>
            <a:off x="9517380" y="4343400"/>
            <a:ext cx="1482852" cy="621792"/>
          </a:xfrm>
          <a:prstGeom prst="roundRect">
            <a:avLst>
              <a:gd name="adj" fmla="val 22059"/>
            </a:avLst>
          </a:prstGeom>
          <a:solidFill>
            <a:srgbClr val="3182F6"/>
          </a:solidFill>
          <a:ln/>
        </p:spPr>
      </p:sp>
      <p:sp>
        <p:nvSpPr>
          <p:cNvPr id="41" name="text-175"/>
          <p:cNvSpPr txBox="1"/>
          <p:nvPr/>
        </p:nvSpPr>
        <p:spPr>
          <a:xfrm>
            <a:off x="9517380" y="4343400"/>
            <a:ext cx="14828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목표 ROAS</a:t>
            </a:r>
            <a:endParaRPr lang="en-US" sz="14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</a:rPr>
              <a:t>300%</a:t>
            </a:r>
            <a:endParaRPr lang="en-US" sz="1400" dirty="0"/>
          </a:p>
        </p:txBody>
      </p:sp>
      <p:sp>
        <p:nvSpPr>
          <p:cNvPr id="42" name="card-176"/>
          <p:cNvSpPr/>
          <p:nvPr/>
        </p:nvSpPr>
        <p:spPr>
          <a:xfrm>
            <a:off x="1188720" y="5166360"/>
            <a:ext cx="9811512" cy="731520"/>
          </a:xfrm>
          <a:prstGeom prst="roundRect">
            <a:avLst>
              <a:gd name="adj" fmla="val 15000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35000"/>
              </a:srgbClr>
            </a:solidFill>
            <a:prstDash val="solid"/>
          </a:ln>
        </p:spPr>
      </p:sp>
      <p:sp>
        <p:nvSpPr>
          <p:cNvPr id="43" name="text-177"/>
          <p:cNvSpPr txBox="1"/>
          <p:nvPr/>
        </p:nvSpPr>
        <p:spPr>
          <a:xfrm>
            <a:off x="1463040" y="5166360"/>
            <a:ext cx="92628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B0D4FF"/>
                </a:solidFill>
              </a:rPr>
              <a:t>증액 조건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    1~2개월차는 리뷰 목표 달성 시 다음 단계로. 3개월차부터는 전월 ROAS 기준 달성 시 증액, 미달 시 동결 후 키워드 · 상품 정리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464040" y="6473952"/>
            <a:ext cx="5486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FFFF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5" type="body" hasCustomPrompt="1"/>
          </p:nvPr>
        </p:nvSpPr>
        <p:spPr>
          <a:xfrm>
            <a:off x="1188720" y="475488"/>
            <a:ext cx="98115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05</a:t>
            </a:r>
            <a:pPr algn="l" indent="0" marL="0">
              <a:buNone/>
            </a:pPr>
            <a:r>
              <a:rPr lang="en-US" sz="2400" dirty="0">
                <a:solidFill>
                  <a:srgbClr val="FFFFFF"/>
                </a:solidFill>
              </a:rPr>
              <a:t>  예산 옵션</a:t>
            </a:r>
            <a:endParaRPr lang="en-US" sz="2400" dirty="0"/>
          </a:p>
        </p:txBody>
      </p:sp>
      <p:sp>
        <p:nvSpPr>
          <p:cNvPr id="3" name="title-rule-strong"/>
          <p:cNvSpPr/>
          <p:nvPr/>
        </p:nvSpPr>
        <p:spPr>
          <a:xfrm>
            <a:off x="3563112" y="822960"/>
            <a:ext cx="777240" cy="274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itle-rule-faint"/>
          <p:cNvSpPr/>
          <p:nvPr/>
        </p:nvSpPr>
        <p:spPr>
          <a:xfrm>
            <a:off x="4340352" y="822960"/>
            <a:ext cx="6659880" cy="27432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</p:sp>
      <p:sp>
        <p:nvSpPr>
          <p:cNvPr id="5" name="Text 3"/>
          <p:cNvSpPr/>
          <p:nvPr>
            <p:ph idx="106" type="title" hasCustomPrompt="1"/>
          </p:nvPr>
        </p:nvSpPr>
        <p:spPr>
          <a:xfrm>
            <a:off x="1188720" y="1069848"/>
            <a:ext cx="9811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FFFFFF"/>
                </a:solidFill>
              </a:rPr>
              <a:t>최대 도달 예산에 따라 3가지 안을 제안합니다</a:t>
            </a:r>
            <a:endParaRPr lang="en-US" sz="2600" dirty="0"/>
          </a:p>
        </p:txBody>
      </p:sp>
      <p:sp>
        <p:nvSpPr>
          <p:cNvPr id="6" name="card-178"/>
          <p:cNvSpPr/>
          <p:nvPr/>
        </p:nvSpPr>
        <p:spPr>
          <a:xfrm>
            <a:off x="1188720" y="1920240"/>
            <a:ext cx="6035040" cy="3703320"/>
          </a:xfrm>
          <a:prstGeom prst="roundRect">
            <a:avLst>
              <a:gd name="adj" fmla="val 2963"/>
            </a:avLst>
          </a:prstGeom>
          <a:solidFill>
            <a:srgbClr val="FFFFFF">
              <a:alpha val="10000"/>
            </a:srgbClr>
          </a:solidFill>
          <a:ln/>
        </p:spPr>
      </p:sp>
      <p:graphicFrame>
        <p:nvGraphicFramePr>
          <p:cNvPr id="7" name="chart-budget-options" descr=""/>
          <p:cNvGraphicFramePr/>
          <p:nvPr/>
        </p:nvGraphicFramePr>
        <p:xfrm>
          <a:off x="1280160" y="1993392"/>
          <a:ext cx="5852160" cy="355701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card-179"/>
          <p:cNvSpPr/>
          <p:nvPr/>
        </p:nvSpPr>
        <p:spPr>
          <a:xfrm>
            <a:off x="7498080" y="1920240"/>
            <a:ext cx="3502152" cy="1051560"/>
          </a:xfrm>
          <a:prstGeom prst="roundRect">
            <a:avLst>
              <a:gd name="adj" fmla="val 10435"/>
            </a:avLst>
          </a:prstGeom>
          <a:solidFill>
            <a:srgbClr val="FFFFFF">
              <a:alpha val="10000"/>
            </a:srgbClr>
          </a:solidFill>
          <a:ln/>
        </p:spPr>
      </p:sp>
      <p:sp>
        <p:nvSpPr>
          <p:cNvPr id="9" name="text-180"/>
          <p:cNvSpPr txBox="1"/>
          <p:nvPr/>
        </p:nvSpPr>
        <p:spPr>
          <a:xfrm>
            <a:off x="7772400" y="212140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FFFF"/>
                </a:solidFill>
              </a:rPr>
              <a:t>A안</a:t>
            </a:r>
            <a:endParaRPr lang="en-US" sz="1700" dirty="0"/>
          </a:p>
        </p:txBody>
      </p:sp>
      <p:sp>
        <p:nvSpPr>
          <p:cNvPr id="10" name="text-181"/>
          <p:cNvSpPr txBox="1"/>
          <p:nvPr/>
        </p:nvSpPr>
        <p:spPr>
          <a:xfrm>
            <a:off x="9125712" y="212140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0D4FF"/>
                </a:solidFill>
              </a:rPr>
              <a:t>2,050만 원</a:t>
            </a:r>
            <a:endParaRPr lang="en-US" sz="2000" dirty="0"/>
          </a:p>
        </p:txBody>
      </p:sp>
      <p:sp>
        <p:nvSpPr>
          <p:cNvPr id="11" name="text-182"/>
          <p:cNvSpPr txBox="1"/>
          <p:nvPr/>
        </p:nvSpPr>
        <p:spPr>
          <a:xfrm>
            <a:off x="7772400" y="25603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5DDE8"/>
                </a:solidFill>
              </a:rPr>
              <a:t>최대 월 500만 원</a:t>
            </a:r>
            <a:endParaRPr lang="en-US" sz="1400" dirty="0"/>
          </a:p>
        </p:txBody>
      </p:sp>
      <p:sp>
        <p:nvSpPr>
          <p:cNvPr id="12" name="text-183"/>
          <p:cNvSpPr txBox="1"/>
          <p:nvPr/>
        </p:nvSpPr>
        <p:spPr>
          <a:xfrm>
            <a:off x="9354312" y="257860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FB0C5"/>
                </a:solidFill>
              </a:rPr>
              <a:t>6개월 합계</a:t>
            </a:r>
            <a:endParaRPr lang="en-US" sz="1200" dirty="0"/>
          </a:p>
        </p:txBody>
      </p:sp>
      <p:sp>
        <p:nvSpPr>
          <p:cNvPr id="13" name="card-184"/>
          <p:cNvSpPr/>
          <p:nvPr/>
        </p:nvSpPr>
        <p:spPr>
          <a:xfrm>
            <a:off x="7498080" y="3246120"/>
            <a:ext cx="3502152" cy="1051560"/>
          </a:xfrm>
          <a:prstGeom prst="roundRect">
            <a:avLst>
              <a:gd name="adj" fmla="val 10435"/>
            </a:avLst>
          </a:prstGeom>
          <a:solidFill>
            <a:srgbClr val="3182F6"/>
          </a:solidFill>
          <a:ln/>
        </p:spPr>
      </p:sp>
      <p:sp>
        <p:nvSpPr>
          <p:cNvPr id="14" name="text-185"/>
          <p:cNvSpPr txBox="1"/>
          <p:nvPr/>
        </p:nvSpPr>
        <p:spPr>
          <a:xfrm>
            <a:off x="7772400" y="344728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FFFF"/>
                </a:solidFill>
              </a:rPr>
              <a:t>B안 · 권장</a:t>
            </a:r>
            <a:endParaRPr lang="en-US" sz="1700" dirty="0"/>
          </a:p>
        </p:txBody>
      </p:sp>
      <p:sp>
        <p:nvSpPr>
          <p:cNvPr id="15" name="text-186"/>
          <p:cNvSpPr txBox="1"/>
          <p:nvPr/>
        </p:nvSpPr>
        <p:spPr>
          <a:xfrm>
            <a:off x="9125712" y="344728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FFFFFF"/>
                </a:solidFill>
              </a:rPr>
              <a:t>3,050만 원</a:t>
            </a:r>
            <a:endParaRPr lang="en-US" sz="2000" dirty="0"/>
          </a:p>
        </p:txBody>
      </p:sp>
      <p:sp>
        <p:nvSpPr>
          <p:cNvPr id="16" name="text-187"/>
          <p:cNvSpPr txBox="1"/>
          <p:nvPr/>
        </p:nvSpPr>
        <p:spPr>
          <a:xfrm>
            <a:off x="7772400" y="3886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최대 월 750만 원</a:t>
            </a:r>
            <a:endParaRPr lang="en-US" sz="1400" dirty="0"/>
          </a:p>
        </p:txBody>
      </p:sp>
      <p:sp>
        <p:nvSpPr>
          <p:cNvPr id="17" name="text-188"/>
          <p:cNvSpPr txBox="1"/>
          <p:nvPr/>
        </p:nvSpPr>
        <p:spPr>
          <a:xfrm>
            <a:off x="9354312" y="390448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B0D4FF"/>
                </a:solidFill>
              </a:rPr>
              <a:t>6개월 합계</a:t>
            </a:r>
            <a:endParaRPr lang="en-US" sz="1200" dirty="0"/>
          </a:p>
        </p:txBody>
      </p:sp>
      <p:sp>
        <p:nvSpPr>
          <p:cNvPr id="18" name="card-189"/>
          <p:cNvSpPr/>
          <p:nvPr/>
        </p:nvSpPr>
        <p:spPr>
          <a:xfrm>
            <a:off x="7498080" y="4572000"/>
            <a:ext cx="3502152" cy="1051560"/>
          </a:xfrm>
          <a:prstGeom prst="roundRect">
            <a:avLst>
              <a:gd name="adj" fmla="val 10435"/>
            </a:avLst>
          </a:prstGeom>
          <a:solidFill>
            <a:srgbClr val="FFFFFF">
              <a:alpha val="10000"/>
            </a:srgbClr>
          </a:solidFill>
          <a:ln/>
        </p:spPr>
      </p:sp>
      <p:sp>
        <p:nvSpPr>
          <p:cNvPr id="19" name="text-190"/>
          <p:cNvSpPr txBox="1"/>
          <p:nvPr/>
        </p:nvSpPr>
        <p:spPr>
          <a:xfrm>
            <a:off x="7772400" y="477316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FFFF"/>
                </a:solidFill>
              </a:rPr>
              <a:t>C안</a:t>
            </a:r>
            <a:endParaRPr lang="en-US" sz="1700" dirty="0"/>
          </a:p>
        </p:txBody>
      </p:sp>
      <p:sp>
        <p:nvSpPr>
          <p:cNvPr id="20" name="text-191"/>
          <p:cNvSpPr txBox="1"/>
          <p:nvPr/>
        </p:nvSpPr>
        <p:spPr>
          <a:xfrm>
            <a:off x="9125712" y="477316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0D4FF"/>
                </a:solidFill>
              </a:rPr>
              <a:t>4,050만 원</a:t>
            </a:r>
            <a:endParaRPr lang="en-US" sz="2000" dirty="0"/>
          </a:p>
        </p:txBody>
      </p:sp>
      <p:sp>
        <p:nvSpPr>
          <p:cNvPr id="21" name="text-192"/>
          <p:cNvSpPr txBox="1"/>
          <p:nvPr/>
        </p:nvSpPr>
        <p:spPr>
          <a:xfrm>
            <a:off x="7772400" y="52120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5DDE8"/>
                </a:solidFill>
              </a:rPr>
              <a:t>최대 월 1,000만 원</a:t>
            </a:r>
            <a:endParaRPr lang="en-US" sz="1400" dirty="0"/>
          </a:p>
        </p:txBody>
      </p:sp>
      <p:sp>
        <p:nvSpPr>
          <p:cNvPr id="22" name="text-193"/>
          <p:cNvSpPr txBox="1"/>
          <p:nvPr/>
        </p:nvSpPr>
        <p:spPr>
          <a:xfrm>
            <a:off x="9354312" y="523036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FB0C5"/>
                </a:solidFill>
              </a:rPr>
              <a:t>6개월 합계</a:t>
            </a:r>
            <a:endParaRPr lang="en-US" sz="1200" dirty="0"/>
          </a:p>
        </p:txBody>
      </p:sp>
      <p:sp>
        <p:nvSpPr>
          <p:cNvPr id="23" name="text-194"/>
          <p:cNvSpPr txBox="1"/>
          <p:nvPr/>
        </p:nvSpPr>
        <p:spPr>
          <a:xfrm>
            <a:off x="1188720" y="576072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FB0C5"/>
                </a:solidFill>
              </a:rPr>
              <a:t>6개월 광고비 합계 기준 · VAT 별도 | 대행수수료: 쿠팡 광고비의 15% (네이버 없음) | 체험단 운영비 별도 견적 | 상세페이지 개선 선택 시 별도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464040" y="6473952"/>
            <a:ext cx="5486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FFFF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5" type="body" hasCustomPrompt="1"/>
          </p:nvPr>
        </p:nvSpPr>
        <p:spPr>
          <a:xfrm>
            <a:off x="1188720" y="475488"/>
            <a:ext cx="98115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05</a:t>
            </a:r>
            <a:pPr algn="l" indent="0" marL="0">
              <a:buNone/>
            </a:pPr>
            <a:r>
              <a:rPr lang="en-US" sz="2400" dirty="0">
                <a:solidFill>
                  <a:srgbClr val="FFFFFF"/>
                </a:solidFill>
              </a:rPr>
              <a:t>  목표 ROAS 300% 기준 예상 매출</a:t>
            </a:r>
            <a:endParaRPr lang="en-US" sz="2400" dirty="0"/>
          </a:p>
        </p:txBody>
      </p:sp>
      <p:sp>
        <p:nvSpPr>
          <p:cNvPr id="3" name="title-rule-strong"/>
          <p:cNvSpPr/>
          <p:nvPr/>
        </p:nvSpPr>
        <p:spPr>
          <a:xfrm>
            <a:off x="6745224" y="822960"/>
            <a:ext cx="777240" cy="274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itle-rule-faint"/>
          <p:cNvSpPr/>
          <p:nvPr/>
        </p:nvSpPr>
        <p:spPr>
          <a:xfrm>
            <a:off x="7522464" y="822960"/>
            <a:ext cx="3477768" cy="27432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</p:sp>
      <p:sp>
        <p:nvSpPr>
          <p:cNvPr id="5" name="Text 3"/>
          <p:cNvSpPr/>
          <p:nvPr>
            <p:ph idx="106" type="title" hasCustomPrompt="1"/>
          </p:nvPr>
        </p:nvSpPr>
        <p:spPr>
          <a:xfrm>
            <a:off x="1188720" y="1069848"/>
            <a:ext cx="9811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FFFFFF"/>
                </a:solidFill>
              </a:rPr>
              <a:t>4개월차부터 광고비의 3배 매출을 목표로 합니다</a:t>
            </a:r>
            <a:endParaRPr lang="en-US" sz="2600" dirty="0"/>
          </a:p>
        </p:txBody>
      </p:sp>
      <p:sp>
        <p:nvSpPr>
          <p:cNvPr id="6" name="card-195"/>
          <p:cNvSpPr/>
          <p:nvPr/>
        </p:nvSpPr>
        <p:spPr>
          <a:xfrm>
            <a:off x="1188720" y="1920240"/>
            <a:ext cx="3087624" cy="1280160"/>
          </a:xfrm>
          <a:prstGeom prst="roundRect">
            <a:avLst>
              <a:gd name="adj" fmla="val 8571"/>
            </a:avLst>
          </a:prstGeom>
          <a:solidFill>
            <a:srgbClr val="FFFFFF">
              <a:alpha val="10000"/>
            </a:srgbClr>
          </a:solidFill>
          <a:ln/>
        </p:spPr>
      </p:sp>
      <p:sp>
        <p:nvSpPr>
          <p:cNvPr id="7" name="text-196"/>
          <p:cNvSpPr txBox="1"/>
          <p:nvPr/>
        </p:nvSpPr>
        <p:spPr>
          <a:xfrm>
            <a:off x="1463040" y="2057400"/>
            <a:ext cx="2538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</a:rPr>
              <a:t>A안</a:t>
            </a:r>
            <a:endParaRPr lang="en-US" sz="1400" dirty="0"/>
          </a:p>
        </p:txBody>
      </p:sp>
      <p:sp>
        <p:nvSpPr>
          <p:cNvPr id="8" name="text-197"/>
          <p:cNvSpPr txBox="1"/>
          <p:nvPr/>
        </p:nvSpPr>
        <p:spPr>
          <a:xfrm>
            <a:off x="1463040" y="2331720"/>
            <a:ext cx="2538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B0D4FF"/>
                </a:solidFill>
              </a:rPr>
              <a:t>1,500만 원</a:t>
            </a:r>
            <a:endParaRPr lang="en-US" sz="3000" dirty="0"/>
          </a:p>
        </p:txBody>
      </p:sp>
      <p:sp>
        <p:nvSpPr>
          <p:cNvPr id="9" name="text-198"/>
          <p:cNvSpPr txBox="1"/>
          <p:nvPr/>
        </p:nvSpPr>
        <p:spPr>
          <a:xfrm>
            <a:off x="1463040" y="2862072"/>
            <a:ext cx="25389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9FB0C5"/>
                </a:solidFill>
              </a:rPr>
              <a:t>6개월차 월 광고 매출</a:t>
            </a:r>
            <a:endParaRPr lang="en-US" sz="1300" dirty="0"/>
          </a:p>
        </p:txBody>
      </p:sp>
      <p:sp>
        <p:nvSpPr>
          <p:cNvPr id="10" name="card-199"/>
          <p:cNvSpPr/>
          <p:nvPr/>
        </p:nvSpPr>
        <p:spPr>
          <a:xfrm>
            <a:off x="4550664" y="1920240"/>
            <a:ext cx="3087624" cy="1280160"/>
          </a:xfrm>
          <a:prstGeom prst="roundRect">
            <a:avLst>
              <a:gd name="adj" fmla="val 8571"/>
            </a:avLst>
          </a:prstGeom>
          <a:solidFill>
            <a:srgbClr val="3182F6"/>
          </a:solidFill>
          <a:ln/>
        </p:spPr>
      </p:sp>
      <p:sp>
        <p:nvSpPr>
          <p:cNvPr id="11" name="text-200"/>
          <p:cNvSpPr txBox="1"/>
          <p:nvPr/>
        </p:nvSpPr>
        <p:spPr>
          <a:xfrm>
            <a:off x="4824984" y="2057400"/>
            <a:ext cx="2538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</a:rPr>
              <a:t>B안 · 권장</a:t>
            </a:r>
            <a:endParaRPr lang="en-US" sz="1400" dirty="0"/>
          </a:p>
        </p:txBody>
      </p:sp>
      <p:sp>
        <p:nvSpPr>
          <p:cNvPr id="12" name="text-201"/>
          <p:cNvSpPr txBox="1"/>
          <p:nvPr/>
        </p:nvSpPr>
        <p:spPr>
          <a:xfrm>
            <a:off x="4824984" y="2331720"/>
            <a:ext cx="2538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FFFF"/>
                </a:solidFill>
              </a:rPr>
              <a:t>2,250만 원</a:t>
            </a:r>
            <a:endParaRPr lang="en-US" sz="3000" dirty="0"/>
          </a:p>
        </p:txBody>
      </p:sp>
      <p:sp>
        <p:nvSpPr>
          <p:cNvPr id="13" name="text-202"/>
          <p:cNvSpPr txBox="1"/>
          <p:nvPr/>
        </p:nvSpPr>
        <p:spPr>
          <a:xfrm>
            <a:off x="4824984" y="2862072"/>
            <a:ext cx="25389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B0D4FF"/>
                </a:solidFill>
              </a:rPr>
              <a:t>6개월차 월 광고 매출</a:t>
            </a:r>
            <a:endParaRPr lang="en-US" sz="1300" dirty="0"/>
          </a:p>
        </p:txBody>
      </p:sp>
      <p:sp>
        <p:nvSpPr>
          <p:cNvPr id="14" name="card-203"/>
          <p:cNvSpPr/>
          <p:nvPr/>
        </p:nvSpPr>
        <p:spPr>
          <a:xfrm>
            <a:off x="7912608" y="1920240"/>
            <a:ext cx="3087624" cy="1280160"/>
          </a:xfrm>
          <a:prstGeom prst="roundRect">
            <a:avLst>
              <a:gd name="adj" fmla="val 8571"/>
            </a:avLst>
          </a:prstGeom>
          <a:solidFill>
            <a:srgbClr val="FFFFFF">
              <a:alpha val="10000"/>
            </a:srgbClr>
          </a:solidFill>
          <a:ln/>
        </p:spPr>
      </p:sp>
      <p:sp>
        <p:nvSpPr>
          <p:cNvPr id="15" name="text-204"/>
          <p:cNvSpPr txBox="1"/>
          <p:nvPr/>
        </p:nvSpPr>
        <p:spPr>
          <a:xfrm>
            <a:off x="8186928" y="2057400"/>
            <a:ext cx="2538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</a:rPr>
              <a:t>C안</a:t>
            </a:r>
            <a:endParaRPr lang="en-US" sz="1400" dirty="0"/>
          </a:p>
        </p:txBody>
      </p:sp>
      <p:sp>
        <p:nvSpPr>
          <p:cNvPr id="16" name="text-205"/>
          <p:cNvSpPr txBox="1"/>
          <p:nvPr/>
        </p:nvSpPr>
        <p:spPr>
          <a:xfrm>
            <a:off x="8186928" y="2331720"/>
            <a:ext cx="2538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B0D4FF"/>
                </a:solidFill>
              </a:rPr>
              <a:t>3,000만 원</a:t>
            </a:r>
            <a:endParaRPr lang="en-US" sz="3000" dirty="0"/>
          </a:p>
        </p:txBody>
      </p:sp>
      <p:sp>
        <p:nvSpPr>
          <p:cNvPr id="17" name="text-206"/>
          <p:cNvSpPr txBox="1"/>
          <p:nvPr/>
        </p:nvSpPr>
        <p:spPr>
          <a:xfrm>
            <a:off x="8186928" y="2862072"/>
            <a:ext cx="25389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9FB0C5"/>
                </a:solidFill>
              </a:rPr>
              <a:t>6개월차 월 광고 매출</a:t>
            </a:r>
            <a:endParaRPr lang="en-US" sz="1300" dirty="0"/>
          </a:p>
        </p:txBody>
      </p:sp>
      <p:graphicFrame>
        <p:nvGraphicFramePr>
          <p:cNvPr id="14" name="table-roa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88720" y="3429000"/>
          <a:ext cx="9811512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033272"/>
                <a:gridCol w="1033272"/>
                <a:gridCol w="1033272"/>
                <a:gridCol w="1033272"/>
                <a:gridCol w="1033272"/>
                <a:gridCol w="1033272"/>
                <a:gridCol w="1188720"/>
                <a:gridCol w="11887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구분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82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1개월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82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2개월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82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3개월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82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4개월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82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5개월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82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6개월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82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6개월 합계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82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평균 ROAS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82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목표 ROAS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065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D5DDE8"/>
                          </a:solidFill>
                        </a:rPr>
                        <a:t>100%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065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D5DDE8"/>
                          </a:solidFill>
                        </a:rPr>
                        <a:t>150%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065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D5DDE8"/>
                          </a:solidFill>
                        </a:rPr>
                        <a:t>200%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065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D5DDE8"/>
                          </a:solidFill>
                        </a:rPr>
                        <a:t>300%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065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D5DDE8"/>
                          </a:solidFill>
                        </a:rPr>
                        <a:t>300%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065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D5DDE8"/>
                          </a:solidFill>
                        </a:rPr>
                        <a:t>300%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065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D5DDE8"/>
                          </a:solidFill>
                        </a:rPr>
                        <a:t>-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065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D5DDE8"/>
                          </a:solidFill>
                        </a:rPr>
                        <a:t>-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0658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A안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53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D5DDE8"/>
                          </a:solidFill>
                        </a:rPr>
                        <a:t>150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53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D5DDE8"/>
                          </a:solidFill>
                        </a:rPr>
                        <a:t>300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53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D5DDE8"/>
                          </a:solidFill>
                        </a:rPr>
                        <a:t>600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53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D5DDE8"/>
                          </a:solidFill>
                        </a:rPr>
                        <a:t>1,200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53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D5DDE8"/>
                          </a:solidFill>
                        </a:rPr>
                        <a:t>1,500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53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D5DDE8"/>
                          </a:solidFill>
                        </a:rPr>
                        <a:t>1,500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53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D5DDE8"/>
                          </a:solidFill>
                        </a:rPr>
                        <a:t>5,250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53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0D4FF"/>
                          </a:solidFill>
                        </a:rPr>
                        <a:t>256%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536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B안 (권장)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5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200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5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450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5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900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5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1,800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5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2,250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5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2,250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5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7,850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5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0D4FF"/>
                          </a:solidFill>
                        </a:rPr>
                        <a:t>257%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59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C안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53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D5DDE8"/>
                          </a:solidFill>
                        </a:rPr>
                        <a:t>250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53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D5DDE8"/>
                          </a:solidFill>
                        </a:rPr>
                        <a:t>600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53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D5DDE8"/>
                          </a:solidFill>
                        </a:rPr>
                        <a:t>1,200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53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D5DDE8"/>
                          </a:solidFill>
                        </a:rPr>
                        <a:t>2,400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53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D5DDE8"/>
                          </a:solidFill>
                        </a:rPr>
                        <a:t>3,000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53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D5DDE8"/>
                          </a:solidFill>
                        </a:rPr>
                        <a:t>3,000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53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D5DDE8"/>
                          </a:solidFill>
                        </a:rPr>
                        <a:t>10,450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53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0D4FF"/>
                          </a:solidFill>
                        </a:rPr>
                        <a:t>258%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5369"/>
                    </a:solidFill>
                  </a:tcPr>
                </a:tc>
              </a:tr>
            </a:tbl>
          </a:graphicData>
        </a:graphic>
      </p:graphicFrame>
      <p:sp>
        <p:nvSpPr>
          <p:cNvPr id="19" name="text-207"/>
          <p:cNvSpPr txBox="1"/>
          <p:nvPr/>
        </p:nvSpPr>
        <p:spPr>
          <a:xfrm>
            <a:off x="1188720" y="5468112"/>
            <a:ext cx="98115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FB0C5"/>
                </a:solidFill>
              </a:rPr>
              <a:t>단위: 만 원. 광고 기여 매출 = 광고비 × 목표 ROAS. 현재 자연 매출(월 약 300만 원)은 별도이며, ROAS는 대행수수료를 제외한 광고비 기준입니다. 1~3개월차 ROAS는 리뷰 확보 단계의 참고치입니다.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464040" y="6473952"/>
            <a:ext cx="5486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FFFF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5" type="body" hasCustomPrompt="1"/>
          </p:nvPr>
        </p:nvSpPr>
        <p:spPr>
          <a:xfrm>
            <a:off x="1188720" y="475488"/>
            <a:ext cx="98115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05</a:t>
            </a:r>
            <a:pPr algn="l" indent="0" marL="0">
              <a:buNone/>
            </a:pPr>
            <a:r>
              <a:rPr lang="en-US" sz="2400" dirty="0">
                <a:solidFill>
                  <a:srgbClr val="FFFFFF"/>
                </a:solidFill>
              </a:rPr>
              <a:t>  KPI와 성과 측정</a:t>
            </a:r>
            <a:endParaRPr lang="en-US" sz="2400" dirty="0"/>
          </a:p>
        </p:txBody>
      </p:sp>
      <p:sp>
        <p:nvSpPr>
          <p:cNvPr id="3" name="title-rule-strong"/>
          <p:cNvSpPr/>
          <p:nvPr/>
        </p:nvSpPr>
        <p:spPr>
          <a:xfrm>
            <a:off x="4645152" y="822960"/>
            <a:ext cx="777240" cy="274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itle-rule-faint"/>
          <p:cNvSpPr/>
          <p:nvPr/>
        </p:nvSpPr>
        <p:spPr>
          <a:xfrm>
            <a:off x="5422392" y="822960"/>
            <a:ext cx="5577840" cy="27432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</p:sp>
      <p:sp>
        <p:nvSpPr>
          <p:cNvPr id="5" name="Text 3"/>
          <p:cNvSpPr/>
          <p:nvPr>
            <p:ph idx="106" type="title" hasCustomPrompt="1"/>
          </p:nvPr>
        </p:nvSpPr>
        <p:spPr>
          <a:xfrm>
            <a:off x="1188720" y="1069848"/>
            <a:ext cx="9811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FFFFFF"/>
                </a:solidFill>
              </a:rPr>
              <a:t>온라인 지표로 매월 측정하고 보고합니다</a:t>
            </a:r>
            <a:endParaRPr lang="en-US" sz="2600" dirty="0"/>
          </a:p>
        </p:txBody>
      </p:sp>
      <p:graphicFrame>
        <p:nvGraphicFramePr>
          <p:cNvPr id="15" name="table-kpi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88720" y="1920240"/>
          <a:ext cx="9811512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926080"/>
                <a:gridCol w="5605272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영역</a:t>
                      </a:r>
                      <a:endParaRPr lang="en-US" sz="1400" dirty="0"/>
                    </a:p>
                  </a:txBody>
                  <a:tcPr marL="182880" marR="18288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8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KPI</a:t>
                      </a:r>
                      <a:endParaRPr lang="en-US" sz="1400" dirty="0"/>
                    </a:p>
                  </a:txBody>
                  <a:tcPr marL="182880" marR="18288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8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목표 · 측정 방법</a:t>
                      </a:r>
                      <a:endParaRPr lang="en-US" sz="1400" dirty="0"/>
                    </a:p>
                  </a:txBody>
                  <a:tcPr marL="182880" marR="18288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82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리뷰</a:t>
                      </a:r>
                      <a:endParaRPr lang="en-US" sz="1400" dirty="0"/>
                    </a:p>
                  </a:txBody>
                  <a:tcPr marL="182880" marR="18288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53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</a:rPr>
                        <a:t>대표 상품 리뷰 수</a:t>
                      </a:r>
                      <a:endParaRPr lang="en-US" sz="1400" dirty="0"/>
                    </a:p>
                  </a:txBody>
                  <a:tcPr marL="182880" marR="18288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53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D5DDE8"/>
                          </a:solidFill>
                        </a:rPr>
                        <a:t>2개월차 50건+, 6개월차 150건+</a:t>
                      </a:r>
                      <a:endParaRPr lang="en-US" sz="1400" dirty="0"/>
                    </a:p>
                  </a:txBody>
                  <a:tcPr marL="182880" marR="18288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536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브랜드</a:t>
                      </a:r>
                      <a:endParaRPr lang="en-US" sz="1400" dirty="0"/>
                    </a:p>
                  </a:txBody>
                  <a:tcPr marL="182880" marR="18288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B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</a:rPr>
                        <a:t>"킹오브김" 브랜드 검색량</a:t>
                      </a:r>
                      <a:endParaRPr lang="en-US" sz="1400" dirty="0"/>
                    </a:p>
                  </a:txBody>
                  <a:tcPr marL="182880" marR="18288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B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D5DDE8"/>
                          </a:solidFill>
                        </a:rPr>
                        <a:t>Baseline 대비 월별 증가율</a:t>
                      </a:r>
                      <a:endParaRPr lang="en-US" sz="1400" dirty="0"/>
                    </a:p>
                  </a:txBody>
                  <a:tcPr marL="182880" marR="18288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B6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유입</a:t>
                      </a:r>
                      <a:endParaRPr lang="en-US" sz="1400" dirty="0"/>
                    </a:p>
                  </a:txBody>
                  <a:tcPr marL="182880" marR="18288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53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</a:rPr>
                        <a:t>스토어 방문자 수</a:t>
                      </a:r>
                      <a:endParaRPr lang="en-US" sz="1400" dirty="0"/>
                    </a:p>
                  </a:txBody>
                  <a:tcPr marL="182880" marR="18288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53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D5DDE8"/>
                          </a:solidFill>
                        </a:rPr>
                        <a:t>월별 추이</a:t>
                      </a:r>
                      <a:endParaRPr lang="en-US" sz="1400" dirty="0"/>
                    </a:p>
                  </a:txBody>
                  <a:tcPr marL="182880" marR="18288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536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전환</a:t>
                      </a:r>
                      <a:endParaRPr lang="en-US" sz="1400" dirty="0"/>
                    </a:p>
                  </a:txBody>
                  <a:tcPr marL="182880" marR="18288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B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</a:rPr>
                        <a:t>구매전환율 · 신규 구매자 수</a:t>
                      </a:r>
                      <a:endParaRPr lang="en-US" sz="1400" dirty="0"/>
                    </a:p>
                  </a:txBody>
                  <a:tcPr marL="182880" marR="18288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B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D5DDE8"/>
                          </a:solidFill>
                        </a:rPr>
                        <a:t>월별 추이, 매체별 비교</a:t>
                      </a:r>
                      <a:endParaRPr lang="en-US" sz="1400" dirty="0"/>
                    </a:p>
                  </a:txBody>
                  <a:tcPr marL="182880" marR="18288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B6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매출</a:t>
                      </a:r>
                      <a:endParaRPr lang="en-US" sz="1400" dirty="0"/>
                    </a:p>
                  </a:txBody>
                  <a:tcPr marL="182880" marR="18288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53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</a:rPr>
                        <a:t>온라인 매출 · 광고 ROAS</a:t>
                      </a:r>
                      <a:endParaRPr lang="en-US" sz="1400" dirty="0"/>
                    </a:p>
                  </a:txBody>
                  <a:tcPr marL="182880" marR="18288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53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D5DDE8"/>
                          </a:solidFill>
                        </a:rPr>
                        <a:t>Baseline 월 300만 원 대비, </a:t>
                      </a:r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B0D4FF"/>
                          </a:solidFill>
                        </a:rPr>
                        <a:t>4개월차 이후 ROAS 300%</a:t>
                      </a:r>
                      <a:endParaRPr lang="en-US" sz="1400" dirty="0"/>
                    </a:p>
                  </a:txBody>
                  <a:tcPr marL="182880" marR="18288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536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재구매</a:t>
                      </a:r>
                      <a:endParaRPr lang="en-US" sz="1400" dirty="0"/>
                    </a:p>
                  </a:txBody>
                  <a:tcPr marL="182880" marR="18288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B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</a:rPr>
                        <a:t>재구매 고객 비율</a:t>
                      </a:r>
                      <a:endParaRPr lang="en-US" sz="1400" dirty="0"/>
                    </a:p>
                  </a:txBody>
                  <a:tcPr marL="182880" marR="18288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B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D5DDE8"/>
                          </a:solidFill>
                        </a:rPr>
                        <a:t>4개월차 이후 측정</a:t>
                      </a:r>
                      <a:endParaRPr lang="en-US" sz="1400" dirty="0"/>
                    </a:p>
                  </a:txBody>
                  <a:tcPr marL="182880" marR="18288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B61"/>
                    </a:solidFill>
                  </a:tcPr>
                </a:tc>
              </a:tr>
            </a:tbl>
          </a:graphicData>
        </a:graphic>
      </p:graphicFrame>
      <p:sp>
        <p:nvSpPr>
          <p:cNvPr id="7" name="card-208"/>
          <p:cNvSpPr/>
          <p:nvPr/>
        </p:nvSpPr>
        <p:spPr>
          <a:xfrm>
            <a:off x="1188720" y="5166360"/>
            <a:ext cx="9811512" cy="731520"/>
          </a:xfrm>
          <a:prstGeom prst="roundRect">
            <a:avLst>
              <a:gd name="adj" fmla="val 15000"/>
            </a:avLst>
          </a:prstGeom>
          <a:solidFill>
            <a:srgbClr val="3182F6">
              <a:alpha val="35000"/>
            </a:srgbClr>
          </a:solidFill>
          <a:ln/>
        </p:spPr>
      </p:sp>
      <p:sp>
        <p:nvSpPr>
          <p:cNvPr id="8" name="text-209"/>
          <p:cNvSpPr txBox="1"/>
          <p:nvPr/>
        </p:nvSpPr>
        <p:spPr>
          <a:xfrm>
            <a:off x="1463040" y="5166360"/>
            <a:ext cx="92628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B0D4FF"/>
                </a:solidFill>
              </a:rPr>
              <a:t>월간 리포트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    지표 추이, 매체별 효율, 예산 재배분 내역과 다음 달 운영 계획을 함께 공유합니다.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464040" y="6473952"/>
            <a:ext cx="5486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FFFF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5" type="body" hasCustomPrompt="1"/>
          </p:nvPr>
        </p:nvSpPr>
        <p:spPr>
          <a:xfrm>
            <a:off x="1188720" y="475488"/>
            <a:ext cx="98115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06</a:t>
            </a:r>
            <a:pPr algn="l" indent="0" marL="0">
              <a:buNone/>
            </a:pPr>
            <a:r>
              <a:rPr lang="en-US" sz="2400" dirty="0">
                <a:solidFill>
                  <a:srgbClr val="FFFFFF"/>
                </a:solidFill>
              </a:rPr>
              <a:t>  기대 효과와 리스크</a:t>
            </a:r>
            <a:endParaRPr lang="en-US" sz="2400" dirty="0"/>
          </a:p>
        </p:txBody>
      </p:sp>
      <p:sp>
        <p:nvSpPr>
          <p:cNvPr id="3" name="title-rule-strong"/>
          <p:cNvSpPr/>
          <p:nvPr/>
        </p:nvSpPr>
        <p:spPr>
          <a:xfrm>
            <a:off x="4873752" y="822960"/>
            <a:ext cx="777240" cy="274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itle-rule-faint"/>
          <p:cNvSpPr/>
          <p:nvPr/>
        </p:nvSpPr>
        <p:spPr>
          <a:xfrm>
            <a:off x="5650992" y="822960"/>
            <a:ext cx="5349240" cy="27432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</p:sp>
      <p:sp>
        <p:nvSpPr>
          <p:cNvPr id="5" name="Text 3"/>
          <p:cNvSpPr/>
          <p:nvPr>
            <p:ph idx="106" type="title" hasCustomPrompt="1"/>
          </p:nvPr>
        </p:nvSpPr>
        <p:spPr>
          <a:xfrm>
            <a:off x="1188720" y="1069848"/>
            <a:ext cx="9811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FFFFFF"/>
                </a:solidFill>
              </a:rPr>
              <a:t>온라인 성과가 유통 확대의 근거가 됩니다</a:t>
            </a:r>
            <a:endParaRPr lang="en-US" sz="2600" dirty="0"/>
          </a:p>
        </p:txBody>
      </p:sp>
      <p:sp>
        <p:nvSpPr>
          <p:cNvPr id="6" name="card-210"/>
          <p:cNvSpPr/>
          <p:nvPr/>
        </p:nvSpPr>
        <p:spPr>
          <a:xfrm>
            <a:off x="1188720" y="1920240"/>
            <a:ext cx="3931920" cy="3611880"/>
          </a:xfrm>
          <a:prstGeom prst="roundRect">
            <a:avLst>
              <a:gd name="adj" fmla="val 3038"/>
            </a:avLst>
          </a:prstGeom>
          <a:solidFill>
            <a:srgbClr val="3182F6"/>
          </a:solidFill>
          <a:ln/>
        </p:spPr>
      </p:sp>
      <p:sp>
        <p:nvSpPr>
          <p:cNvPr id="7" name="text-211"/>
          <p:cNvSpPr txBox="1"/>
          <p:nvPr/>
        </p:nvSpPr>
        <p:spPr>
          <a:xfrm>
            <a:off x="1508760" y="22402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FFFFFF"/>
                </a:solidFill>
              </a:rPr>
              <a:t>6개월 후 결과물</a:t>
            </a:r>
            <a:endParaRPr lang="en-US" sz="2100" dirty="0"/>
          </a:p>
        </p:txBody>
      </p:sp>
      <p:sp>
        <p:nvSpPr>
          <p:cNvPr id="8" name="badge-212"/>
          <p:cNvSpPr/>
          <p:nvPr/>
        </p:nvSpPr>
        <p:spPr>
          <a:xfrm>
            <a:off x="1508760" y="292608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9" name="badge-text-212"/>
          <p:cNvSpPr txBox="1"/>
          <p:nvPr/>
        </p:nvSpPr>
        <p:spPr>
          <a:xfrm>
            <a:off x="1508760" y="2926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</a:rPr>
              <a:t>✓</a:t>
            </a:r>
            <a:endParaRPr lang="en-US" sz="1500" dirty="0"/>
          </a:p>
        </p:txBody>
      </p:sp>
      <p:sp>
        <p:nvSpPr>
          <p:cNvPr id="10" name="text-213"/>
          <p:cNvSpPr txBox="1"/>
          <p:nvPr/>
        </p:nvSpPr>
        <p:spPr>
          <a:xfrm>
            <a:off x="2057400" y="2898648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</a:rPr>
              <a:t>리뷰가 갖춰진 대표 상품</a:t>
            </a:r>
            <a:endParaRPr lang="en-US" sz="1600" dirty="0"/>
          </a:p>
        </p:txBody>
      </p:sp>
      <p:sp>
        <p:nvSpPr>
          <p:cNvPr id="11" name="badge-214"/>
          <p:cNvSpPr/>
          <p:nvPr/>
        </p:nvSpPr>
        <p:spPr>
          <a:xfrm>
            <a:off x="1508760" y="3730752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badge-text-214"/>
          <p:cNvSpPr txBox="1"/>
          <p:nvPr/>
        </p:nvSpPr>
        <p:spPr>
          <a:xfrm>
            <a:off x="1508760" y="37307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</a:rPr>
              <a:t>✓</a:t>
            </a:r>
            <a:endParaRPr lang="en-US" sz="1500" dirty="0"/>
          </a:p>
        </p:txBody>
      </p:sp>
      <p:sp>
        <p:nvSpPr>
          <p:cNvPr id="13" name="text-215"/>
          <p:cNvSpPr txBox="1"/>
          <p:nvPr/>
        </p:nvSpPr>
        <p:spPr>
          <a:xfrm>
            <a:off x="2057400" y="370332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</a:rPr>
              <a:t>측정 가능한 브랜드 검색량</a:t>
            </a:r>
            <a:endParaRPr lang="en-US" sz="1600" dirty="0"/>
          </a:p>
        </p:txBody>
      </p:sp>
      <p:sp>
        <p:nvSpPr>
          <p:cNvPr id="14" name="badge-216"/>
          <p:cNvSpPr/>
          <p:nvPr/>
        </p:nvSpPr>
        <p:spPr>
          <a:xfrm>
            <a:off x="1508760" y="4535424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5" name="badge-text-216"/>
          <p:cNvSpPr txBox="1"/>
          <p:nvPr/>
        </p:nvSpPr>
        <p:spPr>
          <a:xfrm>
            <a:off x="1508760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</a:rPr>
              <a:t>✓</a:t>
            </a:r>
            <a:endParaRPr lang="en-US" sz="1500" dirty="0"/>
          </a:p>
        </p:txBody>
      </p:sp>
      <p:sp>
        <p:nvSpPr>
          <p:cNvPr id="16" name="text-217"/>
          <p:cNvSpPr txBox="1"/>
          <p:nvPr/>
        </p:nvSpPr>
        <p:spPr>
          <a:xfrm>
            <a:off x="2057400" y="4507992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</a:rPr>
              <a:t>MD · 조달 담당자에게 보여줄 온라인 판매 성과 자료</a:t>
            </a:r>
            <a:endParaRPr lang="en-US" sz="1600" dirty="0"/>
          </a:p>
        </p:txBody>
      </p:sp>
      <p:sp>
        <p:nvSpPr>
          <p:cNvPr id="17" name="card-218"/>
          <p:cNvSpPr/>
          <p:nvPr/>
        </p:nvSpPr>
        <p:spPr>
          <a:xfrm>
            <a:off x="5394960" y="1920240"/>
            <a:ext cx="5605272" cy="1021080"/>
          </a:xfrm>
          <a:prstGeom prst="roundRect">
            <a:avLst>
              <a:gd name="adj" fmla="val 10746"/>
            </a:avLst>
          </a:prstGeom>
          <a:solidFill>
            <a:srgbClr val="FFFFFF">
              <a:alpha val="10000"/>
            </a:srgbClr>
          </a:solidFill>
          <a:ln/>
        </p:spPr>
      </p:sp>
      <p:sp>
        <p:nvSpPr>
          <p:cNvPr id="18" name="text-219"/>
          <p:cNvSpPr txBox="1"/>
          <p:nvPr/>
        </p:nvSpPr>
        <p:spPr>
          <a:xfrm>
            <a:off x="5669280" y="207568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6F7A"/>
                </a:solidFill>
              </a:rPr>
              <a:t>리스크</a:t>
            </a:r>
            <a:endParaRPr lang="en-US" sz="1300" dirty="0"/>
          </a:p>
        </p:txBody>
      </p:sp>
      <p:sp>
        <p:nvSpPr>
          <p:cNvPr id="19" name="text-220"/>
          <p:cNvSpPr txBox="1"/>
          <p:nvPr/>
        </p:nvSpPr>
        <p:spPr>
          <a:xfrm>
            <a:off x="5669280" y="2359152"/>
            <a:ext cx="2391156" cy="518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</a:rPr>
              <a:t>리뷰 확보 지연</a:t>
            </a:r>
            <a:endParaRPr lang="en-US" sz="1600" dirty="0"/>
          </a:p>
        </p:txBody>
      </p:sp>
      <p:sp>
        <p:nvSpPr>
          <p:cNvPr id="20" name="text-221"/>
          <p:cNvSpPr txBox="1"/>
          <p:nvPr/>
        </p:nvSpPr>
        <p:spPr>
          <a:xfrm>
            <a:off x="8334756" y="207568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0D4FF"/>
                </a:solidFill>
              </a:rPr>
              <a:t>대응</a:t>
            </a:r>
            <a:endParaRPr lang="en-US" sz="1300" dirty="0"/>
          </a:p>
        </p:txBody>
      </p:sp>
      <p:sp>
        <p:nvSpPr>
          <p:cNvPr id="21" name="text-222"/>
          <p:cNvSpPr txBox="1"/>
          <p:nvPr/>
        </p:nvSpPr>
        <p:spPr>
          <a:xfrm>
            <a:off x="8334756" y="2359152"/>
            <a:ext cx="2391156" cy="518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D5DDE8"/>
                </a:solidFill>
              </a:rPr>
              <a:t>증액 시점을 늦추고 체험단 추가 운영</a:t>
            </a:r>
            <a:endParaRPr lang="en-US" sz="1500" dirty="0"/>
          </a:p>
        </p:txBody>
      </p:sp>
      <p:sp>
        <p:nvSpPr>
          <p:cNvPr id="22" name="card-223"/>
          <p:cNvSpPr/>
          <p:nvPr/>
        </p:nvSpPr>
        <p:spPr>
          <a:xfrm>
            <a:off x="5394960" y="3215640"/>
            <a:ext cx="5605272" cy="1021080"/>
          </a:xfrm>
          <a:prstGeom prst="roundRect">
            <a:avLst>
              <a:gd name="adj" fmla="val 10746"/>
            </a:avLst>
          </a:prstGeom>
          <a:solidFill>
            <a:srgbClr val="FFFFFF">
              <a:alpha val="10000"/>
            </a:srgbClr>
          </a:solidFill>
          <a:ln/>
        </p:spPr>
      </p:sp>
      <p:sp>
        <p:nvSpPr>
          <p:cNvPr id="23" name="text-224"/>
          <p:cNvSpPr txBox="1"/>
          <p:nvPr/>
        </p:nvSpPr>
        <p:spPr>
          <a:xfrm>
            <a:off x="5669280" y="337108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6F7A"/>
                </a:solidFill>
              </a:rPr>
              <a:t>리스크</a:t>
            </a:r>
            <a:endParaRPr lang="en-US" sz="1300" dirty="0"/>
          </a:p>
        </p:txBody>
      </p:sp>
      <p:sp>
        <p:nvSpPr>
          <p:cNvPr id="24" name="text-225"/>
          <p:cNvSpPr txBox="1"/>
          <p:nvPr/>
        </p:nvSpPr>
        <p:spPr>
          <a:xfrm>
            <a:off x="5669280" y="3654552"/>
            <a:ext cx="2391156" cy="518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</a:rPr>
              <a:t>낮은 객단가로 효율 저조</a:t>
            </a:r>
            <a:endParaRPr lang="en-US" sz="1600" dirty="0"/>
          </a:p>
        </p:txBody>
      </p:sp>
      <p:sp>
        <p:nvSpPr>
          <p:cNvPr id="25" name="text-226"/>
          <p:cNvSpPr txBox="1"/>
          <p:nvPr/>
        </p:nvSpPr>
        <p:spPr>
          <a:xfrm>
            <a:off x="8334756" y="337108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0D4FF"/>
                </a:solidFill>
              </a:rPr>
              <a:t>대응</a:t>
            </a:r>
            <a:endParaRPr lang="en-US" sz="1300" dirty="0"/>
          </a:p>
        </p:txBody>
      </p:sp>
      <p:sp>
        <p:nvSpPr>
          <p:cNvPr id="26" name="text-227"/>
          <p:cNvSpPr txBox="1"/>
          <p:nvPr/>
        </p:nvSpPr>
        <p:spPr>
          <a:xfrm>
            <a:off x="8334756" y="3654552"/>
            <a:ext cx="2391156" cy="518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D5DDE8"/>
                </a:solidFill>
              </a:rPr>
              <a:t>세트 · 대용량 위주로 전환, 묶음 구성 제안</a:t>
            </a:r>
            <a:endParaRPr lang="en-US" sz="1500" dirty="0"/>
          </a:p>
        </p:txBody>
      </p:sp>
      <p:sp>
        <p:nvSpPr>
          <p:cNvPr id="27" name="card-228"/>
          <p:cNvSpPr/>
          <p:nvPr/>
        </p:nvSpPr>
        <p:spPr>
          <a:xfrm>
            <a:off x="5394960" y="4511040"/>
            <a:ext cx="5605272" cy="1021080"/>
          </a:xfrm>
          <a:prstGeom prst="roundRect">
            <a:avLst>
              <a:gd name="adj" fmla="val 10746"/>
            </a:avLst>
          </a:prstGeom>
          <a:solidFill>
            <a:srgbClr val="FFFFFF">
              <a:alpha val="10000"/>
            </a:srgbClr>
          </a:solidFill>
          <a:ln/>
        </p:spPr>
      </p:sp>
      <p:sp>
        <p:nvSpPr>
          <p:cNvPr id="28" name="text-229"/>
          <p:cNvSpPr txBox="1"/>
          <p:nvPr/>
        </p:nvSpPr>
        <p:spPr>
          <a:xfrm>
            <a:off x="5669280" y="466648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6F7A"/>
                </a:solidFill>
              </a:rPr>
              <a:t>리스크</a:t>
            </a:r>
            <a:endParaRPr lang="en-US" sz="1300" dirty="0"/>
          </a:p>
        </p:txBody>
      </p:sp>
      <p:sp>
        <p:nvSpPr>
          <p:cNvPr id="29" name="text-230"/>
          <p:cNvSpPr txBox="1"/>
          <p:nvPr/>
        </p:nvSpPr>
        <p:spPr>
          <a:xfrm>
            <a:off x="5669280" y="4949952"/>
            <a:ext cx="2391156" cy="518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</a:rPr>
              <a:t>쿠팡 효율 저조</a:t>
            </a:r>
            <a:endParaRPr lang="en-US" sz="1600" dirty="0"/>
          </a:p>
        </p:txBody>
      </p:sp>
      <p:sp>
        <p:nvSpPr>
          <p:cNvPr id="30" name="text-231"/>
          <p:cNvSpPr txBox="1"/>
          <p:nvPr/>
        </p:nvSpPr>
        <p:spPr>
          <a:xfrm>
            <a:off x="8334756" y="466648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0D4FF"/>
                </a:solidFill>
              </a:rPr>
              <a:t>대응</a:t>
            </a:r>
            <a:endParaRPr lang="en-US" sz="1300" dirty="0"/>
          </a:p>
        </p:txBody>
      </p:sp>
      <p:sp>
        <p:nvSpPr>
          <p:cNvPr id="31" name="text-232"/>
          <p:cNvSpPr txBox="1"/>
          <p:nvPr/>
        </p:nvSpPr>
        <p:spPr>
          <a:xfrm>
            <a:off x="8334756" y="4949952"/>
            <a:ext cx="2391156" cy="518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D5DDE8"/>
                </a:solidFill>
              </a:rPr>
              <a:t>네이버로 예산 이동</a:t>
            </a:r>
            <a:endParaRPr lang="en-US" sz="1500" dirty="0"/>
          </a:p>
        </p:txBody>
      </p:sp>
      <p:sp>
        <p:nvSpPr>
          <p:cNvPr id="32" name="text-233"/>
          <p:cNvSpPr txBox="1"/>
          <p:nvPr/>
        </p:nvSpPr>
        <p:spPr>
          <a:xfrm>
            <a:off x="1188720" y="576072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FB0C5"/>
                </a:solidFill>
              </a:rPr>
              <a:t>본 제안의 KPI는 온라인 지표에 한정되며, 오프라인 판매 · 신규 입점 · 조달 매출은 범위 외입니다.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464040" y="6473952"/>
            <a:ext cx="5486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FFFF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5" type="body" hasCustomPrompt="1"/>
          </p:nvPr>
        </p:nvSpPr>
        <p:spPr>
          <a:xfrm>
            <a:off x="1188720" y="475488"/>
            <a:ext cx="98115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부록</a:t>
            </a:r>
            <a:endParaRPr lang="en-US" sz="2400" dirty="0"/>
          </a:p>
        </p:txBody>
      </p:sp>
      <p:sp>
        <p:nvSpPr>
          <p:cNvPr id="3" name="title-rule-strong"/>
          <p:cNvSpPr/>
          <p:nvPr/>
        </p:nvSpPr>
        <p:spPr>
          <a:xfrm>
            <a:off x="2301240" y="822960"/>
            <a:ext cx="777240" cy="274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itle-rule-faint"/>
          <p:cNvSpPr/>
          <p:nvPr/>
        </p:nvSpPr>
        <p:spPr>
          <a:xfrm>
            <a:off x="3078480" y="822960"/>
            <a:ext cx="7921752" cy="27432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</p:sp>
      <p:sp>
        <p:nvSpPr>
          <p:cNvPr id="5" name="Text 3"/>
          <p:cNvSpPr/>
          <p:nvPr>
            <p:ph idx="106" type="title" hasCustomPrompt="1"/>
          </p:nvPr>
        </p:nvSpPr>
        <p:spPr>
          <a:xfrm>
            <a:off x="1188720" y="1069848"/>
            <a:ext cx="9811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FFFFFF"/>
                </a:solidFill>
              </a:rPr>
              <a:t>옵션별 · 매체별 월 광고비 상세</a:t>
            </a:r>
            <a:endParaRPr lang="en-US" sz="2600" dirty="0"/>
          </a:p>
        </p:txBody>
      </p:sp>
      <p:graphicFrame>
        <p:nvGraphicFramePr>
          <p:cNvPr id="17" name="table-appendix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88720" y="1920240"/>
          <a:ext cx="981151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737360"/>
                <a:gridCol w="1002792"/>
                <a:gridCol w="1002792"/>
                <a:gridCol w="1002792"/>
                <a:gridCol w="1002792"/>
                <a:gridCol w="1002792"/>
                <a:gridCol w="1002792"/>
                <a:gridCol w="118872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옵션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82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매체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82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1개월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82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2개월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82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3개월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82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4개월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82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5개월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82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6개월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82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합계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82F6"/>
                    </a:solidFill>
                  </a:tcPr>
                </a:tc>
              </a:tr>
              <a:tr h="274320">
                <a:tc row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A안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536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D5DDE8"/>
                          </a:solidFill>
                        </a:rPr>
                        <a:t>네이버 쇼핑검색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53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5DDE8"/>
                          </a:solidFill>
                        </a:rPr>
                        <a:t>80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53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5DDE8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53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5DDE8"/>
                          </a:solidFill>
                        </a:rPr>
                        <a:t>150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53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5DDE8"/>
                          </a:solidFill>
                        </a:rPr>
                        <a:t>200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53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5DDE8"/>
                          </a:solidFill>
                        </a:rPr>
                        <a:t>250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53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5DDE8"/>
                          </a:solidFill>
                        </a:rPr>
                        <a:t>250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53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5DDE8"/>
                          </a:solidFill>
                        </a:rPr>
                        <a:t>1,030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5369"/>
                    </a:solidFill>
                  </a:tcPr>
                </a:tc>
              </a:tr>
              <a:tr h="274320">
                <a:tc vMerge="1">
                  <a:tcPr/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D5DDE8"/>
                          </a:solidFill>
                        </a:rPr>
                        <a:t>네이버 파워링크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53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5DDE8"/>
                          </a:solidFill>
                        </a:rPr>
                        <a:t>20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53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5DDE8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53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5DDE8"/>
                          </a:solidFill>
                        </a:rPr>
                        <a:t>50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53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5DDE8"/>
                          </a:solidFill>
                        </a:rPr>
                        <a:t>70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53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5DDE8"/>
                          </a:solidFill>
                        </a:rPr>
                        <a:t>80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53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5DDE8"/>
                          </a:solidFill>
                        </a:rPr>
                        <a:t>80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53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5DDE8"/>
                          </a:solidFill>
                        </a:rPr>
                        <a:t>330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5369"/>
                    </a:solidFill>
                  </a:tcPr>
                </a:tc>
              </a:tr>
              <a:tr h="274320">
                <a:tc vMerge="1">
                  <a:tcPr/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D5DDE8"/>
                          </a:solidFill>
                        </a:rPr>
                        <a:t>쿠팡 광고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53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5DDE8"/>
                          </a:solidFill>
                        </a:rPr>
                        <a:t>50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53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5DDE8"/>
                          </a:solidFill>
                        </a:rPr>
                        <a:t>70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53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5DDE8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53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5DDE8"/>
                          </a:solidFill>
                        </a:rPr>
                        <a:t>130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53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5DDE8"/>
                          </a:solidFill>
                        </a:rPr>
                        <a:t>170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53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5DDE8"/>
                          </a:solidFill>
                        </a:rPr>
                        <a:t>170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53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5DDE8"/>
                          </a:solidFill>
                        </a:rPr>
                        <a:t>690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5369"/>
                    </a:solidFill>
                  </a:tcPr>
                </a:tc>
              </a:tr>
              <a:tr h="274320">
                <a:tc vMerge="1">
                  <a:tcPr/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광고비 합계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065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150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065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200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065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300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065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400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065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500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065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500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065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0D4FF"/>
                          </a:solidFill>
                        </a:rPr>
                        <a:t>2,050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06580"/>
                    </a:solidFill>
                  </a:tcPr>
                </a:tc>
              </a:tr>
              <a:tr h="274320">
                <a:tc row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B안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(권장)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59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네이버 쇼핑검색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5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5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150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5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230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5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300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5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380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5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380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5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1,540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596"/>
                    </a:solidFill>
                  </a:tcPr>
                </a:tc>
              </a:tr>
              <a:tr h="274320">
                <a:tc vMerge="1">
                  <a:tcPr/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네이버 파워링크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5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5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50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5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70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5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5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120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5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120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5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490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596"/>
                    </a:solidFill>
                  </a:tcPr>
                </a:tc>
              </a:tr>
              <a:tr h="274320">
                <a:tc vMerge="1">
                  <a:tcPr/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쿠팡 광고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5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70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5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5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150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5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200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5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250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5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250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5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1,020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596"/>
                    </a:solidFill>
                  </a:tcPr>
                </a:tc>
              </a:tr>
              <a:tr h="274320">
                <a:tc vMerge="1">
                  <a:tcPr/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광고비 합계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065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200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065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300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065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450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065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600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065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750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065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750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065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0D4FF"/>
                          </a:solidFill>
                        </a:rPr>
                        <a:t>3,050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06580"/>
                    </a:solidFill>
                  </a:tcPr>
                </a:tc>
              </a:tr>
              <a:tr h="274320">
                <a:tc row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C안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536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D5DDE8"/>
                          </a:solidFill>
                        </a:rPr>
                        <a:t>네이버 쇼핑검색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53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5DDE8"/>
                          </a:solidFill>
                        </a:rPr>
                        <a:t>130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53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5DDE8"/>
                          </a:solidFill>
                        </a:rPr>
                        <a:t>200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53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5DDE8"/>
                          </a:solidFill>
                        </a:rPr>
                        <a:t>300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53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5DDE8"/>
                          </a:solidFill>
                        </a:rPr>
                        <a:t>400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53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5DDE8"/>
                          </a:solidFill>
                        </a:rPr>
                        <a:t>500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53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5DDE8"/>
                          </a:solidFill>
                        </a:rPr>
                        <a:t>500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53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5DDE8"/>
                          </a:solidFill>
                        </a:rPr>
                        <a:t>2,030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5369"/>
                    </a:solidFill>
                  </a:tcPr>
                </a:tc>
              </a:tr>
              <a:tr h="274320">
                <a:tc vMerge="1">
                  <a:tcPr/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D5DDE8"/>
                          </a:solidFill>
                        </a:rPr>
                        <a:t>네이버 파워링크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53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5DDE8"/>
                          </a:solidFill>
                        </a:rPr>
                        <a:t>40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53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5DDE8"/>
                          </a:solidFill>
                        </a:rPr>
                        <a:t>70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53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5DDE8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53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5DDE8"/>
                          </a:solidFill>
                        </a:rPr>
                        <a:t>130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53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5DDE8"/>
                          </a:solidFill>
                        </a:rPr>
                        <a:t>170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53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5DDE8"/>
                          </a:solidFill>
                        </a:rPr>
                        <a:t>170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53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5DDE8"/>
                          </a:solidFill>
                        </a:rPr>
                        <a:t>680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5369"/>
                    </a:solidFill>
                  </a:tcPr>
                </a:tc>
              </a:tr>
              <a:tr h="274320">
                <a:tc vMerge="1">
                  <a:tcPr/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D5DDE8"/>
                          </a:solidFill>
                        </a:rPr>
                        <a:t>쿠팡 광고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53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5DDE8"/>
                          </a:solidFill>
                        </a:rPr>
                        <a:t>80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53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5DDE8"/>
                          </a:solidFill>
                        </a:rPr>
                        <a:t>130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53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5DDE8"/>
                          </a:solidFill>
                        </a:rPr>
                        <a:t>200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53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5DDE8"/>
                          </a:solidFill>
                        </a:rPr>
                        <a:t>270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53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5DDE8"/>
                          </a:solidFill>
                        </a:rPr>
                        <a:t>330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53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5DDE8"/>
                          </a:solidFill>
                        </a:rPr>
                        <a:t>330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53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5DDE8"/>
                          </a:solidFill>
                        </a:rPr>
                        <a:t>1,340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5369"/>
                    </a:solidFill>
                  </a:tcPr>
                </a:tc>
              </a:tr>
              <a:tr h="274320">
                <a:tc vMerge="1">
                  <a:tcPr/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광고비 합계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065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250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065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400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065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600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065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800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065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1,000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065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1,000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065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0D4FF"/>
                          </a:solidFill>
                        </a:rPr>
                        <a:t>4,050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6D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06580"/>
                    </a:solidFill>
                  </a:tcPr>
                </a:tc>
              </a:tr>
            </a:tbl>
          </a:graphicData>
        </a:graphic>
      </p:graphicFrame>
      <p:sp>
        <p:nvSpPr>
          <p:cNvPr id="7" name="text-234"/>
          <p:cNvSpPr txBox="1"/>
          <p:nvPr/>
        </p:nvSpPr>
        <p:spPr>
          <a:xfrm>
            <a:off x="1188720" y="571500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FB0C5"/>
                </a:solidFill>
              </a:rPr>
              <a:t>단위: 만 원, VAT 별도. 쿠팡 대행수수료(광고비의 15%) 6개월 합계: A안 103.5 · B안 153 · C안 201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464040" y="6473952"/>
            <a:ext cx="5486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FFFF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ICECORE">
  <a:themeElements>
    <a:clrScheme name="NICECORE">
      <a:dk1>
        <a:srgbClr val="191F28"/>
      </a:dk1>
      <a:lt1>
        <a:srgbClr val="FFFFFF"/>
      </a:lt1>
      <a:dk2>
        <a:srgbClr val="364960"/>
      </a:dk2>
      <a:lt2>
        <a:srgbClr val="F2F4F6"/>
      </a:lt2>
      <a:accent1>
        <a:srgbClr val="3182F6"/>
      </a:accent1>
      <a:accent2>
        <a:srgbClr val="1B64DA"/>
      </a:accent2>
      <a:accent3>
        <a:srgbClr val="E8F3FF"/>
      </a:accent3>
      <a:accent4>
        <a:srgbClr val="B0D4FF"/>
      </a:accent4>
      <a:accent5>
        <a:srgbClr val="52667F"/>
      </a:accent5>
      <a:accent6>
        <a:srgbClr val="F04452"/>
      </a:accent6>
      <a:hlink>
        <a:srgbClr val="B0D4FF"/>
      </a:hlink>
      <a:folHlink>
        <a:srgbClr val="9FB0C5"/>
      </a:folHlink>
    </a:clrScheme>
    <a:fontScheme name="NICECOR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NICECORE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KING OF KIM 온라인 판매 활성화 제안서</dc:title>
  <dc:subject>PptxGenJS Presentation</dc:subject>
  <dc:creator>NICECORE</dc:creator>
  <cp:lastModifiedBy>NICECORE</cp:lastModifiedBy>
  <cp:revision>1</cp:revision>
  <dcterms:created xsi:type="dcterms:W3CDTF">2026-10-12T02:00:59Z</dcterms:created>
  <dcterms:modified xsi:type="dcterms:W3CDTF">2026-10-12T02:00:59Z</dcterms:modified>
</cp:coreProperties>
</file>