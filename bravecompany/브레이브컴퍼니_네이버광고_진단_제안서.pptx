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e089350c-990d-fa35-86fc-fb33a35004ce}">
          <p14:sldIdLst>
            <p14:sldId id="256"/>
            <p14:sldId id="257"/>
          </p14:sldIdLst>
        </p14:section>
        <p14:section name="01 진단 요약" id="{282e7499-a50b-cb51-7781-8be9c2849010}">
          <p14:sldIdLst>
            <p14:sldId id="258"/>
            <p14:sldId id="259"/>
            <p14:sldId id="260"/>
            <p14:sldId id="261"/>
          </p14:sldIdLst>
        </p14:section>
        <p14:section name="02 검색광고" id="{8ceca181-3ed5-a22d-a9d4-fb16eda65ae1}">
          <p14:sldIdLst>
            <p14:sldId id="262"/>
            <p14:sldId id="263"/>
            <p14:sldId id="264"/>
            <p14:sldId id="265"/>
            <p14:sldId id="266"/>
            <p14:sldId id="267"/>
            <p14:sldId id="268"/>
          </p14:sldIdLst>
        </p14:section>
        <p14:section name="03 GFA" id="{386919c3-5807-9192-b354-a0509e61c76e}">
          <p14:sldIdLst>
            <p14:sldId id="269"/>
            <p14:sldId id="270"/>
            <p14:sldId id="271"/>
            <p14:sldId id="272"/>
          </p14:sldIdLst>
        </p14:section>
        <p14:section name="04 개선 제안" id="{4583baa5-e624-b37a-042d-fe9242c84c14}">
          <p14:sldIdLst>
            <p14:sldId id="273"/>
            <p14:sldId id="274"/>
            <p14:sldId id="275"/>
            <p14:sldId id="276"/>
            <p14:sldId id="277"/>
          </p14:sldIdLst>
        </p14:section>
        <p14:section name="부록" id="{743408d7-d51c-991e-714c-71c42bce1caa}">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E5968"/>
                </a:solidFill>
                <a:latin typeface="+mn-lt"/>
              </a:defRPr>
            </a:pPr>
            <a:r>
              <a:rPr sz="1200" b="0" i="0" u="none" strike="noStrike">
                <a:solidFill>
                  <a:srgbClr val="4E5968"/>
                </a:solidFill>
                <a:latin typeface="+mn-lt"/>
              </a:rPr>
              <a:t>광고비 구성 (만 원, 계약금 포함 약 4,846만 원)</a:t>
            </a:r>
          </a:p>
        </c:rich>
      </c:tx>
      <c:layout/>
      <c:overlay val="0"/>
    </c:title>
    <c:autoTitleDeleted val="0"/>
    <c:plotArea>
      <c:layout/>
      <c:barChart>
        <c:barDir val="bar"/>
        <c:grouping val="percentStacked"/>
        <c:varyColors val="0"/>
        <c:ser>
          <c:idx val="0"/>
          <c:order val="0"/>
          <c:tx>
            <c:strRef>
              <c:f>Sheet1!$B$1</c:f>
              <c:strCache>
                <c:ptCount val="1"/>
                <c:pt idx="0">
                  <c:v>GFA ADVoost</c:v>
                </c:pt>
              </c:strCache>
            </c:strRef>
          </c:tx>
          <c:spPr>
            <a:solidFill>
              <a:srgbClr val="100442"/>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광고비</c:v>
                  </c:pt>
                </c:lvl>
              </c:multiLvlStrCache>
            </c:multiLvlStrRef>
          </c:cat>
          <c:val>
            <c:numRef>
              <c:f>Sheet1!$B$2:$B$2</c:f>
              <c:numCache>
                <c:formatCode>General</c:formatCode>
                <c:ptCount val="1"/>
                <c:pt idx="0">
                  <c:v>3174</c:v>
                </c:pt>
              </c:numCache>
            </c:numRef>
          </c:val>
        </c:ser>
        <c:ser>
          <c:idx val="1"/>
          <c:order val="1"/>
          <c:tx>
            <c:strRef>
              <c:f>Sheet1!$C$1</c:f>
              <c:strCache>
                <c:ptCount val="1"/>
                <c:pt idx="0">
                  <c:v>GFA 수동</c:v>
                </c:pt>
              </c:strCache>
            </c:strRef>
          </c:tx>
          <c:spPr>
            <a:solidFill>
              <a:srgbClr val="6F7D97"/>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광고비</c:v>
                  </c:pt>
                </c:lvl>
              </c:multiLvlStrCache>
            </c:multiLvlStrRef>
          </c:cat>
          <c:val>
            <c:numRef>
              <c:f>Sheet1!$C$2:$C$2</c:f>
              <c:numCache>
                <c:formatCode>General</c:formatCode>
                <c:ptCount val="1"/>
                <c:pt idx="0">
                  <c:v>339</c:v>
                </c:pt>
              </c:numCache>
            </c:numRef>
          </c:val>
        </c:ser>
        <c:ser>
          <c:idx val="2"/>
          <c:order val="2"/>
          <c:tx>
            <c:strRef>
              <c:f>Sheet1!$D$1</c:f>
              <c:strCache>
                <c:ptCount val="1"/>
                <c:pt idx="0">
                  <c:v>검색광고 SA</c:v>
                </c:pt>
              </c:strCache>
            </c:strRef>
          </c:tx>
          <c:spPr>
            <a:solidFill>
              <a:srgbClr val="F13518"/>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광고비</c:v>
                  </c:pt>
                </c:lvl>
              </c:multiLvlStrCache>
            </c:multiLvlStrRef>
          </c:cat>
          <c:val>
            <c:numRef>
              <c:f>Sheet1!$D$2:$D$2</c:f>
              <c:numCache>
                <c:formatCode>General</c:formatCode>
                <c:ptCount val="1"/>
                <c:pt idx="0">
                  <c:v>499</c:v>
                </c:pt>
              </c:numCache>
            </c:numRef>
          </c:val>
        </c:ser>
        <c:ser>
          <c:idx val="3"/>
          <c:order val="3"/>
          <c:tx>
            <c:strRef>
              <c:f>Sheet1!$E$1</c:f>
              <c:strCache>
                <c:ptCount val="1"/>
                <c:pt idx="0">
                  <c:v>브랜드검색 계약금</c:v>
                </c:pt>
              </c:strCache>
            </c:strRef>
          </c:tx>
          <c:spPr>
            <a:solidFill>
              <a:srgbClr val="F08A00"/>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광고비</c:v>
                  </c:pt>
                </c:lvl>
              </c:multiLvlStrCache>
            </c:multiLvlStrRef>
          </c:cat>
          <c:val>
            <c:numRef>
              <c:f>Sheet1!$E$2:$E$2</c:f>
              <c:numCache>
                <c:formatCode>General</c:formatCode>
                <c:ptCount val="1"/>
                <c:pt idx="0">
                  <c:v>834</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E59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91F28"/>
                </a:solidFill>
                <a:latin typeface="+mn-lt"/>
              </a:defRPr>
            </a:pPr>
            <a:r>
              <a:rPr sz="1400" b="0" i="0" u="none" strike="noStrike">
                <a:solidFill>
                  <a:srgbClr val="191F28"/>
                </a:solidFill>
                <a:latin typeface="+mn-lt"/>
              </a:rPr>
              <a:t>브랜드별 검색어 광고비 (만 원, 3개월)</a:t>
            </a:r>
          </a:p>
        </c:rich>
      </c:tx>
      <c:layout/>
      <c:overlay val="0"/>
    </c:title>
    <c:autoTitleDeleted val="0"/>
    <c:plotArea>
      <c:layout/>
      <c:barChart>
        <c:barDir val="bar"/>
        <c:grouping val="clustered"/>
        <c:varyColors val="0"/>
        <c:ser>
          <c:idx val="0"/>
          <c:order val="0"/>
          <c:tx>
            <c:strRef>
              <c:f>Sheet1!$B$1</c:f>
              <c:strCache>
                <c:ptCount val="1"/>
                <c:pt idx="0">
                  <c:v>브랜드명 검색</c:v>
                </c:pt>
              </c:strCache>
            </c:strRef>
          </c:tx>
          <c:spPr>
            <a:solidFill>
              <a:srgbClr val="100442"/>
            </a:solidFill>
            <a:effectLst/>
          </c:spPr>
          <c:invertIfNegative val="0"/>
          <c:dLbls>
            <c:numFmt formatCode="#,##0.0" sourceLinked="0"/>
            <c:txPr>
              <a:bodyPr/>
              <a:lstStyle/>
              <a:p>
                <a:pPr>
                  <a:defRPr b="0" i="0" strike="noStrike" sz="1200" u="none">
                    <a:solidFill>
                      <a:srgbClr val="191F28"/>
                    </a:solidFill>
                    <a:latin typeface="+mn-lt"/>
                  </a:defRPr>
                </a:pPr>
              </a:p>
            </c:txPr>
            <c:showLegendKey val="0"/>
            <c:showVal val="1"/>
            <c:showCatName val="0"/>
            <c:showSerName val="0"/>
            <c:showPercent val="0"/>
            <c:showBubbleSize val="0"/>
            <c:showLeaderLines val="0"/>
          </c:dLbls>
          <c:cat>
            <c:multiLvlStrRef>
              <c:f>Sheet1!$A$2:$A$5</c:f>
              <c:multiLvlStrCache>
                <c:ptCount val="4"/>
                <c:lvl>
                  <c:pt idx="0">
                    <c:v>꼬기다</c:v>
                  </c:pt>
                  <c:pt idx="1">
                    <c:v>건담닭</c:v>
                  </c:pt>
                  <c:pt idx="2">
                    <c:v>올라잇그린</c:v>
                  </c:pt>
                  <c:pt idx="3">
                    <c:v>통영숙수</c:v>
                  </c:pt>
                </c:lvl>
              </c:multiLvlStrCache>
            </c:multiLvlStrRef>
          </c:cat>
          <c:val>
            <c:numRef>
              <c:f>Sheet1!$B$2:$B$5</c:f>
              <c:numCache>
                <c:formatCode>General</c:formatCode>
                <c:ptCount val="4"/>
                <c:pt idx="0">
                  <c:v>278.6</c:v>
                </c:pt>
                <c:pt idx="1">
                  <c:v>58.9</c:v>
                </c:pt>
                <c:pt idx="2">
                  <c:v>83.2</c:v>
                </c:pt>
                <c:pt idx="3">
                  <c:v>0.1</c:v>
                </c:pt>
              </c:numCache>
            </c:numRef>
          </c:val>
        </c:ser>
        <c:ser>
          <c:idx val="1"/>
          <c:order val="1"/>
          <c:tx>
            <c:strRef>
              <c:f>Sheet1!$C$1</c:f>
              <c:strCache>
                <c:ptCount val="1"/>
                <c:pt idx="0">
                  <c:v>일반 검색</c:v>
                </c:pt>
              </c:strCache>
            </c:strRef>
          </c:tx>
          <c:spPr>
            <a:solidFill>
              <a:srgbClr val="F13518"/>
            </a:solidFill>
            <a:effectLst/>
          </c:spPr>
          <c:invertIfNegative val="0"/>
          <c:dLbls>
            <c:numFmt formatCode="#,##0.0" sourceLinked="0"/>
            <c:txPr>
              <a:bodyPr/>
              <a:lstStyle/>
              <a:p>
                <a:pPr>
                  <a:defRPr b="0" i="0" strike="noStrike" sz="1200" u="none">
                    <a:solidFill>
                      <a:srgbClr val="191F28"/>
                    </a:solidFill>
                    <a:latin typeface="+mn-lt"/>
                  </a:defRPr>
                </a:pPr>
              </a:p>
            </c:txPr>
            <c:showLegendKey val="0"/>
            <c:showVal val="1"/>
            <c:showCatName val="0"/>
            <c:showSerName val="0"/>
            <c:showPercent val="0"/>
            <c:showBubbleSize val="0"/>
            <c:showLeaderLines val="0"/>
          </c:dLbls>
          <c:cat>
            <c:multiLvlStrRef>
              <c:f>Sheet1!$A$2:$A$5</c:f>
              <c:multiLvlStrCache>
                <c:ptCount val="4"/>
                <c:lvl>
                  <c:pt idx="0">
                    <c:v>꼬기다</c:v>
                  </c:pt>
                  <c:pt idx="1">
                    <c:v>건담닭</c:v>
                  </c:pt>
                  <c:pt idx="2">
                    <c:v>올라잇그린</c:v>
                  </c:pt>
                  <c:pt idx="3">
                    <c:v>통영숙수</c:v>
                  </c:pt>
                </c:lvl>
              </c:multiLvlStrCache>
            </c:multiLvlStrRef>
          </c:cat>
          <c:val>
            <c:numRef>
              <c:f>Sheet1!$C$2:$C$5</c:f>
              <c:numCache>
                <c:formatCode>General</c:formatCode>
                <c:ptCount val="4"/>
                <c:pt idx="0">
                  <c:v>2.8</c:v>
                </c:pt>
                <c:pt idx="1">
                  <c:v>1.6</c:v>
                </c:pt>
                <c:pt idx="2">
                  <c:v>1.9</c:v>
                </c:pt>
                <c:pt idx="3">
                  <c:v>49.1</c:v>
                </c:pt>
              </c:numCache>
            </c:numRef>
          </c:val>
        </c:ser>
        <c:dLbls>
          <c:numFmt formatCode="#,##0.0" sourceLinked="0"/>
          <c:txPr>
            <a:bodyPr/>
            <a:lstStyle/>
            <a:p>
              <a:pPr>
                <a:defRPr b="0" i="0" strike="noStrike" sz="1200" u="none">
                  <a:solidFill>
                    <a:srgbClr val="191F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91F2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E59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91F28"/>
                </a:solidFill>
                <a:latin typeface="+mn-lt"/>
              </a:defRPr>
            </a:pPr>
            <a:r>
              <a:rPr sz="1400" b="0" i="0" u="none" strike="noStrike">
                <a:solidFill>
                  <a:srgbClr val="191F28"/>
                </a:solidFill>
                <a:latin typeface="+mn-lt"/>
              </a:rPr>
              <a:t>GFA 월별 ROAS (구매완료 기준)</a:t>
            </a:r>
          </a:p>
        </c:rich>
      </c:tx>
      <c:layout/>
      <c:overlay val="0"/>
    </c:title>
    <c:autoTitleDeleted val="0"/>
    <c:plotArea>
      <c:layout/>
      <c:barChart>
        <c:barDir val="col"/>
        <c:grouping val="clustered"/>
        <c:varyColors val="0"/>
        <c:ser>
          <c:idx val="0"/>
          <c:order val="0"/>
          <c:tx>
            <c:strRef>
              <c:f>Sheet1!$B$1</c:f>
              <c:strCache>
                <c:ptCount val="1"/>
                <c:pt idx="0">
                  <c:v>ROAS</c:v>
                </c:pt>
              </c:strCache>
            </c:strRef>
          </c:tx>
          <c:spPr>
            <a:solidFill>
              <a:srgbClr val="100442"/>
            </a:solidFill>
            <a:effectLst/>
          </c:spPr>
          <c:invertIfNegative val="0"/>
          <c:dLbls>
            <c:numFmt formatCode="0&quot;%&quot;" sourceLinked="0"/>
            <c:txPr>
              <a:bodyPr/>
              <a:lstStyle/>
              <a:p>
                <a:pPr>
                  <a:defRPr b="1" i="0" strike="noStrike" sz="1400" u="none">
                    <a:solidFill>
                      <a:srgbClr val="191F28"/>
                    </a:solidFill>
                    <a:latin typeface="+mn-lt"/>
                  </a:defRPr>
                </a:pPr>
              </a:p>
            </c:txPr>
            <c:showLegendKey val="0"/>
            <c:showVal val="1"/>
            <c:showCatName val="0"/>
            <c:showSerName val="0"/>
            <c:showPercent val="0"/>
            <c:showBubbleSize val="0"/>
            <c:showLeaderLines val="0"/>
          </c:dLbls>
          <c:dPt>
            <c:idx val="0"/>
            <c:invertIfNegative val="0"/>
            <c:bubble3D val="0"/>
            <c:spPr>
              <a:solidFill>
                <a:srgbClr val="100442"/>
              </a:solidFill>
              <a:effectLst/>
            </c:spPr>
          </c:dPt>
          <c:dPt>
            <c:idx val="1"/>
            <c:invertIfNegative val="0"/>
            <c:bubble3D val="0"/>
            <c:spPr>
              <a:solidFill>
                <a:srgbClr val="100442"/>
              </a:solidFill>
              <a:effectLst/>
            </c:spPr>
          </c:dPt>
          <c:dPt>
            <c:idx val="2"/>
            <c:invertIfNegative val="0"/>
            <c:bubble3D val="0"/>
            <c:spPr>
              <a:solidFill>
                <a:srgbClr val="100442"/>
              </a:solidFill>
              <a:effectLst/>
            </c:spPr>
          </c:dPt>
          <c:dPt>
            <c:idx val="3"/>
            <c:invertIfNegative val="0"/>
            <c:bubble3D val="0"/>
            <c:spPr>
              <a:solidFill>
                <a:srgbClr val="F13518"/>
              </a:solidFill>
              <a:effectLst/>
            </c:spPr>
          </c:dPt>
          <c:cat>
            <c:multiLvlStrRef>
              <c:f>Sheet1!$A$2:$A$5</c:f>
              <c:multiLvlStrCache>
                <c:ptCount val="4"/>
                <c:lvl>
                  <c:pt idx="0">
                    <c:v>5~6월</c:v>
                  </c:pt>
                  <c:pt idx="1">
                    <c:v>7월</c:v>
                  </c:pt>
                  <c:pt idx="2">
                    <c:v>8월</c:v>
                  </c:pt>
                  <c:pt idx="3">
                    <c:v>9월</c:v>
                  </c:pt>
                </c:lvl>
              </c:multiLvlStrCache>
            </c:multiLvlStrRef>
          </c:cat>
          <c:val>
            <c:numRef>
              <c:f>Sheet1!$B$2:$B$5</c:f>
              <c:numCache>
                <c:formatCode>General</c:formatCode>
                <c:ptCount val="4"/>
                <c:pt idx="0">
                  <c:v>364</c:v>
                </c:pt>
                <c:pt idx="1">
                  <c:v>321</c:v>
                </c:pt>
                <c:pt idx="2">
                  <c:v>312</c:v>
                </c:pt>
                <c:pt idx="3">
                  <c:v>241</c:v>
                </c:pt>
              </c:numCache>
            </c:numRef>
          </c:val>
        </c:ser>
        <c:dLbls>
          <c:numFmt formatCode="0&quot;%&quot;" sourceLinked="0"/>
          <c:txPr>
            <a:bodyPr/>
            <a:lstStyle/>
            <a:p>
              <a:pPr>
                <a:defRPr b="1" i="0" strike="noStrike" sz="1400" u="none">
                  <a:solidFill>
                    <a:srgbClr val="191F2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91F28"/>
                </a:solidFill>
                <a:latin typeface="+mn-lt"/>
              </a:defRPr>
            </a:pPr>
            <a:endParaRPr lang="en-US"/>
          </a:p>
        </c:txPr>
        <c:crossAx val="2094734552"/>
        <c:crosses val="autoZero"/>
        <c:auto val="1"/>
        <c:lblAlgn val="ctr"/>
        <c:noMultiLvlLbl val="1"/>
      </c:catAx>
      <c:valAx>
        <c:axId val="2094734552"/>
        <c:scaling>
          <c:orientation val="minMax"/>
          <c:max val="4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브레이브컴퍼니 네이버 광고 진단 결과를 말씀드리겠습니다.
분석 기간은 2026년 7월 1일부터 9월 30일까지 3개월이고, GFA는 흐름을 보기 위해 5월부터 봤습니다.
모든 숫자는 총전환이 아니라 구매완료 전환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순서는 네 부분입니다. 먼저 계정 전체를 요약하고, 검색광고와 GFA를 차례로 본 뒤, 개선 제안과 실행 계획으로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계정 전체를 한눈에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말씀드리면, 성과가 나쁜 계정이 아닙니다. 다만 지금 구조로는 어디서 성과가 나는지 볼 수 없고, 더 키울 수도 없는 상태입니다.
세 가지입니다. 측정이 안 되는 곳, 돈이 새는 곳, 새 고객을 데려오는 구조가 없는 것.
오른쪽 네 숫자가 이 세 가지를 보여줍니다. 브랜드검색은 계약 기간 중 46일 동안 노출이 없었고, 그 기간 계약금이 약 590만 원입니다. 검색광고비의 98.5%는 이미 브랜드를 아는 고객의 검색에 쓰였습니다. GFA ROAS는 364%에서 241%까지 4개월 연속 내려왔고, 파워링크 121만 원은 구매가 아예 측정되지 않고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3개월 광고비는 보고서 기준 4,012만 원이고, 보고서에 0원으로 찍히는 브랜드검색 계약금 해당분을 더하면 약 4,846만 원입니다.
보고서 기준 광고비의 88%가 GFA이고, 그중 90%가 ADVoost입니다. 사실상 ADVoost 한 상품에 계정이 기대고 있습니다.
검색광고 ROAS 10,875%는 계약금이 빠진 숫자입니다. 브랜드검색 계약금을 하루 단위로 나눠 분석 기간만큼 넣으면 4,069%로, 2.7배 차이가 납니다.
ADVoost 306% 자체는 나쁜 숫자가 아닙니다. 뒤에서 왜 더 좋아질 여지가 막혀 있는지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세부적으로는 일곱 가지 문제가 보였습니다. 다섯 개는 위험, 두 개는 주의 단계로 분류했습니다.
중요한 건, 이 문제들이 누군가 잘못해서 생긴 게 아니라 지금 구조에서 자연스럽게 나오는 숫자라는 점입니다.
그래서 해결도 구조로 합니다. 보이게 만들고, 새는 곳을 막고, 키우는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검색광고부터 보겠습니다. 숫자는 좋아 보이지만, 대부분 이미 브랜드를 아는 고객의 검색입니다.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건담닭과 올라잇그린 파워링크에 3개월 동안 121만 원을 썼고 클릭은 7,672회였는데, 구매는 0건으로 나옵니다.
두 캠페인 검색어의 99%가 자사 브랜드명입니다. 브랜드를 검색하고 들어온 고객이 하나도 안 샀다는 건 성과 문제가 아니라 측정 문제입니다. 실제로 같은 브랜드의 쇼핑검색에서는 구매가 225건 잡혔습니다.
확인해 보니 두 캠페인 모두 랜딩 페이지에 네이버 전환 스크립트가 설치돼 있지 않았습니다.
그런데 올라잇그린 파워링크는 9월에 오히려 68% 증액됐습니다. 이 돈이 효과가 있는지 없는지, 지금은 판단할 수 없습니다. 검색광고비의 24%가 이런 상태입니다.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잘하신 부분부터 말씀드리면, 브랜드검색 상품 선택은 적정했습니다. '꼬기다' 모바일 월 검색량이 21,300건이라 라이트형 모바일이 맞습니다.
문제는 노출 관리입니다. 7월 28일부터 90일, 1,155만 원 계약인데, 분석 기간에 해당하는 65일 중 실제로 노출된 날은 19일뿐이고 46일은 노출이 0이었습니다. 8월 1일부터 9월 15일까지입니다. 이 기간 계약금이 약 590만 원입니다.
하필 8월은 '꼬기다' 검색량이 약 23,900건으로 최근 12개월 중 가장 많았던 달입니다.
노출이 0인 날에도 보고서에 브랜드검색 구매가 찍히는데, 이건 그 전에 클릭한 고객의 지연 전환입니다. 그래서 노출수 기준으로 판단했습니다.
브랜드검색이 꺼진 동안 파워링크 '꼬기다'가 대신 클릭을 받아, 하루 클릭이 198회에서 471회로, 하루 비용이 18,767원에서 34,576원으로 늘었습니다. 반대로 브랜드검색이 켜진 날에도 파워링크가 평균 1.1위를 유지하고 있어, 같은 고객에게 이중으로 지출하고 있습니다.
참고로 계약 기간 브랜드검색 실질 ROAS는 1,065%, 클릭당 약 1,050원인데, 이건 미노출 때문에 높아진 숫자입니다.
미노출 원인은 광고 OFF, 소재 검수 등 여러 가능성이 있어 계정 이력 확인이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꼬기다, 건담닭, 올라잇그린 세 브랜드의 검색광고비 중 98.5%가 자사 브랜드명 검색에 쓰였습니다. 통영숙수까지 넣어도 88%입니다.
브랜드명 검색은 이미 우리를 아는 고객입니다. 새 고객을 데려오는 키워드, 예를 들어 닭가슴살이나 닭다리살 같은 카테고리 키워드는 파워링크에 등록돼 있지 않습니다.
그런데도 쇼핑검색과 확장검색을 통해 '닭가슴살'이 들어간 검색어 898개가 우연히 들어왔고, 3.8만 원으로 34건, 191만 원어치가 팔렸습니다. '고기남자 닭가슴살', '워크맨 닭가슴살' 같은 타사 브랜드 검색에서도 27건이 팔렸습니다.
하지 않았는데도 팔렸다는 건, 제대로 하면 더 팔 수 있다는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올라잇그린은 브랜드 키워드인데도 브랜드 키워드처럼 작동하지 않습니다.
꼬기다와 건담닭은 클릭률이 25% 안팎이고 클릭당 비용이 80원 이하인데, 올라잇그린은 클릭률 9.8%, 클릭당 361원으로 꼬기다의 4.7배입니다.
광고 품질 문제는 아닙니다. 품질지수는 10점 만점입니다. 원인은 경쟁 입찰입니다.
검색어로 쪼개 보면 두 갈래입니다. '올라잇그린'이라고 정확히 검색한 경우는 클릭률 22.3%로 괜찮은데, 클릭당 407원입니다. 같은 이름의 다른 회사 제품을 파는 셀러들과 경쟁하기 때문입니다. '올라잇'만 검색한 경우는 노출이 7,456회인데 클릭률이 2%라 그룹 평균을 끌어내립니다.
올라잇그린을 검색하는 사람 중 상당수는 다른 회사 비오틴 제품을 찾는 사람입니다. 참고로 구매 0건은 앞서 말씀드린 스크립트 미설치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검색 화면입니다.
첫 번째, 통합검색에서 '올라잇그린'을 치면 지혜홈쿡, 미쁘다 같은 셀러 광고가 공식 광고보다 위에 나옵니다. 이 셀러들은 다른 회사의 비오틴 제품 '올라잇'을 파는 곳입니다. 그린, 블루 패키지로 나와서 이름이 겹칩니다.
두 번째, 쇼핑검색에서는 올라잇뷰티의 왁싱 제품이 상단을 차지하고, 공식 브랜드 그룹은 평균 4.6위입니다.
세 번째, 공식 광고의 추가홍보문구는 '속세의 맛', '19종 유산균'처럼 맛과 성분 위주라, 이게 어떤 제품군인지가 드러나지 않습니다. 설명문구 뒤에 슬래시로 이어 붙는 형태입니다. 옆의 셀러들은 '본품 증정' 같은 이벤트 확장소재를 보여주고 있습니다.
그래서 제안은 제품군 키워드를 따로 묶고, 문구에 제품군과 혜택을 넣고, '비오틴', '블루', '공구' 같은 검색어를 제외하는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3개월 동안 서로 다른 검색어가 7,602개 들어왔는데, 등록된 제외키워드는 하나도 없습니다.
예를 들어 통영숙수 전복죽 캠페인에는 다른 회사 전복죽 브랜드, '닭죽', '떡볶이 밀키트' 같은 검색어까지 들어왔습니다.
이렇게 새는 곳을 모아 보면 3개월 약 217만 원, 한 달에 약 70만 원입니다. 이 돈은 정리만 해도 성과가 나는 곳으로 옮길 수 있습니다.
소재도 87개 중 51개가 구매 0건이고, 8~9월에는 새 소재가 없었습니다. 통영숙수 전복죽은 15일, 물회는 39일 만에 꺼서, 판단할 데이터가 쌓이기 전에 멈췄습니다.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광고비의 88%를 차지하는 GFA입니다.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GFA는 7월부터 월 예산이 약 510만 원에서 1,171만 원으로 2.3배 늘었습니다. 그때부터 ROAS가 364%, 321%, 312%, 241%로 4개월 연속 떨어졌고, 한 번도 반등하지 않았습니다.
같은 기간 노출 1,000회당 단가인 CPM은 4,377원에서 11,990원으로 2.7배가 됐습니다. 9월은 광고비가 8월과 비슷한데 노출이 절반이고, 구매는 32% 줄었습니다.
늘린 돈만 떼어서 보면, 추가로 쓴 월 약 660만 원이 벌어온 추가 매출은 약 1,580만 원으로 ROAS 239% 정도로 추정됩니다.
단가가 왜 올랐는지는 추정입니다. 쪼개진 캠페인들이 같은 지면을 두고 단가만 올렸을 가능성이 있습니다.
반대로 말하면 5~6월에는 364%가 나오던 구간이 있었습니다. 거기서부터 다시 찾겠습니다.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ADVoost는 AI가 살 사람을 찾아주는 상품입니다. 그런데 지금은 판매처와 연령대로 9개 캠페인을 나눠 놓았습니다. 브랜드별로 나눈 것도 아닙니다. 꼬기밥 단독, 통영숙수 전복죽 정도만 예외이고 나머지는 전부 '전체상품'입니다.
네 가지가 걸립니다. 나눈 캠페인을 합치면 결국 전 연령이라, 학습할 구매 데이터만 쪼개집니다. 연령마다 보여주는 상품도 똑같습니다. 경계도 효율과 맞지 않습니다. ROAS 426%가 나오는 45~49세 여성이 효율이 가장 낮은 40~54세 캠페인 안에 섞여 있고, 연령 기준도 네이버는 25~39/40~54세, 자사몰은 25~49세로 다릅니다. 그리고 꼬기밥 단독 캠페인과 전체상품 캠페인이 같은 상품으로 같은 지면에서 서로 입찰할 수 있습니다.
ROAS 306%는 나쁜 숫자가 아닙니다. 더 좋아질 여지가 막혀 있고, 판단할 비교군이 없다는 게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자사몰 ADVoost의 잠재고객 시그널 화면입니다. 시그널은 AI에게 '이런 사람과 비슷한 사람을 찾아라' 하고 주는 힌트입니다.
자사몰 방문 60일, 장바구니 60일, 그리고 구매 30일이 들어가 있습니다. 즉 기존 구매자를 학습 출발점으로 준 상태입니다.
반면 지금 라이브 중인 카탈로그 광고는 0개라, 구매 직전 고객만 다시 부르는 전용 광고가 없습니다. 새 고객용 광고 하나가 새 고객, 구매 직전 고객, 기존 고객을 모두 맡고 있는 셈입니다.
그래서 ROAS 306% 중 새 고객이 만든 매출이 얼마인지 알 수 없습니다.
역할을 나누겠습니다. ADVoost는 새 고객 획득에 집중하고, 카탈로그 광고를 새로 만들어 구매 직전 고객을 회수하고, 재구매 캠페인으로 기존 고객을 따로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어떻게 바꿀지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 방향은 세 가지이고, 순서가 중요합니다.
첫째, 보이게 만듭니다. 올라잇그린과 건담닭 자사몰에 전환 스크립트를 설치하고, 계약금까지 넣은 실제 ROAS로 보고, 브랜드와 비브랜드, 신규와 리타겟 매출을 나눠 봅니다.
둘째, 새는 곳을 막습니다. 브랜드검색 노출을 정상화하고, 노출되는 동안에는 파워링크 브랜드 입찰을 낮춰 이중 지출을 줄입니다. 제외키워드와 저효율 지면을 정리하고, 올라잇그린은 제품군 키워드와 문구를 정비합니다.
셋째, 키웁니다. ADVoost를 통합한 뒤 5~6월 효율이 나오던 구간에서부터 단계적으로 늘리고, 카탈로그와 재구매 캠페인을 새로 만들고, 카테고리 키워드와 타사 브랜드 키워드를 테스트합니다.
보이지 않는 상태에서 키우면 다시 같은 결과가 나옵니다. 그래서 보이게 만드는 것부터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실행은 세 단계입니다.
이번 주에는 돈이 새는 곳과 측정을 먼저 막습니다. 브랜드검색 미노출 원인을 확인해 정상화하고, 올라잇그린과 건담닭 자사몰에 전환 스크립트를 설치하고, 제외키워드와 저효율 지면을 정리합니다. 확인 기준은 브랜드검색이 매일 노출되는지, 파워링크 구매가 잡히기 시작하는지입니다.
1개월 안에는 구조를 바꿉니다. ADVoost를 9개에서 2개로 합치고 2주간 비교합니다. 카탈로그 리타겟을 새로 세팅하고, 올라잇그린 키워드와 문구, 카테고리 키워드 테스트를 시작합니다.
2~3개월에는 키웁니다. 5~6월 예산 수준에서 출발해 주 단위로 예산을 올려 보면서 ROAS가 꺾이는 지점을 찾습니다. 시즌 상품은 최소 4주는 운영해서 판단할 데이터를 쌓습니다.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앞으로는 ROAS 하나가 아니라 다섯 개 숫자로 보시길 제안드립니다. 계약금을 포함한 검색광고 ROAS, 비브랜드 검색의 매출과 구매당 비용, GFA의 신규와 리타겟 ROAS, GFA 노출 단가, 그리고 측정이 안 되는 캠페인이 0개인지입니다.
효과를 몇 퍼센트 올리겠다고 약속드리기보다, 확인 가능한 것만 말씀드리겠습니다. 정리만으로 한 달 약 70만 원을 성과 나는 곳으로 옮길 수 있습니다. 10월 25일까지 남은 브랜드검색 계약을 정상 노출시키고, 올라잇그린 클릭당 비용이 내려갈 여지가 있고, 지금 측정이 안 되는 121만 원의 효과도 판단할 수 있게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바로 시작하기 위해 네 가지가 필요합니다.
첫째, 네이버 광고 계정 열람 권한입니다. 브랜드검색이 왜 꺼져 있었는지, ADVoost 시그널 전체가 어떻게 들어가 있는지 확인하겠습니다.
둘째, 올라잇그린과 건담닭 자사몰 스크립트를 설치해 주실 담당자 연결입니다.
셋째, 꼬기다 자사몰 상품 카탈로그가 등록돼 있는지 여부입니다. 카탈로그 리타겟 광고에 필요합니다.
넷째, 브랜드별 목표 ROAS나 마진 기준입니다. 예산을 어디까지 늘릴지 판단하는 기준이 됩니다.
말씀드린 모든 숫자는 구매완료 전환 기준입니다.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나오면 참고할 데이터 기준입니다. 모든 전환은 구매완료 기준이고, 브랜드검색 계약금은 하루 단위로 나눠 분석 기간만큼 반영했습니다.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검색어 보고서에서 구매가 0건인 검색어 중 브랜드명이 들어가지 않은 것을 비용 순으로 뽑은 목록입니다. 상위 20개가 모두 통영숙수 캠페인 검색어입니다.
장우준, 김호준, 명품게우 같은 다른 회사 전복죽 브랜드나 '어떻게 하나요' 같은 질문형 검색어는 바로 제외하는 게 맞습니다.
'죽', '냉동죽', '물회키트' 같은 일반 카테고리어는 구매는 없었지만 수요가 있는 말이라, 바로 제외하기보다 입찰과 매칭 방식을 먼저 조정하는 걸 권합니다.
'꼬끼다'는 브랜드 오타라서, '전복죽'은 자사 핵심 상품명이고 전복죽 캠페인에서는 구매가 8건 있어서 목록에서 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GFA 연령·성별 효율입니다. 진한 칸일수록 ROAS가 높습니다.
30대 남성이 GFA 광고비의 22%를 쓰면서 ROAS 356~393%로 가장 안정적인 핵심 고객입니다. 45~49세 여성은 426%로 가장 높은데, 지금 캠페인 구조에서는 효율이 가장 낮은 40~54세 캠페인 안에 섞여 있습니다.
반대로 연령을 알 수 없는 노출에 323만 원, 9%가 쓰였고 ROAS는 138%입니다. 19세 미만 노출도 57만 원, ROAS 143%입니다. 정리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NC_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NC_CONTENTS-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NC_SECTION-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C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proposal/bravecompany/assets/logo_white.png">    </p:cNvPr>
          <p:cNvPicPr>
            <a:picLocks noChangeAspect="1"/>
          </p:cNvPicPr>
          <p:nvPr/>
        </p:nvPicPr>
        <p:blipFill>
          <a:blip r:embed="rId1"/>
          <a:stretch>
            <a:fillRect/>
          </a:stretch>
        </p:blipFill>
        <p:spPr>
          <a:xfrm>
            <a:off x="10149840" y="6053328"/>
            <a:ext cx="1554480" cy="228600"/>
          </a:xfrm>
          <a:prstGeom prst="rect">
            <a:avLst/>
          </a:prstGeom>
        </p:spPr>
      </p:pic>
      <p:sp>
        <p:nvSpPr>
          <p:cNvPr id="3" name="Text 0"/>
          <p:cNvSpPr/>
          <p:nvPr/>
        </p:nvSpPr>
        <p:spPr>
          <a:xfrm>
            <a:off x="10149840" y="6355080"/>
            <a:ext cx="1828800" cy="182880"/>
          </a:xfrm>
          <a:prstGeom prst="rect">
            <a:avLst/>
          </a:prstGeom>
          <a:noFill/>
          <a:ln/>
        </p:spPr>
        <p:txBody>
          <a:bodyPr wrap="square" lIns="0" tIns="0" rIns="0" bIns="0" rtlCol="0" anchor="ctr"/>
          <a:lstStyle/>
          <a:p>
            <a:pPr indent="0" marL="0">
              <a:buNone/>
            </a:pPr>
            <a:r>
              <a:rPr lang="en-US" sz="800" dirty="0">
                <a:solidFill>
                  <a:schemeClr val="bg1"/>
                </a:solidFill>
              </a:rPr>
              <a:t>Credible Outcome Reliable Evolution</a:t>
            </a:r>
            <a:endParaRPr lang="en-US" sz="800" dirty="0"/>
          </a:p>
        </p:txBody>
      </p:sp>
      <p:sp>
        <p:nvSpPr>
          <p:cNvPr id="4" name="Text 1"/>
          <p:cNvSpPr/>
          <p:nvPr/>
        </p:nvSpPr>
        <p:spPr>
          <a:xfrm>
            <a:off x="228600" y="6492240"/>
            <a:ext cx="3200400" cy="182880"/>
          </a:xfrm>
          <a:prstGeom prst="rect">
            <a:avLst/>
          </a:prstGeom>
          <a:noFill/>
          <a:ln/>
        </p:spPr>
        <p:txBody>
          <a:bodyPr wrap="square" lIns="0" tIns="0" rIns="0" bIns="0" rtlCol="0" anchor="ctr"/>
          <a:lstStyle/>
          <a:p>
            <a:pPr indent="0" marL="0">
              <a:buNone/>
            </a:pPr>
            <a:r>
              <a:rPr lang="en-US" sz="700" dirty="0">
                <a:solidFill>
                  <a:schemeClr val="bg1"/>
                </a:solidFill>
              </a:rPr>
              <a:t>©2026 NICECORE. ALL RIGHTS RESERVED.</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C_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proposal/bravecompany/assets/logo_white.png">    </p:cNvPr>
          <p:cNvPicPr>
            <a:picLocks noChangeAspect="1"/>
          </p:cNvPicPr>
          <p:nvPr/>
        </p:nvPicPr>
        <p:blipFill>
          <a:blip r:embed="rId1"/>
          <a:stretch>
            <a:fillRect/>
          </a:stretch>
        </p:blipFill>
        <p:spPr>
          <a:xfrm>
            <a:off x="10149840" y="6053328"/>
            <a:ext cx="1554480" cy="228600"/>
          </a:xfrm>
          <a:prstGeom prst="rect">
            <a:avLst/>
          </a:prstGeom>
        </p:spPr>
      </p:pic>
      <p:sp>
        <p:nvSpPr>
          <p:cNvPr id="3" name="Text 0"/>
          <p:cNvSpPr/>
          <p:nvPr/>
        </p:nvSpPr>
        <p:spPr>
          <a:xfrm>
            <a:off x="10149840" y="6355080"/>
            <a:ext cx="1828800" cy="182880"/>
          </a:xfrm>
          <a:prstGeom prst="rect">
            <a:avLst/>
          </a:prstGeom>
          <a:noFill/>
          <a:ln/>
        </p:spPr>
        <p:txBody>
          <a:bodyPr wrap="square" lIns="0" tIns="0" rIns="0" bIns="0" rtlCol="0" anchor="ctr"/>
          <a:lstStyle/>
          <a:p>
            <a:pPr indent="0" marL="0">
              <a:buNone/>
            </a:pPr>
            <a:r>
              <a:rPr lang="en-US" sz="800" dirty="0">
                <a:solidFill>
                  <a:schemeClr val="bg1"/>
                </a:solidFill>
              </a:rPr>
              <a:t>Credible Outcome Reliable Evolution</a:t>
            </a:r>
            <a:endParaRPr lang="en-US" sz="800" dirty="0"/>
          </a:p>
        </p:txBody>
      </p:sp>
      <p:sp>
        <p:nvSpPr>
          <p:cNvPr id="4" name="Text 1"/>
          <p:cNvSpPr/>
          <p:nvPr/>
        </p:nvSpPr>
        <p:spPr>
          <a:xfrm>
            <a:off x="228600" y="6492240"/>
            <a:ext cx="3200400" cy="182880"/>
          </a:xfrm>
          <a:prstGeom prst="rect">
            <a:avLst/>
          </a:prstGeom>
          <a:noFill/>
          <a:ln/>
        </p:spPr>
        <p:txBody>
          <a:bodyPr wrap="square" lIns="0" tIns="0" rIns="0" bIns="0" rtlCol="0" anchor="ctr"/>
          <a:lstStyle/>
          <a:p>
            <a:pPr indent="0" marL="0">
              <a:buNone/>
            </a:pPr>
            <a:r>
              <a:rPr lang="en-US" sz="700" dirty="0">
                <a:solidFill>
                  <a:schemeClr val="bg1"/>
                </a:solidFill>
              </a:rPr>
              <a:t>©2026 NICECORE. ALL RIGHTS RESERVED.</a:t>
            </a:r>
            <a:endParaRPr lang="en-US" sz="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C_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proposal/bravecompany/assets/logo_white.png">    </p:cNvPr>
          <p:cNvPicPr>
            <a:picLocks noChangeAspect="1"/>
          </p:cNvPicPr>
          <p:nvPr/>
        </p:nvPicPr>
        <p:blipFill>
          <a:blip r:embed="rId1"/>
          <a:stretch>
            <a:fillRect/>
          </a:stretch>
        </p:blipFill>
        <p:spPr>
          <a:xfrm>
            <a:off x="10149840" y="6053328"/>
            <a:ext cx="1554480" cy="228600"/>
          </a:xfrm>
          <a:prstGeom prst="rect">
            <a:avLst/>
          </a:prstGeom>
        </p:spPr>
      </p:pic>
      <p:sp>
        <p:nvSpPr>
          <p:cNvPr id="3" name="Text 0"/>
          <p:cNvSpPr/>
          <p:nvPr/>
        </p:nvSpPr>
        <p:spPr>
          <a:xfrm>
            <a:off x="10149840" y="6355080"/>
            <a:ext cx="1828800" cy="182880"/>
          </a:xfrm>
          <a:prstGeom prst="rect">
            <a:avLst/>
          </a:prstGeom>
          <a:noFill/>
          <a:ln/>
        </p:spPr>
        <p:txBody>
          <a:bodyPr wrap="square" lIns="0" tIns="0" rIns="0" bIns="0" rtlCol="0" anchor="ctr"/>
          <a:lstStyle/>
          <a:p>
            <a:pPr indent="0" marL="0">
              <a:buNone/>
            </a:pPr>
            <a:r>
              <a:rPr lang="en-US" sz="800" dirty="0">
                <a:solidFill>
                  <a:schemeClr val="bg1"/>
                </a:solidFill>
              </a:rPr>
              <a:t>Credible Outcome Reliable Evolution</a:t>
            </a:r>
            <a:endParaRPr lang="en-US" sz="800" dirty="0"/>
          </a:p>
        </p:txBody>
      </p:sp>
      <p:sp>
        <p:nvSpPr>
          <p:cNvPr id="4" name="Text 1"/>
          <p:cNvSpPr/>
          <p:nvPr/>
        </p:nvSpPr>
        <p:spPr>
          <a:xfrm>
            <a:off x="228600" y="6492240"/>
            <a:ext cx="3200400" cy="182880"/>
          </a:xfrm>
          <a:prstGeom prst="rect">
            <a:avLst/>
          </a:prstGeom>
          <a:noFill/>
          <a:ln/>
        </p:spPr>
        <p:txBody>
          <a:bodyPr wrap="square" lIns="0" tIns="0" rIns="0" bIns="0" rtlCol="0" anchor="ctr"/>
          <a:lstStyle/>
          <a:p>
            <a:pPr indent="0" marL="0">
              <a:buNone/>
            </a:pPr>
            <a:r>
              <a:rPr lang="en-US" sz="700" dirty="0">
                <a:solidFill>
                  <a:schemeClr val="bg1"/>
                </a:solidFill>
              </a:rPr>
              <a:t>©2026 NICECORE. ALL RIGHTS RESERVED.</a:t>
            </a:r>
            <a:endParaRPr lang="en-US" sz="700" dirty="0"/>
          </a:p>
        </p:txBody>
      </p:sp>
      <p:sp>
        <p:nvSpPr>
          <p:cNvPr id="5" name="Text 2"/>
          <p:cNvSpPr/>
          <p:nvPr>
            <p:ph idx="103" type="title" hasCustomPrompt="1"/>
          </p:nvPr>
        </p:nvSpPr>
        <p:spPr>
          <a:xfrm>
            <a:off x="1188720" y="640080"/>
            <a:ext cx="96012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C_CONTENT">
    <p:bg>
      <p:bgPr>
        <a:solidFill>
          <a:schemeClr val="bg1"/>
        </a:solidFill>
      </p:bgPr>
    </p:bg>
    <p:spTree>
      <p:nvGrpSpPr>
        <p:cNvPr id="1" name=""/>
        <p:cNvGrpSpPr/>
        <p:nvPr/>
      </p:nvGrpSpPr>
      <p:grpSpPr>
        <a:xfrm>
          <a:off x="0" y="0"/>
          <a:ext cx="0" cy="0"/>
          <a:chOff x="0" y="0"/>
          <a:chExt cx="0" cy="0"/>
        </a:xfrm>
      </p:grpSpPr>
      <p:pic>
        <p:nvPicPr>
          <p:cNvPr id="2" name="Image 0" descr="/home/user/proposal/bravecompany/assets/logo_navy.png">    </p:cNvPr>
          <p:cNvPicPr>
            <a:picLocks noChangeAspect="1"/>
          </p:cNvPicPr>
          <p:nvPr/>
        </p:nvPicPr>
        <p:blipFill>
          <a:blip r:embed="rId1"/>
          <a:stretch>
            <a:fillRect/>
          </a:stretch>
        </p:blipFill>
        <p:spPr>
          <a:xfrm>
            <a:off x="10451592" y="6382512"/>
            <a:ext cx="1188720" cy="173736"/>
          </a:xfrm>
          <a:prstGeom prst="rect">
            <a:avLst/>
          </a:prstGeom>
        </p:spPr>
      </p:pic>
      <p:sp>
        <p:nvSpPr>
          <p:cNvPr id="3" name="Text 0"/>
          <p:cNvSpPr/>
          <p:nvPr/>
        </p:nvSpPr>
        <p:spPr>
          <a:xfrm>
            <a:off x="548640" y="6400800"/>
            <a:ext cx="3657600" cy="164592"/>
          </a:xfrm>
          <a:prstGeom prst="rect">
            <a:avLst/>
          </a:prstGeom>
          <a:noFill/>
          <a:ln/>
        </p:spPr>
        <p:txBody>
          <a:bodyPr wrap="square" lIns="0" tIns="0" rIns="0" bIns="0" rtlCol="0" anchor="ctr"/>
          <a:lstStyle/>
          <a:p>
            <a:pPr indent="0" marL="0">
              <a:buNone/>
            </a:pPr>
            <a:r>
              <a:rPr lang="en-US" sz="800" dirty="0">
                <a:solidFill>
                  <a:schemeClr val="accent3"/>
                </a:solidFill>
              </a:rPr>
              <a:t>©2026 NICECORE. ALL RIGHTS RESERVED.</a:t>
            </a:r>
            <a:endParaRPr lang="en-US" sz="800" dirty="0"/>
          </a:p>
        </p:txBody>
      </p:sp>
      <p:sp>
        <p:nvSpPr>
          <p:cNvPr id="4" name="Text 1"/>
          <p:cNvSpPr/>
          <p:nvPr>
            <p:ph idx="102" type="body" hasCustomPrompt="1"/>
          </p:nvPr>
        </p:nvSpPr>
        <p:spPr>
          <a:xfrm>
            <a:off x="548640" y="347472"/>
            <a:ext cx="73152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188720" y="1097280"/>
            <a:ext cx="6400800" cy="320040"/>
          </a:xfrm>
          <a:prstGeom prst="rect">
            <a:avLst/>
          </a:prstGeom>
          <a:noFill/>
          <a:ln/>
        </p:spPr>
        <p:txBody>
          <a:bodyPr wrap="square" lIns="0" tIns="0" rIns="0" bIns="0" rtlCol="0" anchor="t"/>
          <a:lstStyle/>
          <a:p>
            <a:pPr indent="0" marL="0">
              <a:buNone/>
            </a:pPr>
            <a:r>
              <a:rPr lang="en-US" sz="1600" b="1" dirty="0">
                <a:solidFill>
                  <a:schemeClr val="bg1"/>
                </a:solidFill>
              </a:rPr>
              <a:t>NICECORE 광고 진단 제안</a:t>
            </a:r>
            <a:endParaRPr lang="en-US" sz="1600" dirty="0"/>
          </a:p>
        </p:txBody>
      </p:sp>
      <p:sp>
        <p:nvSpPr>
          <p:cNvPr id="3" name="Text 1"/>
          <p:cNvSpPr txBox="1"/>
          <p:nvPr/>
        </p:nvSpPr>
        <p:spPr>
          <a:xfrm>
            <a:off x="1188720" y="1554480"/>
            <a:ext cx="7772400" cy="1463040"/>
          </a:xfrm>
          <a:prstGeom prst="rect">
            <a:avLst/>
          </a:prstGeom>
          <a:noFill/>
          <a:ln/>
        </p:spPr>
        <p:txBody>
          <a:bodyPr wrap="square" lIns="0" tIns="0" rIns="0" bIns="0" rtlCol="0" anchor="t"/>
          <a:lstStyle/>
          <a:p>
            <a:pPr indent="0" marL="0">
              <a:lnSpc>
                <a:spcPct val="105000"/>
              </a:lnSpc>
              <a:buNone/>
            </a:pPr>
            <a:r>
              <a:rPr lang="en-US" sz="4000" b="1" dirty="0">
                <a:solidFill>
                  <a:schemeClr val="bg1"/>
                </a:solidFill>
              </a:rPr>
              <a:t>브레이브컴퍼니</a:t>
            </a:r>
            <a:endParaRPr lang="en-US" sz="4000" dirty="0"/>
          </a:p>
          <a:p>
            <a:pPr indent="0" marL="0">
              <a:lnSpc>
                <a:spcPct val="105000"/>
              </a:lnSpc>
              <a:buNone/>
            </a:pPr>
            <a:r>
              <a:rPr lang="en-US" sz="4000" b="1" dirty="0">
                <a:solidFill>
                  <a:schemeClr val="bg1"/>
                </a:solidFill>
              </a:rPr>
              <a:t>네이버 광고 개선 방향</a:t>
            </a:r>
            <a:endParaRPr lang="en-US" sz="4000" dirty="0"/>
          </a:p>
        </p:txBody>
      </p:sp>
      <p:sp>
        <p:nvSpPr>
          <p:cNvPr id="4" name="Text 2"/>
          <p:cNvSpPr txBox="1"/>
          <p:nvPr/>
        </p:nvSpPr>
        <p:spPr>
          <a:xfrm>
            <a:off x="1188720" y="3154680"/>
            <a:ext cx="8229600" cy="320040"/>
          </a:xfrm>
          <a:prstGeom prst="rect">
            <a:avLst/>
          </a:prstGeom>
          <a:noFill/>
          <a:ln/>
        </p:spPr>
        <p:txBody>
          <a:bodyPr wrap="square" lIns="0" tIns="0" rIns="0" bIns="0" rtlCol="0" anchor="t"/>
          <a:lstStyle/>
          <a:p>
            <a:pPr indent="0" marL="0">
              <a:buNone/>
            </a:pPr>
            <a:r>
              <a:rPr lang="en-US" sz="1400" dirty="0">
                <a:solidFill>
                  <a:schemeClr val="bg1"/>
                </a:solidFill>
              </a:rPr>
              <a:t>분석 기간 2026.07.01 ~ 09.30 (GFA 추이는 5월부터)  |  구매완료 전환 기준  |  2026년 10월</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22960" y="1005840"/>
            <a:ext cx="3657600" cy="548640"/>
          </a:xfrm>
          <a:prstGeom prst="rect">
            <a:avLst/>
          </a:prstGeom>
          <a:noFill/>
          <a:ln/>
        </p:spPr>
        <p:txBody>
          <a:bodyPr wrap="square" lIns="0" tIns="0" rIns="0" bIns="0" rtlCol="0" anchor="t"/>
          <a:lstStyle/>
          <a:p>
            <a:pPr indent="0" marL="0">
              <a:buNone/>
            </a:pPr>
            <a:r>
              <a:rPr lang="en-US" sz="2800" b="1" dirty="0">
                <a:solidFill>
                  <a:schemeClr val="bg1"/>
                </a:solidFill>
              </a:rPr>
              <a:t>CONTENTS</a:t>
            </a:r>
            <a:endParaRPr lang="en-US" sz="2800" dirty="0"/>
          </a:p>
        </p:txBody>
      </p:sp>
      <p:sp>
        <p:nvSpPr>
          <p:cNvPr id="3" name="Text 1"/>
          <p:cNvSpPr txBox="1"/>
          <p:nvPr/>
        </p:nvSpPr>
        <p:spPr>
          <a:xfrm>
            <a:off x="5852160" y="1051560"/>
            <a:ext cx="5120640" cy="384048"/>
          </a:xfrm>
          <a:prstGeom prst="rect">
            <a:avLst/>
          </a:prstGeom>
          <a:noFill/>
          <a:ln/>
        </p:spPr>
        <p:txBody>
          <a:bodyPr wrap="square" lIns="0" tIns="0" rIns="0" bIns="0" rtlCol="0" anchor="ctr"/>
          <a:lstStyle/>
          <a:p>
            <a:pPr indent="0" marL="0">
              <a:buNone/>
            </a:pPr>
            <a:r>
              <a:rPr lang="en-US" sz="2000" b="1" dirty="0">
                <a:solidFill>
                  <a:schemeClr val="bg1"/>
                </a:solidFill>
              </a:rPr>
              <a:t>01   </a:t>
            </a:r>
            <a:pPr indent="0" marL="0">
              <a:buNone/>
            </a:pPr>
            <a:r>
              <a:rPr lang="en-US" sz="2000" b="1" dirty="0">
                <a:solidFill>
                  <a:schemeClr val="bg1"/>
                </a:solidFill>
              </a:rPr>
              <a:t>진단 요약</a:t>
            </a:r>
            <a:endParaRPr lang="en-US" sz="1400" dirty="0"/>
          </a:p>
        </p:txBody>
      </p:sp>
      <p:sp>
        <p:nvSpPr>
          <p:cNvPr id="4" name="Text 2"/>
          <p:cNvSpPr txBox="1"/>
          <p:nvPr/>
        </p:nvSpPr>
        <p:spPr>
          <a:xfrm>
            <a:off x="6446520" y="1435608"/>
            <a:ext cx="4572000" cy="274320"/>
          </a:xfrm>
          <a:prstGeom prst="rect">
            <a:avLst/>
          </a:prstGeom>
          <a:noFill/>
          <a:ln/>
        </p:spPr>
        <p:txBody>
          <a:bodyPr wrap="square" lIns="0" tIns="0" rIns="0" bIns="0" rtlCol="0" anchor="t"/>
          <a:lstStyle/>
          <a:p>
            <a:pPr indent="0" marL="0">
              <a:buNone/>
            </a:pPr>
            <a:r>
              <a:rPr lang="en-US" sz="1300" dirty="0">
                <a:solidFill>
                  <a:schemeClr val="bg1"/>
                </a:solidFill>
              </a:rPr>
              <a:t>성과가 아니라 구조의 문제</a:t>
            </a:r>
            <a:endParaRPr lang="en-US" sz="1300" dirty="0"/>
          </a:p>
        </p:txBody>
      </p:sp>
      <p:sp>
        <p:nvSpPr>
          <p:cNvPr id="5" name="Shape 3"/>
          <p:cNvSpPr/>
          <p:nvPr/>
        </p:nvSpPr>
        <p:spPr>
          <a:xfrm>
            <a:off x="5852160" y="1801368"/>
            <a:ext cx="5120640" cy="0"/>
          </a:xfrm>
          <a:prstGeom prst="line">
            <a:avLst/>
          </a:prstGeom>
          <a:noFill/>
          <a:ln w="12700">
            <a:solidFill>
              <a:schemeClr val="bg1"/>
            </a:solidFill>
            <a:prstDash val="solid"/>
          </a:ln>
        </p:spPr>
      </p:sp>
      <p:sp>
        <p:nvSpPr>
          <p:cNvPr id="6" name="Text 4"/>
          <p:cNvSpPr txBox="1"/>
          <p:nvPr/>
        </p:nvSpPr>
        <p:spPr>
          <a:xfrm>
            <a:off x="5852160" y="1920240"/>
            <a:ext cx="5120640" cy="384048"/>
          </a:xfrm>
          <a:prstGeom prst="rect">
            <a:avLst/>
          </a:prstGeom>
          <a:noFill/>
          <a:ln/>
        </p:spPr>
        <p:txBody>
          <a:bodyPr wrap="square" lIns="0" tIns="0" rIns="0" bIns="0" rtlCol="0" anchor="ctr"/>
          <a:lstStyle/>
          <a:p>
            <a:pPr indent="0" marL="0">
              <a:buNone/>
            </a:pPr>
            <a:r>
              <a:rPr lang="en-US" sz="2000" b="1" dirty="0">
                <a:solidFill>
                  <a:schemeClr val="bg1"/>
                </a:solidFill>
              </a:rPr>
              <a:t>02   </a:t>
            </a:r>
            <a:pPr indent="0" marL="0">
              <a:buNone/>
            </a:pPr>
            <a:r>
              <a:rPr lang="en-US" sz="2000" b="1" dirty="0">
                <a:solidFill>
                  <a:schemeClr val="bg1"/>
                </a:solidFill>
              </a:rPr>
              <a:t>검색광고</a:t>
            </a:r>
            <a:endParaRPr lang="en-US" sz="1400" dirty="0"/>
          </a:p>
        </p:txBody>
      </p:sp>
      <p:sp>
        <p:nvSpPr>
          <p:cNvPr id="7" name="Text 5"/>
          <p:cNvSpPr txBox="1"/>
          <p:nvPr/>
        </p:nvSpPr>
        <p:spPr>
          <a:xfrm>
            <a:off x="6446520" y="2304288"/>
            <a:ext cx="4572000" cy="274320"/>
          </a:xfrm>
          <a:prstGeom prst="rect">
            <a:avLst/>
          </a:prstGeom>
          <a:noFill/>
          <a:ln/>
        </p:spPr>
        <p:txBody>
          <a:bodyPr wrap="square" lIns="0" tIns="0" rIns="0" bIns="0" rtlCol="0" anchor="t"/>
          <a:lstStyle/>
          <a:p>
            <a:pPr indent="0" marL="0">
              <a:buNone/>
            </a:pPr>
            <a:r>
              <a:rPr lang="en-US" sz="1300" dirty="0">
                <a:solidFill>
                  <a:schemeClr val="bg1"/>
                </a:solidFill>
              </a:rPr>
              <a:t>측정 · 브랜드검색 · 키워드 · 제외키워드</a:t>
            </a:r>
            <a:endParaRPr lang="en-US" sz="1300" dirty="0"/>
          </a:p>
        </p:txBody>
      </p:sp>
      <p:sp>
        <p:nvSpPr>
          <p:cNvPr id="8" name="Shape 6"/>
          <p:cNvSpPr/>
          <p:nvPr/>
        </p:nvSpPr>
        <p:spPr>
          <a:xfrm>
            <a:off x="5852160" y="2670048"/>
            <a:ext cx="5120640" cy="0"/>
          </a:xfrm>
          <a:prstGeom prst="line">
            <a:avLst/>
          </a:prstGeom>
          <a:noFill/>
          <a:ln w="12700">
            <a:solidFill>
              <a:schemeClr val="bg1"/>
            </a:solidFill>
            <a:prstDash val="solid"/>
          </a:ln>
        </p:spPr>
      </p:sp>
      <p:sp>
        <p:nvSpPr>
          <p:cNvPr id="9" name="Text 7"/>
          <p:cNvSpPr txBox="1"/>
          <p:nvPr/>
        </p:nvSpPr>
        <p:spPr>
          <a:xfrm>
            <a:off x="5852160" y="2788920"/>
            <a:ext cx="5120640" cy="384048"/>
          </a:xfrm>
          <a:prstGeom prst="rect">
            <a:avLst/>
          </a:prstGeom>
          <a:noFill/>
          <a:ln/>
        </p:spPr>
        <p:txBody>
          <a:bodyPr wrap="square" lIns="0" tIns="0" rIns="0" bIns="0" rtlCol="0" anchor="ctr"/>
          <a:lstStyle/>
          <a:p>
            <a:pPr indent="0" marL="0">
              <a:buNone/>
            </a:pPr>
            <a:r>
              <a:rPr lang="en-US" sz="2000" b="1" dirty="0">
                <a:solidFill>
                  <a:schemeClr val="bg1"/>
                </a:solidFill>
              </a:rPr>
              <a:t>03   </a:t>
            </a:r>
            <a:pPr indent="0" marL="0">
              <a:buNone/>
            </a:pPr>
            <a:r>
              <a:rPr lang="en-US" sz="2000" b="1" dirty="0">
                <a:solidFill>
                  <a:schemeClr val="bg1"/>
                </a:solidFill>
              </a:rPr>
              <a:t>GFA</a:t>
            </a:r>
            <a:endParaRPr lang="en-US" sz="1400" dirty="0"/>
          </a:p>
        </p:txBody>
      </p:sp>
      <p:sp>
        <p:nvSpPr>
          <p:cNvPr id="10" name="Text 8"/>
          <p:cNvSpPr txBox="1"/>
          <p:nvPr/>
        </p:nvSpPr>
        <p:spPr>
          <a:xfrm>
            <a:off x="6446520" y="3172968"/>
            <a:ext cx="4572000" cy="274320"/>
          </a:xfrm>
          <a:prstGeom prst="rect">
            <a:avLst/>
          </a:prstGeom>
          <a:noFill/>
          <a:ln/>
        </p:spPr>
        <p:txBody>
          <a:bodyPr wrap="square" lIns="0" tIns="0" rIns="0" bIns="0" rtlCol="0" anchor="t"/>
          <a:lstStyle/>
          <a:p>
            <a:pPr indent="0" marL="0">
              <a:buNone/>
            </a:pPr>
            <a:r>
              <a:rPr lang="en-US" sz="1300" dirty="0">
                <a:solidFill>
                  <a:schemeClr val="bg1"/>
                </a:solidFill>
              </a:rPr>
              <a:t>증액 후 효율 · ADVoost 분할 · 역할 혼재</a:t>
            </a:r>
            <a:endParaRPr lang="en-US" sz="1300" dirty="0"/>
          </a:p>
        </p:txBody>
      </p:sp>
      <p:sp>
        <p:nvSpPr>
          <p:cNvPr id="11" name="Shape 9"/>
          <p:cNvSpPr/>
          <p:nvPr/>
        </p:nvSpPr>
        <p:spPr>
          <a:xfrm>
            <a:off x="5852160" y="3538728"/>
            <a:ext cx="5120640" cy="0"/>
          </a:xfrm>
          <a:prstGeom prst="line">
            <a:avLst/>
          </a:prstGeom>
          <a:noFill/>
          <a:ln w="12700">
            <a:solidFill>
              <a:schemeClr val="bg1"/>
            </a:solidFill>
            <a:prstDash val="solid"/>
          </a:ln>
        </p:spPr>
      </p:sp>
      <p:sp>
        <p:nvSpPr>
          <p:cNvPr id="12" name="Text 10"/>
          <p:cNvSpPr txBox="1"/>
          <p:nvPr/>
        </p:nvSpPr>
        <p:spPr>
          <a:xfrm>
            <a:off x="5852160" y="3657600"/>
            <a:ext cx="5120640" cy="384048"/>
          </a:xfrm>
          <a:prstGeom prst="rect">
            <a:avLst/>
          </a:prstGeom>
          <a:noFill/>
          <a:ln/>
        </p:spPr>
        <p:txBody>
          <a:bodyPr wrap="square" lIns="0" tIns="0" rIns="0" bIns="0" rtlCol="0" anchor="ctr"/>
          <a:lstStyle/>
          <a:p>
            <a:pPr indent="0" marL="0">
              <a:buNone/>
            </a:pPr>
            <a:r>
              <a:rPr lang="en-US" sz="2000" b="1" dirty="0">
                <a:solidFill>
                  <a:schemeClr val="bg1"/>
                </a:solidFill>
              </a:rPr>
              <a:t>04   </a:t>
            </a:r>
            <a:pPr indent="0" marL="0">
              <a:buNone/>
            </a:pPr>
            <a:r>
              <a:rPr lang="en-US" sz="2000" b="1" dirty="0">
                <a:solidFill>
                  <a:schemeClr val="bg1"/>
                </a:solidFill>
              </a:rPr>
              <a:t>개선 제안</a:t>
            </a:r>
            <a:endParaRPr lang="en-US" sz="1400" dirty="0"/>
          </a:p>
        </p:txBody>
      </p:sp>
      <p:sp>
        <p:nvSpPr>
          <p:cNvPr id="13" name="Text 11"/>
          <p:cNvSpPr txBox="1"/>
          <p:nvPr/>
        </p:nvSpPr>
        <p:spPr>
          <a:xfrm>
            <a:off x="6446520" y="4041648"/>
            <a:ext cx="4572000" cy="274320"/>
          </a:xfrm>
          <a:prstGeom prst="rect">
            <a:avLst/>
          </a:prstGeom>
          <a:noFill/>
          <a:ln/>
        </p:spPr>
        <p:txBody>
          <a:bodyPr wrap="square" lIns="0" tIns="0" rIns="0" bIns="0" rtlCol="0" anchor="t"/>
          <a:lstStyle/>
          <a:p>
            <a:pPr indent="0" marL="0">
              <a:buNone/>
            </a:pPr>
            <a:r>
              <a:rPr lang="en-US" sz="1300" dirty="0">
                <a:solidFill>
                  <a:schemeClr val="bg1"/>
                </a:solidFill>
              </a:rPr>
              <a:t>실행 방향 · 실행 계획 · 성과 지표</a:t>
            </a:r>
            <a:endParaRPr lang="en-US" sz="1300" dirty="0"/>
          </a:p>
        </p:txBody>
      </p:sp>
      <p:sp>
        <p:nvSpPr>
          <p:cNvPr id="14" name="Shape 12"/>
          <p:cNvSpPr/>
          <p:nvPr/>
        </p:nvSpPr>
        <p:spPr>
          <a:xfrm>
            <a:off x="5852160" y="4407408"/>
            <a:ext cx="5120640" cy="0"/>
          </a:xfrm>
          <a:prstGeom prst="line">
            <a:avLst/>
          </a:prstGeom>
          <a:noFill/>
          <a:ln w="12700">
            <a:solidFill>
              <a:schemeClr val="bg1"/>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1188720" y="640080"/>
            <a:ext cx="9601200" cy="731520"/>
          </a:xfrm>
          <a:prstGeom prst="rect">
            <a:avLst/>
          </a:prstGeom>
          <a:noFill/>
          <a:ln/>
        </p:spPr>
        <p:txBody>
          <a:bodyPr wrap="square" lIns="0" tIns="0" rIns="0" bIns="0" rtlCol="0" anchor="ctr"/>
          <a:lstStyle/>
          <a:p>
            <a:pPr algn="l" indent="0" marL="0">
              <a:buNone/>
            </a:pPr>
            <a:r>
              <a:rPr lang="en-US" sz="3600" b="1" dirty="0">
                <a:solidFill>
                  <a:schemeClr val="bg1"/>
                </a:solidFill>
              </a:rPr>
              <a:t>01  진단 요약</a:t>
            </a:r>
            <a:endParaRPr lang="en-US" sz="3600" dirty="0"/>
          </a:p>
        </p:txBody>
      </p:sp>
      <p:sp>
        <p:nvSpPr>
          <p:cNvPr id="3" name="Text 1"/>
          <p:cNvSpPr txBox="1"/>
          <p:nvPr/>
        </p:nvSpPr>
        <p:spPr>
          <a:xfrm>
            <a:off x="1188720" y="1691640"/>
            <a:ext cx="9144000" cy="548640"/>
          </a:xfrm>
          <a:prstGeom prst="rect">
            <a:avLst/>
          </a:prstGeom>
          <a:noFill/>
          <a:ln/>
        </p:spPr>
        <p:txBody>
          <a:bodyPr wrap="square" lIns="0" tIns="0" rIns="0" bIns="0" rtlCol="0" anchor="t"/>
          <a:lstStyle/>
          <a:p>
            <a:pPr indent="0" marL="0">
              <a:buNone/>
            </a:pPr>
            <a:r>
              <a:rPr lang="en-US" sz="2600" dirty="0">
                <a:solidFill>
                  <a:schemeClr val="bg1"/>
                </a:solidFill>
              </a:rPr>
              <a:t>성과가 나쁜 게 아니라, 구조의 문제입니다</a:t>
            </a:r>
            <a:endParaRPr lang="en-US" sz="2600" dirty="0"/>
          </a:p>
        </p:txBody>
      </p:sp>
      <p:sp>
        <p:nvSpPr>
          <p:cNvPr id="4" name="Text 2"/>
          <p:cNvSpPr txBox="1"/>
          <p:nvPr/>
        </p:nvSpPr>
        <p:spPr>
          <a:xfrm>
            <a:off x="1188720" y="2514600"/>
            <a:ext cx="9144000" cy="365760"/>
          </a:xfrm>
          <a:prstGeom prst="rect">
            <a:avLst/>
          </a:prstGeom>
          <a:noFill/>
          <a:ln/>
        </p:spPr>
        <p:txBody>
          <a:bodyPr wrap="square" lIns="0" tIns="0" rIns="0" bIns="0" rtlCol="0" anchor="t"/>
          <a:lstStyle/>
          <a:p>
            <a:pPr indent="0" marL="0">
              <a:buNone/>
            </a:pPr>
            <a:r>
              <a:rPr lang="en-US" sz="1600" dirty="0">
                <a:solidFill>
                  <a:schemeClr val="bg1"/>
                </a:solidFill>
              </a:rPr>
              <a:t>계정 전체 숫자  ·  광고비 구조  ·  문제 7가지</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01  진단 요약</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성과가 나쁜 게 아니라, 볼 수 없고 키울 수 없는 상태입니다</a:t>
            </a:r>
            <a:endParaRPr lang="en-US" sz="2800" dirty="0"/>
          </a:p>
        </p:txBody>
      </p:sp>
      <p:sp>
        <p:nvSpPr>
          <p:cNvPr id="4" name="Shape 2"/>
          <p:cNvSpPr/>
          <p:nvPr/>
        </p:nvSpPr>
        <p:spPr>
          <a:xfrm>
            <a:off x="548640" y="1691640"/>
            <a:ext cx="384048" cy="384048"/>
          </a:xfrm>
          <a:prstGeom prst="ellipse">
            <a:avLst/>
          </a:prstGeom>
          <a:solidFill>
            <a:schemeClr val="tx2"/>
          </a:solidFill>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97280" y="1673352"/>
            <a:ext cx="4572000" cy="384048"/>
          </a:xfrm>
          <a:prstGeom prst="rect">
            <a:avLst/>
          </a:prstGeom>
          <a:noFill/>
          <a:ln/>
        </p:spPr>
        <p:txBody>
          <a:bodyPr wrap="square" lIns="0" tIns="0" rIns="0" bIns="0" rtlCol="0" anchor="ctr"/>
          <a:lstStyle/>
          <a:p>
            <a:pPr indent="0" marL="0">
              <a:buNone/>
            </a:pPr>
            <a:r>
              <a:rPr lang="en-US" sz="1800" b="1" dirty="0">
                <a:solidFill>
                  <a:schemeClr val="tx1"/>
                </a:solidFill>
              </a:rPr>
              <a:t>브랜드 고객만 받는 검색광고</a:t>
            </a:r>
            <a:endParaRPr lang="en-US" sz="1800" dirty="0"/>
          </a:p>
        </p:txBody>
      </p:sp>
      <p:sp>
        <p:nvSpPr>
          <p:cNvPr id="7" name="Text 5"/>
          <p:cNvSpPr txBox="1"/>
          <p:nvPr/>
        </p:nvSpPr>
        <p:spPr>
          <a:xfrm>
            <a:off x="1097280" y="2103120"/>
            <a:ext cx="4572000" cy="685800"/>
          </a:xfrm>
          <a:prstGeom prst="rect">
            <a:avLst/>
          </a:prstGeom>
          <a:noFill/>
          <a:ln/>
        </p:spPr>
        <p:txBody>
          <a:bodyPr wrap="square" lIns="0" tIns="0" rIns="0" bIns="0" rtlCol="0" anchor="t"/>
          <a:lstStyle/>
          <a:p>
            <a:pPr indent="0" marL="0">
              <a:buNone/>
            </a:pPr>
            <a:r>
              <a:rPr lang="en-US" sz="1400" dirty="0">
                <a:solidFill>
                  <a:schemeClr val="accent2"/>
                </a:solidFill>
              </a:rPr>
              <a:t>검색광고비 98.5%가 이미 브랜드를 아는 고객에게 쓰였습니다</a:t>
            </a:r>
            <a:endParaRPr lang="en-US" sz="1400" dirty="0"/>
          </a:p>
        </p:txBody>
      </p:sp>
      <p:sp>
        <p:nvSpPr>
          <p:cNvPr id="8" name="Shape 6"/>
          <p:cNvSpPr/>
          <p:nvPr/>
        </p:nvSpPr>
        <p:spPr>
          <a:xfrm>
            <a:off x="548640" y="3108960"/>
            <a:ext cx="384048" cy="384048"/>
          </a:xfrm>
          <a:prstGeom prst="ellipse">
            <a:avLst/>
          </a:prstGeom>
          <a:solidFill>
            <a:schemeClr val="tx2"/>
          </a:solidFill>
          <a:ln/>
        </p:spPr>
      </p:sp>
      <p:sp>
        <p:nvSpPr>
          <p:cNvPr id="9" name="Text 7"/>
          <p:cNvSpPr txBox="1"/>
          <p:nvPr/>
        </p:nvSpPr>
        <p:spPr>
          <a:xfrm>
            <a:off x="54864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97280" y="3090672"/>
            <a:ext cx="4572000" cy="384048"/>
          </a:xfrm>
          <a:prstGeom prst="rect">
            <a:avLst/>
          </a:prstGeom>
          <a:noFill/>
          <a:ln/>
        </p:spPr>
        <p:txBody>
          <a:bodyPr wrap="square" lIns="0" tIns="0" rIns="0" bIns="0" rtlCol="0" anchor="ctr"/>
          <a:lstStyle/>
          <a:p>
            <a:pPr indent="0" marL="0">
              <a:buNone/>
            </a:pPr>
            <a:r>
              <a:rPr lang="en-US" sz="1800" b="1" dirty="0">
                <a:solidFill>
                  <a:schemeClr val="tx1"/>
                </a:solidFill>
              </a:rPr>
              <a:t>증액 후 꺾인 GFA</a:t>
            </a:r>
            <a:endParaRPr lang="en-US" sz="1800" dirty="0"/>
          </a:p>
        </p:txBody>
      </p:sp>
      <p:sp>
        <p:nvSpPr>
          <p:cNvPr id="11" name="Text 9"/>
          <p:cNvSpPr txBox="1"/>
          <p:nvPr/>
        </p:nvSpPr>
        <p:spPr>
          <a:xfrm>
            <a:off x="1097280" y="3520440"/>
            <a:ext cx="4572000" cy="685800"/>
          </a:xfrm>
          <a:prstGeom prst="rect">
            <a:avLst/>
          </a:prstGeom>
          <a:noFill/>
          <a:ln/>
        </p:spPr>
        <p:txBody>
          <a:bodyPr wrap="square" lIns="0" tIns="0" rIns="0" bIns="0" rtlCol="0" anchor="t"/>
          <a:lstStyle/>
          <a:p>
            <a:pPr indent="0" marL="0">
              <a:buNone/>
            </a:pPr>
            <a:r>
              <a:rPr lang="en-US" sz="1400" dirty="0">
                <a:solidFill>
                  <a:schemeClr val="accent2"/>
                </a:solidFill>
              </a:rPr>
              <a:t>예산을 2.3배 늘린 뒤 ROAS가 4개월 연속 떨어졌습니다</a:t>
            </a:r>
            <a:endParaRPr lang="en-US" sz="1400" dirty="0"/>
          </a:p>
        </p:txBody>
      </p:sp>
      <p:sp>
        <p:nvSpPr>
          <p:cNvPr id="12" name="Shape 10"/>
          <p:cNvSpPr/>
          <p:nvPr/>
        </p:nvSpPr>
        <p:spPr>
          <a:xfrm>
            <a:off x="548640" y="4526280"/>
            <a:ext cx="384048" cy="384048"/>
          </a:xfrm>
          <a:prstGeom prst="ellipse">
            <a:avLst/>
          </a:prstGeom>
          <a:solidFill>
            <a:schemeClr val="tx2"/>
          </a:solidFill>
          <a:ln/>
        </p:spPr>
      </p:sp>
      <p:sp>
        <p:nvSpPr>
          <p:cNvPr id="13" name="Text 11"/>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97280" y="4507992"/>
            <a:ext cx="4572000" cy="384048"/>
          </a:xfrm>
          <a:prstGeom prst="rect">
            <a:avLst/>
          </a:prstGeom>
          <a:noFill/>
          <a:ln/>
        </p:spPr>
        <p:txBody>
          <a:bodyPr wrap="square" lIns="0" tIns="0" rIns="0" bIns="0" rtlCol="0" anchor="ctr"/>
          <a:lstStyle/>
          <a:p>
            <a:pPr indent="0" marL="0">
              <a:buNone/>
            </a:pPr>
            <a:r>
              <a:rPr lang="en-US" sz="1800" b="1" dirty="0">
                <a:solidFill>
                  <a:schemeClr val="tx1"/>
                </a:solidFill>
              </a:rPr>
              <a:t>측정 누락과 계약 미노출</a:t>
            </a:r>
            <a:endParaRPr lang="en-US" sz="1800" dirty="0"/>
          </a:p>
        </p:txBody>
      </p:sp>
      <p:sp>
        <p:nvSpPr>
          <p:cNvPr id="15" name="Text 13"/>
          <p:cNvSpPr txBox="1"/>
          <p:nvPr/>
        </p:nvSpPr>
        <p:spPr>
          <a:xfrm>
            <a:off x="1097280" y="4937760"/>
            <a:ext cx="4572000" cy="685800"/>
          </a:xfrm>
          <a:prstGeom prst="rect">
            <a:avLst/>
          </a:prstGeom>
          <a:noFill/>
          <a:ln/>
        </p:spPr>
        <p:txBody>
          <a:bodyPr wrap="square" lIns="0" tIns="0" rIns="0" bIns="0" rtlCol="0" anchor="t"/>
          <a:lstStyle/>
          <a:p>
            <a:pPr indent="0" marL="0">
              <a:buNone/>
            </a:pPr>
            <a:r>
              <a:rPr lang="en-US" sz="1400" dirty="0">
                <a:solidFill>
                  <a:schemeClr val="accent2"/>
                </a:solidFill>
              </a:rPr>
              <a:t>구매가 잡히지 않는 파워링크, 꺼져 있던 브랜드검색이 있습니다</a:t>
            </a:r>
            <a:endParaRPr lang="en-US" sz="1400" dirty="0"/>
          </a:p>
        </p:txBody>
      </p:sp>
      <p:sp>
        <p:nvSpPr>
          <p:cNvPr id="16" name="Shape 14"/>
          <p:cNvSpPr/>
          <p:nvPr/>
        </p:nvSpPr>
        <p:spPr>
          <a:xfrm>
            <a:off x="5989320" y="1554480"/>
            <a:ext cx="2715768" cy="2103120"/>
          </a:xfrm>
          <a:prstGeom prst="roundRect">
            <a:avLst>
              <a:gd name="adj" fmla="val 5217"/>
            </a:avLst>
          </a:prstGeom>
          <a:solidFill>
            <a:schemeClr val="bg2"/>
          </a:solidFill>
          <a:ln/>
        </p:spPr>
      </p:sp>
      <p:sp>
        <p:nvSpPr>
          <p:cNvPr id="17" name="Text 15"/>
          <p:cNvSpPr txBox="1"/>
          <p:nvPr/>
        </p:nvSpPr>
        <p:spPr>
          <a:xfrm>
            <a:off x="6263640" y="1965960"/>
            <a:ext cx="2258568" cy="640080"/>
          </a:xfrm>
          <a:prstGeom prst="rect">
            <a:avLst/>
          </a:prstGeom>
          <a:noFill/>
          <a:ln/>
        </p:spPr>
        <p:txBody>
          <a:bodyPr wrap="square" lIns="0" tIns="0" rIns="0" bIns="0" rtlCol="0" anchor="ctr"/>
          <a:lstStyle/>
          <a:p>
            <a:pPr indent="0" marL="0">
              <a:buNone/>
            </a:pPr>
            <a:r>
              <a:rPr lang="en-US" sz="3000" b="1" dirty="0">
                <a:solidFill>
                  <a:schemeClr val="accent1"/>
                </a:solidFill>
              </a:rPr>
              <a:t>590만 원</a:t>
            </a:r>
            <a:endParaRPr lang="en-US" sz="3000" dirty="0"/>
          </a:p>
        </p:txBody>
      </p:sp>
      <p:sp>
        <p:nvSpPr>
          <p:cNvPr id="18" name="Text 16"/>
          <p:cNvSpPr txBox="1"/>
          <p:nvPr/>
        </p:nvSpPr>
        <p:spPr>
          <a:xfrm>
            <a:off x="6263640" y="2743200"/>
            <a:ext cx="2212848" cy="685800"/>
          </a:xfrm>
          <a:prstGeom prst="rect">
            <a:avLst/>
          </a:prstGeom>
          <a:noFill/>
          <a:ln/>
        </p:spPr>
        <p:txBody>
          <a:bodyPr wrap="square" lIns="0" tIns="0" rIns="0" bIns="0" rtlCol="0" anchor="t"/>
          <a:lstStyle/>
          <a:p>
            <a:pPr indent="0" marL="0">
              <a:buNone/>
            </a:pPr>
            <a:r>
              <a:rPr lang="en-US" sz="1400" dirty="0">
                <a:solidFill>
                  <a:schemeClr val="accent2"/>
                </a:solidFill>
              </a:rPr>
              <a:t>브랜드검색 미노출 46일치 계약금</a:t>
            </a:r>
            <a:endParaRPr lang="en-US" sz="1400" dirty="0"/>
          </a:p>
        </p:txBody>
      </p:sp>
      <p:sp>
        <p:nvSpPr>
          <p:cNvPr id="19" name="Shape 17"/>
          <p:cNvSpPr/>
          <p:nvPr/>
        </p:nvSpPr>
        <p:spPr>
          <a:xfrm>
            <a:off x="8906256" y="1554480"/>
            <a:ext cx="2715768" cy="2103120"/>
          </a:xfrm>
          <a:prstGeom prst="roundRect">
            <a:avLst>
              <a:gd name="adj" fmla="val 5217"/>
            </a:avLst>
          </a:prstGeom>
          <a:solidFill>
            <a:schemeClr val="bg2"/>
          </a:solidFill>
          <a:ln/>
        </p:spPr>
      </p:sp>
      <p:sp>
        <p:nvSpPr>
          <p:cNvPr id="20" name="Text 18"/>
          <p:cNvSpPr txBox="1"/>
          <p:nvPr/>
        </p:nvSpPr>
        <p:spPr>
          <a:xfrm>
            <a:off x="9180576" y="1965960"/>
            <a:ext cx="2258568" cy="640080"/>
          </a:xfrm>
          <a:prstGeom prst="rect">
            <a:avLst/>
          </a:prstGeom>
          <a:noFill/>
          <a:ln/>
        </p:spPr>
        <p:txBody>
          <a:bodyPr wrap="square" lIns="0" tIns="0" rIns="0" bIns="0" rtlCol="0" anchor="ctr"/>
          <a:lstStyle/>
          <a:p>
            <a:pPr indent="0" marL="0">
              <a:buNone/>
            </a:pPr>
            <a:r>
              <a:rPr lang="en-US" sz="3000" b="1" dirty="0">
                <a:solidFill>
                  <a:schemeClr val="tx2"/>
                </a:solidFill>
              </a:rPr>
              <a:t>98.5%</a:t>
            </a:r>
            <a:endParaRPr lang="en-US" sz="3000" dirty="0"/>
          </a:p>
        </p:txBody>
      </p:sp>
      <p:sp>
        <p:nvSpPr>
          <p:cNvPr id="21" name="Text 19"/>
          <p:cNvSpPr txBox="1"/>
          <p:nvPr/>
        </p:nvSpPr>
        <p:spPr>
          <a:xfrm>
            <a:off x="9180576" y="2743200"/>
            <a:ext cx="2212848" cy="685800"/>
          </a:xfrm>
          <a:prstGeom prst="rect">
            <a:avLst/>
          </a:prstGeom>
          <a:noFill/>
          <a:ln/>
        </p:spPr>
        <p:txBody>
          <a:bodyPr wrap="square" lIns="0" tIns="0" rIns="0" bIns="0" rtlCol="0" anchor="t"/>
          <a:lstStyle/>
          <a:p>
            <a:pPr indent="0" marL="0">
              <a:buNone/>
            </a:pPr>
            <a:r>
              <a:rPr lang="en-US" sz="1400" dirty="0">
                <a:solidFill>
                  <a:schemeClr val="accent2"/>
                </a:solidFill>
              </a:rPr>
              <a:t>검색광고비 중 자사 브랜드명 검색 비중</a:t>
            </a:r>
            <a:endParaRPr lang="en-US" sz="1400" dirty="0"/>
          </a:p>
        </p:txBody>
      </p:sp>
      <p:sp>
        <p:nvSpPr>
          <p:cNvPr id="22" name="Shape 20"/>
          <p:cNvSpPr/>
          <p:nvPr/>
        </p:nvSpPr>
        <p:spPr>
          <a:xfrm>
            <a:off x="5989320" y="3858768"/>
            <a:ext cx="2715768" cy="2103120"/>
          </a:xfrm>
          <a:prstGeom prst="roundRect">
            <a:avLst>
              <a:gd name="adj" fmla="val 5217"/>
            </a:avLst>
          </a:prstGeom>
          <a:solidFill>
            <a:schemeClr val="bg2"/>
          </a:solidFill>
          <a:ln/>
        </p:spPr>
      </p:sp>
      <p:sp>
        <p:nvSpPr>
          <p:cNvPr id="23" name="Text 21"/>
          <p:cNvSpPr txBox="1"/>
          <p:nvPr/>
        </p:nvSpPr>
        <p:spPr>
          <a:xfrm>
            <a:off x="6263640" y="4270248"/>
            <a:ext cx="2258568" cy="640080"/>
          </a:xfrm>
          <a:prstGeom prst="rect">
            <a:avLst/>
          </a:prstGeom>
          <a:noFill/>
          <a:ln/>
        </p:spPr>
        <p:txBody>
          <a:bodyPr wrap="square" lIns="0" tIns="0" rIns="0" bIns="0" rtlCol="0" anchor="ctr"/>
          <a:lstStyle/>
          <a:p>
            <a:pPr indent="0" marL="0">
              <a:buNone/>
            </a:pPr>
            <a:r>
              <a:rPr lang="en-US" sz="3000" b="1" dirty="0">
                <a:solidFill>
                  <a:schemeClr val="accent1"/>
                </a:solidFill>
              </a:rPr>
              <a:t>241%</a:t>
            </a:r>
            <a:endParaRPr lang="en-US" sz="3000" dirty="0"/>
          </a:p>
        </p:txBody>
      </p:sp>
      <p:sp>
        <p:nvSpPr>
          <p:cNvPr id="24" name="Text 22"/>
          <p:cNvSpPr txBox="1"/>
          <p:nvPr/>
        </p:nvSpPr>
        <p:spPr>
          <a:xfrm>
            <a:off x="6263640" y="5047488"/>
            <a:ext cx="2212848" cy="685800"/>
          </a:xfrm>
          <a:prstGeom prst="rect">
            <a:avLst/>
          </a:prstGeom>
          <a:noFill/>
          <a:ln/>
        </p:spPr>
        <p:txBody>
          <a:bodyPr wrap="square" lIns="0" tIns="0" rIns="0" bIns="0" rtlCol="0" anchor="t"/>
          <a:lstStyle/>
          <a:p>
            <a:pPr indent="0" marL="0">
              <a:buNone/>
            </a:pPr>
            <a:r>
              <a:rPr lang="en-US" sz="1400" dirty="0">
                <a:solidFill>
                  <a:schemeClr val="accent2"/>
                </a:solidFill>
              </a:rPr>
              <a:t>9월 GFA ROAS. 364%에서 4개월 연속 하락</a:t>
            </a:r>
            <a:endParaRPr lang="en-US" sz="1400" dirty="0"/>
          </a:p>
        </p:txBody>
      </p:sp>
      <p:sp>
        <p:nvSpPr>
          <p:cNvPr id="25" name="Shape 23"/>
          <p:cNvSpPr/>
          <p:nvPr/>
        </p:nvSpPr>
        <p:spPr>
          <a:xfrm>
            <a:off x="8906256" y="3858768"/>
            <a:ext cx="2715768" cy="2103120"/>
          </a:xfrm>
          <a:prstGeom prst="roundRect">
            <a:avLst>
              <a:gd name="adj" fmla="val 5217"/>
            </a:avLst>
          </a:prstGeom>
          <a:solidFill>
            <a:schemeClr val="bg2"/>
          </a:solidFill>
          <a:ln/>
        </p:spPr>
      </p:sp>
      <p:sp>
        <p:nvSpPr>
          <p:cNvPr id="26" name="Text 24"/>
          <p:cNvSpPr txBox="1"/>
          <p:nvPr/>
        </p:nvSpPr>
        <p:spPr>
          <a:xfrm>
            <a:off x="9180576" y="4270248"/>
            <a:ext cx="2258568" cy="640080"/>
          </a:xfrm>
          <a:prstGeom prst="rect">
            <a:avLst/>
          </a:prstGeom>
          <a:noFill/>
          <a:ln/>
        </p:spPr>
        <p:txBody>
          <a:bodyPr wrap="square" lIns="0" tIns="0" rIns="0" bIns="0" rtlCol="0" anchor="ctr"/>
          <a:lstStyle/>
          <a:p>
            <a:pPr indent="0" marL="0">
              <a:buNone/>
            </a:pPr>
            <a:r>
              <a:rPr lang="en-US" sz="3000" b="1" dirty="0">
                <a:solidFill>
                  <a:schemeClr val="tx2"/>
                </a:solidFill>
              </a:rPr>
              <a:t>121만 원</a:t>
            </a:r>
            <a:endParaRPr lang="en-US" sz="3000" dirty="0"/>
          </a:p>
        </p:txBody>
      </p:sp>
      <p:sp>
        <p:nvSpPr>
          <p:cNvPr id="27" name="Text 25"/>
          <p:cNvSpPr txBox="1"/>
          <p:nvPr/>
        </p:nvSpPr>
        <p:spPr>
          <a:xfrm>
            <a:off x="9180576" y="5047488"/>
            <a:ext cx="2212848" cy="685800"/>
          </a:xfrm>
          <a:prstGeom prst="rect">
            <a:avLst/>
          </a:prstGeom>
          <a:noFill/>
          <a:ln/>
        </p:spPr>
        <p:txBody>
          <a:bodyPr wrap="square" lIns="0" tIns="0" rIns="0" bIns="0" rtlCol="0" anchor="t"/>
          <a:lstStyle/>
          <a:p>
            <a:pPr indent="0" marL="0">
              <a:buNone/>
            </a:pPr>
            <a:r>
              <a:rPr lang="en-US" sz="1400" dirty="0">
                <a:solidFill>
                  <a:schemeClr val="accent2"/>
                </a:solidFill>
              </a:rPr>
              <a:t>구매가 측정되지 않는 파워링크 광고비</a:t>
            </a:r>
            <a:endParaRPr lang="en-US" sz="14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01  진단 요약</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광고비의 88%가 GFA, 그중 90%가 ADVoost입니다</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651760"/>
                <a:gridCol w="1645920"/>
                <a:gridCol w="1234440"/>
                <a:gridCol w="5559552"/>
              </a:tblGrid>
              <a:tr h="384048">
                <a:tc>
                  <a:txBody>
                    <a:bodyPr/>
                    <a:lstStyle/>
                    <a:p>
                      <a:pPr indent="0" marL="0">
                        <a:buNone/>
                      </a:pPr>
                      <a:r>
                        <a:rPr lang="en-US" sz="1400" b="1" dirty="0">
                          <a:solidFill>
                            <a:schemeClr val="bg1"/>
                          </a:solidFill>
                        </a:rPr>
                        <a:t>구분</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광고비</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ROAS</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한 줄 진단</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검색광고 SA</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499만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10,875%</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chemeClr val="tx1"/>
                          </a:solidFill>
                        </a:rPr>
                        <a:t>대부분 브랜드명 검색. 계약금 반영 시 4,069%</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84048">
                <a:tc>
                  <a:txBody>
                    <a:bodyPr/>
                    <a:lstStyle/>
                    <a:p>
                      <a:pPr indent="0" marL="0">
                        <a:buNone/>
                      </a:pPr>
                      <a:r>
                        <a:rPr lang="en-US" sz="1400" dirty="0">
                          <a:solidFill>
                            <a:schemeClr val="tx1"/>
                          </a:solidFill>
                        </a:rPr>
                        <a:t>브랜드검색 계약금 (일할)</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834만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1,065%</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b="1" dirty="0">
                          <a:solidFill>
                            <a:schemeClr val="accent1"/>
                          </a:solidFill>
                        </a:rPr>
                        <a:t>계약 65일 중 46일 노출 0</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84048">
                <a:tc>
                  <a:txBody>
                    <a:bodyPr/>
                    <a:lstStyle/>
                    <a:p>
                      <a:pPr indent="0" marL="0">
                        <a:buNone/>
                      </a:pPr>
                      <a:r>
                        <a:rPr lang="en-US" sz="1400" dirty="0">
                          <a:solidFill>
                            <a:schemeClr val="tx1"/>
                          </a:solidFill>
                        </a:rPr>
                        <a:t>GFA ADVoost</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3,174만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306%</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chemeClr val="tx1"/>
                          </a:solidFill>
                        </a:rPr>
                        <a:t>9개 캠페인 분할, 신규·기존 고객 혼재</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84048">
                <a:tc>
                  <a:txBody>
                    <a:bodyPr/>
                    <a:lstStyle/>
                    <a:p>
                      <a:pPr indent="0" marL="0">
                        <a:buNone/>
                      </a:pPr>
                      <a:r>
                        <a:rPr lang="en-US" sz="1400" dirty="0">
                          <a:solidFill>
                            <a:schemeClr val="tx1"/>
                          </a:solidFill>
                        </a:rPr>
                        <a:t>GFA 수동 캠페인</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339만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약 175%</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chemeClr val="tx1"/>
                          </a:solidFill>
                        </a:rPr>
                        <a:t>트래픽 목적, 소재 정체, 카탈로그 없음</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84048">
                <a:tc>
                  <a:txBody>
                    <a:bodyPr/>
                    <a:lstStyle/>
                    <a:p>
                      <a:pPr indent="0" marL="0">
                        <a:buNone/>
                      </a:pPr>
                      <a:r>
                        <a:rPr lang="en-US" sz="1400" b="1" dirty="0">
                          <a:solidFill>
                            <a:schemeClr val="tx1"/>
                          </a:solidFill>
                        </a:rPr>
                        <a:t>합계 (계약금 포함)</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b="1" dirty="0">
                          <a:solidFill>
                            <a:schemeClr val="tx1"/>
                          </a:solidFill>
                        </a:rPr>
                        <a:t>약 4,846만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chemeClr val="tx1"/>
                          </a:solidFill>
                        </a:rPr>
                        <a:t>보고서 기준 4,012만 원 + 계약금 해당분</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bl>
          </a:graphicData>
        </a:graphic>
      </p:graphicFrame>
      <p:graphicFrame>
        <p:nvGraphicFramePr>
          <p:cNvPr id="5" name="Chart 0" descr=""/>
          <p:cNvGraphicFramePr/>
          <p:nvPr/>
        </p:nvGraphicFramePr>
        <p:xfrm>
          <a:off x="457200" y="3977640"/>
          <a:ext cx="11277295" cy="11430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5303520"/>
            <a:ext cx="11094415" cy="685800"/>
          </a:xfrm>
          <a:prstGeom prst="roundRect">
            <a:avLst>
              <a:gd name="adj" fmla="val 16000"/>
            </a:avLst>
          </a:prstGeom>
          <a:solidFill>
            <a:schemeClr val="accent1">
              <a:alpha val="10000"/>
            </a:schemeClr>
          </a:solidFill>
          <a:ln/>
        </p:spPr>
      </p:sp>
      <p:sp>
        <p:nvSpPr>
          <p:cNvPr id="7" name="Text 3"/>
          <p:cNvSpPr txBox="1"/>
          <p:nvPr/>
        </p:nvSpPr>
        <p:spPr>
          <a:xfrm>
            <a:off x="822960" y="5303520"/>
            <a:ext cx="10545775" cy="685800"/>
          </a:xfrm>
          <a:prstGeom prst="rect">
            <a:avLst/>
          </a:prstGeom>
          <a:noFill/>
          <a:ln/>
        </p:spPr>
        <p:txBody>
          <a:bodyPr wrap="square" lIns="0" tIns="0" rIns="0" bIns="0" rtlCol="0" anchor="ctr"/>
          <a:lstStyle/>
          <a:p>
            <a:pPr indent="0" marL="0">
              <a:buNone/>
            </a:pPr>
            <a:r>
              <a:rPr lang="en-US" sz="1500" b="1" dirty="0">
                <a:solidFill>
                  <a:schemeClr val="tx1"/>
                </a:solidFill>
              </a:rPr>
              <a:t>SA ROAS 10,875%는 브랜드검색 계약금이 빠진 숫자입니다.  </a:t>
            </a:r>
            <a:pPr indent="0" marL="0">
              <a:buNone/>
            </a:pPr>
            <a:r>
              <a:rPr lang="en-US" sz="1500" dirty="0">
                <a:solidFill>
                  <a:schemeClr val="tx1"/>
                </a:solidFill>
              </a:rPr>
              <a:t>계약금을 넣으면 4,069% — 실제보다 2.7배 부풀려 보이고 있습니다.</a:t>
            </a:r>
            <a:endParaRPr lang="en-US" sz="15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01  진단 요약</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구조에서 생긴 문제 7가지</a:t>
            </a:r>
            <a:endParaRPr lang="en-US" sz="2800" dirty="0"/>
          </a:p>
        </p:txBody>
      </p:sp>
      <p:sp>
        <p:nvSpPr>
          <p:cNvPr id="4" name="Shape 2"/>
          <p:cNvSpPr/>
          <p:nvPr/>
        </p:nvSpPr>
        <p:spPr>
          <a:xfrm>
            <a:off x="548640" y="1600200"/>
            <a:ext cx="2602154" cy="2057400"/>
          </a:xfrm>
          <a:prstGeom prst="roundRect">
            <a:avLst>
              <a:gd name="adj" fmla="val 5333"/>
            </a:avLst>
          </a:prstGeom>
          <a:solidFill>
            <a:schemeClr val="bg2"/>
          </a:solidFill>
          <a:ln/>
        </p:spPr>
      </p:sp>
      <p:sp>
        <p:nvSpPr>
          <p:cNvPr id="5" name="Shape 3"/>
          <p:cNvSpPr/>
          <p:nvPr/>
        </p:nvSpPr>
        <p:spPr>
          <a:xfrm>
            <a:off x="777240" y="1828800"/>
            <a:ext cx="384048" cy="384048"/>
          </a:xfrm>
          <a:prstGeom prst="ellipse">
            <a:avLst/>
          </a:prstGeom>
          <a:solidFill>
            <a:schemeClr val="accent1"/>
          </a:solidFill>
          <a:ln/>
        </p:spPr>
      </p:sp>
      <p:sp>
        <p:nvSpPr>
          <p:cNvPr id="6" name="Text 4"/>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280160" y="1828800"/>
            <a:ext cx="914400" cy="384048"/>
          </a:xfrm>
          <a:prstGeom prst="rect">
            <a:avLst/>
          </a:prstGeom>
          <a:noFill/>
          <a:ln/>
        </p:spPr>
        <p:txBody>
          <a:bodyPr wrap="square" lIns="0" tIns="0" rIns="0" bIns="0" rtlCol="0" anchor="ctr"/>
          <a:lstStyle/>
          <a:p>
            <a:pPr indent="0" marL="0">
              <a:buNone/>
            </a:pPr>
            <a:r>
              <a:rPr lang="en-US" sz="1200" b="1" dirty="0">
                <a:solidFill>
                  <a:schemeClr val="accent1"/>
                </a:solidFill>
              </a:rPr>
              <a:t>위험</a:t>
            </a:r>
            <a:endParaRPr lang="en-US" sz="1200" dirty="0"/>
          </a:p>
        </p:txBody>
      </p:sp>
      <p:sp>
        <p:nvSpPr>
          <p:cNvPr id="8" name="Text 6"/>
          <p:cNvSpPr txBox="1"/>
          <p:nvPr/>
        </p:nvSpPr>
        <p:spPr>
          <a:xfrm>
            <a:off x="777240" y="2423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측정 누락</a:t>
            </a:r>
            <a:endParaRPr lang="en-US" sz="1700" dirty="0"/>
          </a:p>
        </p:txBody>
      </p:sp>
      <p:sp>
        <p:nvSpPr>
          <p:cNvPr id="9" name="Text 7"/>
          <p:cNvSpPr txBox="1"/>
          <p:nvPr/>
        </p:nvSpPr>
        <p:spPr>
          <a:xfrm>
            <a:off x="777240" y="2862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파워링크 121만 원, 구매 0건</a:t>
            </a:r>
            <a:endParaRPr lang="en-US" sz="1400" dirty="0"/>
          </a:p>
        </p:txBody>
      </p:sp>
      <p:sp>
        <p:nvSpPr>
          <p:cNvPr id="10" name="Shape 8"/>
          <p:cNvSpPr/>
          <p:nvPr/>
        </p:nvSpPr>
        <p:spPr>
          <a:xfrm>
            <a:off x="3379394" y="1600200"/>
            <a:ext cx="2602154" cy="2057400"/>
          </a:xfrm>
          <a:prstGeom prst="roundRect">
            <a:avLst>
              <a:gd name="adj" fmla="val 5333"/>
            </a:avLst>
          </a:prstGeom>
          <a:solidFill>
            <a:schemeClr val="bg2"/>
          </a:solidFill>
          <a:ln/>
        </p:spPr>
      </p:sp>
      <p:sp>
        <p:nvSpPr>
          <p:cNvPr id="11" name="Shape 9"/>
          <p:cNvSpPr/>
          <p:nvPr/>
        </p:nvSpPr>
        <p:spPr>
          <a:xfrm>
            <a:off x="3607994" y="1828800"/>
            <a:ext cx="384048" cy="384048"/>
          </a:xfrm>
          <a:prstGeom prst="ellipse">
            <a:avLst/>
          </a:prstGeom>
          <a:solidFill>
            <a:schemeClr val="accent1"/>
          </a:solidFill>
          <a:ln/>
        </p:spPr>
      </p:sp>
      <p:sp>
        <p:nvSpPr>
          <p:cNvPr id="12" name="Text 10"/>
          <p:cNvSpPr txBox="1"/>
          <p:nvPr/>
        </p:nvSpPr>
        <p:spPr>
          <a:xfrm>
            <a:off x="3607994"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4110914" y="1828800"/>
            <a:ext cx="914400" cy="384048"/>
          </a:xfrm>
          <a:prstGeom prst="rect">
            <a:avLst/>
          </a:prstGeom>
          <a:noFill/>
          <a:ln/>
        </p:spPr>
        <p:txBody>
          <a:bodyPr wrap="square" lIns="0" tIns="0" rIns="0" bIns="0" rtlCol="0" anchor="ctr"/>
          <a:lstStyle/>
          <a:p>
            <a:pPr indent="0" marL="0">
              <a:buNone/>
            </a:pPr>
            <a:r>
              <a:rPr lang="en-US" sz="1200" b="1" dirty="0">
                <a:solidFill>
                  <a:schemeClr val="accent1"/>
                </a:solidFill>
              </a:rPr>
              <a:t>위험</a:t>
            </a:r>
            <a:endParaRPr lang="en-US" sz="1200" dirty="0"/>
          </a:p>
        </p:txBody>
      </p:sp>
      <p:sp>
        <p:nvSpPr>
          <p:cNvPr id="14" name="Text 12"/>
          <p:cNvSpPr txBox="1"/>
          <p:nvPr/>
        </p:nvSpPr>
        <p:spPr>
          <a:xfrm>
            <a:off x="3607994" y="2423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브랜드검색 미노출</a:t>
            </a:r>
            <a:endParaRPr lang="en-US" sz="1700" dirty="0"/>
          </a:p>
        </p:txBody>
      </p:sp>
      <p:sp>
        <p:nvSpPr>
          <p:cNvPr id="15" name="Text 13"/>
          <p:cNvSpPr txBox="1"/>
          <p:nvPr/>
        </p:nvSpPr>
        <p:spPr>
          <a:xfrm>
            <a:off x="3607994" y="2862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계약 65일 중 46일 노출 0</a:t>
            </a:r>
            <a:endParaRPr lang="en-US" sz="1400" dirty="0"/>
          </a:p>
        </p:txBody>
      </p:sp>
      <p:sp>
        <p:nvSpPr>
          <p:cNvPr id="16" name="Shape 14"/>
          <p:cNvSpPr/>
          <p:nvPr/>
        </p:nvSpPr>
        <p:spPr>
          <a:xfrm>
            <a:off x="6210148" y="1600200"/>
            <a:ext cx="2602154" cy="2057400"/>
          </a:xfrm>
          <a:prstGeom prst="roundRect">
            <a:avLst>
              <a:gd name="adj" fmla="val 5333"/>
            </a:avLst>
          </a:prstGeom>
          <a:solidFill>
            <a:schemeClr val="bg2"/>
          </a:solidFill>
          <a:ln/>
        </p:spPr>
      </p:sp>
      <p:sp>
        <p:nvSpPr>
          <p:cNvPr id="17" name="Shape 15"/>
          <p:cNvSpPr/>
          <p:nvPr/>
        </p:nvSpPr>
        <p:spPr>
          <a:xfrm>
            <a:off x="6438748" y="1828800"/>
            <a:ext cx="384048" cy="384048"/>
          </a:xfrm>
          <a:prstGeom prst="ellipse">
            <a:avLst/>
          </a:prstGeom>
          <a:solidFill>
            <a:schemeClr val="accent1"/>
          </a:solidFill>
          <a:ln/>
        </p:spPr>
      </p:sp>
      <p:sp>
        <p:nvSpPr>
          <p:cNvPr id="18" name="Text 16"/>
          <p:cNvSpPr txBox="1"/>
          <p:nvPr/>
        </p:nvSpPr>
        <p:spPr>
          <a:xfrm>
            <a:off x="6438748"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6941668" y="1828800"/>
            <a:ext cx="914400" cy="384048"/>
          </a:xfrm>
          <a:prstGeom prst="rect">
            <a:avLst/>
          </a:prstGeom>
          <a:noFill/>
          <a:ln/>
        </p:spPr>
        <p:txBody>
          <a:bodyPr wrap="square" lIns="0" tIns="0" rIns="0" bIns="0" rtlCol="0" anchor="ctr"/>
          <a:lstStyle/>
          <a:p>
            <a:pPr indent="0" marL="0">
              <a:buNone/>
            </a:pPr>
            <a:r>
              <a:rPr lang="en-US" sz="1200" b="1" dirty="0">
                <a:solidFill>
                  <a:schemeClr val="accent1"/>
                </a:solidFill>
              </a:rPr>
              <a:t>위험</a:t>
            </a:r>
            <a:endParaRPr lang="en-US" sz="1200" dirty="0"/>
          </a:p>
        </p:txBody>
      </p:sp>
      <p:sp>
        <p:nvSpPr>
          <p:cNvPr id="20" name="Text 18"/>
          <p:cNvSpPr txBox="1"/>
          <p:nvPr/>
        </p:nvSpPr>
        <p:spPr>
          <a:xfrm>
            <a:off x="6438748" y="2423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신규 키워드 부재</a:t>
            </a:r>
            <a:endParaRPr lang="en-US" sz="1700" dirty="0"/>
          </a:p>
        </p:txBody>
      </p:sp>
      <p:sp>
        <p:nvSpPr>
          <p:cNvPr id="21" name="Text 19"/>
          <p:cNvSpPr txBox="1"/>
          <p:nvPr/>
        </p:nvSpPr>
        <p:spPr>
          <a:xfrm>
            <a:off x="6438748" y="2862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검색광고비 98.5%가 브랜드명 검색</a:t>
            </a:r>
            <a:endParaRPr lang="en-US" sz="1400" dirty="0"/>
          </a:p>
        </p:txBody>
      </p:sp>
      <p:sp>
        <p:nvSpPr>
          <p:cNvPr id="22" name="Shape 20"/>
          <p:cNvSpPr/>
          <p:nvPr/>
        </p:nvSpPr>
        <p:spPr>
          <a:xfrm>
            <a:off x="9040901" y="1600200"/>
            <a:ext cx="2602154" cy="2057400"/>
          </a:xfrm>
          <a:prstGeom prst="roundRect">
            <a:avLst>
              <a:gd name="adj" fmla="val 5333"/>
            </a:avLst>
          </a:prstGeom>
          <a:solidFill>
            <a:schemeClr val="bg2"/>
          </a:solidFill>
          <a:ln/>
        </p:spPr>
      </p:sp>
      <p:sp>
        <p:nvSpPr>
          <p:cNvPr id="23" name="Shape 21"/>
          <p:cNvSpPr/>
          <p:nvPr/>
        </p:nvSpPr>
        <p:spPr>
          <a:xfrm>
            <a:off x="9269501" y="1828800"/>
            <a:ext cx="384048" cy="384048"/>
          </a:xfrm>
          <a:prstGeom prst="ellipse">
            <a:avLst/>
          </a:prstGeom>
          <a:solidFill>
            <a:schemeClr val="accent1"/>
          </a:solidFill>
          <a:ln/>
        </p:spPr>
      </p:sp>
      <p:sp>
        <p:nvSpPr>
          <p:cNvPr id="24" name="Text 22"/>
          <p:cNvSpPr txBox="1"/>
          <p:nvPr/>
        </p:nvSpPr>
        <p:spPr>
          <a:xfrm>
            <a:off x="9269501"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3"/>
          <p:cNvSpPr txBox="1"/>
          <p:nvPr/>
        </p:nvSpPr>
        <p:spPr>
          <a:xfrm>
            <a:off x="9772421" y="1828800"/>
            <a:ext cx="914400" cy="384048"/>
          </a:xfrm>
          <a:prstGeom prst="rect">
            <a:avLst/>
          </a:prstGeom>
          <a:noFill/>
          <a:ln/>
        </p:spPr>
        <p:txBody>
          <a:bodyPr wrap="square" lIns="0" tIns="0" rIns="0" bIns="0" rtlCol="0" anchor="ctr"/>
          <a:lstStyle/>
          <a:p>
            <a:pPr indent="0" marL="0">
              <a:buNone/>
            </a:pPr>
            <a:r>
              <a:rPr lang="en-US" sz="1200" b="1" dirty="0">
                <a:solidFill>
                  <a:schemeClr val="accent1"/>
                </a:solidFill>
              </a:rPr>
              <a:t>위험</a:t>
            </a:r>
            <a:endParaRPr lang="en-US" sz="1200" dirty="0"/>
          </a:p>
        </p:txBody>
      </p:sp>
      <p:sp>
        <p:nvSpPr>
          <p:cNvPr id="26" name="Text 24"/>
          <p:cNvSpPr txBox="1"/>
          <p:nvPr/>
        </p:nvSpPr>
        <p:spPr>
          <a:xfrm>
            <a:off x="9269501" y="2423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ADVoost 분할·혼재</a:t>
            </a:r>
            <a:endParaRPr lang="en-US" sz="1700" dirty="0"/>
          </a:p>
        </p:txBody>
      </p:sp>
      <p:sp>
        <p:nvSpPr>
          <p:cNvPr id="27" name="Text 25"/>
          <p:cNvSpPr txBox="1"/>
          <p:nvPr/>
        </p:nvSpPr>
        <p:spPr>
          <a:xfrm>
            <a:off x="9269501" y="2862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9개로 분할, 새 고객·기존 고객 섞임</a:t>
            </a:r>
            <a:endParaRPr lang="en-US" sz="1400" dirty="0"/>
          </a:p>
        </p:txBody>
      </p:sp>
      <p:sp>
        <p:nvSpPr>
          <p:cNvPr id="28" name="Shape 26"/>
          <p:cNvSpPr/>
          <p:nvPr/>
        </p:nvSpPr>
        <p:spPr>
          <a:xfrm>
            <a:off x="548640" y="3886200"/>
            <a:ext cx="2602154" cy="2057400"/>
          </a:xfrm>
          <a:prstGeom prst="roundRect">
            <a:avLst>
              <a:gd name="adj" fmla="val 5333"/>
            </a:avLst>
          </a:prstGeom>
          <a:solidFill>
            <a:schemeClr val="bg2"/>
          </a:solidFill>
          <a:ln/>
        </p:spPr>
      </p:sp>
      <p:sp>
        <p:nvSpPr>
          <p:cNvPr id="29" name="Shape 27"/>
          <p:cNvSpPr/>
          <p:nvPr/>
        </p:nvSpPr>
        <p:spPr>
          <a:xfrm>
            <a:off x="777240" y="4114800"/>
            <a:ext cx="384048" cy="384048"/>
          </a:xfrm>
          <a:prstGeom prst="ellipse">
            <a:avLst/>
          </a:prstGeom>
          <a:solidFill>
            <a:schemeClr val="accent1"/>
          </a:solidFill>
          <a:ln/>
        </p:spPr>
      </p:sp>
      <p:sp>
        <p:nvSpPr>
          <p:cNvPr id="30" name="Text 28"/>
          <p:cNvSpPr txBox="1"/>
          <p:nvPr/>
        </p:nvSpPr>
        <p:spPr>
          <a:xfrm>
            <a:off x="777240" y="4114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9"/>
          <p:cNvSpPr txBox="1"/>
          <p:nvPr/>
        </p:nvSpPr>
        <p:spPr>
          <a:xfrm>
            <a:off x="1280160" y="4114800"/>
            <a:ext cx="914400" cy="384048"/>
          </a:xfrm>
          <a:prstGeom prst="rect">
            <a:avLst/>
          </a:prstGeom>
          <a:noFill/>
          <a:ln/>
        </p:spPr>
        <p:txBody>
          <a:bodyPr wrap="square" lIns="0" tIns="0" rIns="0" bIns="0" rtlCol="0" anchor="ctr"/>
          <a:lstStyle/>
          <a:p>
            <a:pPr indent="0" marL="0">
              <a:buNone/>
            </a:pPr>
            <a:r>
              <a:rPr lang="en-US" sz="1200" b="1" dirty="0">
                <a:solidFill>
                  <a:schemeClr val="accent1"/>
                </a:solidFill>
              </a:rPr>
              <a:t>위험</a:t>
            </a:r>
            <a:endParaRPr lang="en-US" sz="1200" dirty="0"/>
          </a:p>
        </p:txBody>
      </p:sp>
      <p:sp>
        <p:nvSpPr>
          <p:cNvPr id="32" name="Text 30"/>
          <p:cNvSpPr txBox="1"/>
          <p:nvPr/>
        </p:nvSpPr>
        <p:spPr>
          <a:xfrm>
            <a:off x="777240" y="4709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증액 후 효율 하락</a:t>
            </a:r>
            <a:endParaRPr lang="en-US" sz="1700" dirty="0"/>
          </a:p>
        </p:txBody>
      </p:sp>
      <p:sp>
        <p:nvSpPr>
          <p:cNvPr id="33" name="Text 31"/>
          <p:cNvSpPr txBox="1"/>
          <p:nvPr/>
        </p:nvSpPr>
        <p:spPr>
          <a:xfrm>
            <a:off x="777240" y="5148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GFA ROAS 364% → 241%</a:t>
            </a:r>
            <a:endParaRPr lang="en-US" sz="1400" dirty="0"/>
          </a:p>
        </p:txBody>
      </p:sp>
      <p:sp>
        <p:nvSpPr>
          <p:cNvPr id="34" name="Shape 32"/>
          <p:cNvSpPr/>
          <p:nvPr/>
        </p:nvSpPr>
        <p:spPr>
          <a:xfrm>
            <a:off x="3379394" y="3886200"/>
            <a:ext cx="2602154" cy="2057400"/>
          </a:xfrm>
          <a:prstGeom prst="roundRect">
            <a:avLst>
              <a:gd name="adj" fmla="val 5333"/>
            </a:avLst>
          </a:prstGeom>
          <a:solidFill>
            <a:schemeClr val="bg2"/>
          </a:solidFill>
          <a:ln/>
        </p:spPr>
      </p:sp>
      <p:sp>
        <p:nvSpPr>
          <p:cNvPr id="35" name="Shape 33"/>
          <p:cNvSpPr/>
          <p:nvPr/>
        </p:nvSpPr>
        <p:spPr>
          <a:xfrm>
            <a:off x="3607994" y="4114800"/>
            <a:ext cx="384048" cy="384048"/>
          </a:xfrm>
          <a:prstGeom prst="ellipse">
            <a:avLst/>
          </a:prstGeom>
          <a:solidFill>
            <a:schemeClr val="accent5"/>
          </a:solidFill>
          <a:ln/>
        </p:spPr>
      </p:sp>
      <p:sp>
        <p:nvSpPr>
          <p:cNvPr id="36" name="Text 34"/>
          <p:cNvSpPr txBox="1"/>
          <p:nvPr/>
        </p:nvSpPr>
        <p:spPr>
          <a:xfrm>
            <a:off x="3607994" y="4114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7" name="Text 35"/>
          <p:cNvSpPr txBox="1"/>
          <p:nvPr/>
        </p:nvSpPr>
        <p:spPr>
          <a:xfrm>
            <a:off x="4110914" y="4114800"/>
            <a:ext cx="914400" cy="384048"/>
          </a:xfrm>
          <a:prstGeom prst="rect">
            <a:avLst/>
          </a:prstGeom>
          <a:noFill/>
          <a:ln/>
        </p:spPr>
        <p:txBody>
          <a:bodyPr wrap="square" lIns="0" tIns="0" rIns="0" bIns="0" rtlCol="0" anchor="ctr"/>
          <a:lstStyle/>
          <a:p>
            <a:pPr indent="0" marL="0">
              <a:buNone/>
            </a:pPr>
            <a:r>
              <a:rPr lang="en-US" sz="1200" b="1" dirty="0">
                <a:solidFill>
                  <a:schemeClr val="accent5"/>
                </a:solidFill>
              </a:rPr>
              <a:t>주의</a:t>
            </a:r>
            <a:endParaRPr lang="en-US" sz="1200" dirty="0"/>
          </a:p>
        </p:txBody>
      </p:sp>
      <p:sp>
        <p:nvSpPr>
          <p:cNvPr id="38" name="Text 36"/>
          <p:cNvSpPr txBox="1"/>
          <p:nvPr/>
        </p:nvSpPr>
        <p:spPr>
          <a:xfrm>
            <a:off x="3607994" y="4709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올라잇그린 이름 충돌</a:t>
            </a:r>
            <a:endParaRPr lang="en-US" sz="1700" dirty="0"/>
          </a:p>
        </p:txBody>
      </p:sp>
      <p:sp>
        <p:nvSpPr>
          <p:cNvPr id="39" name="Text 37"/>
          <p:cNvSpPr txBox="1"/>
          <p:nvPr/>
        </p:nvSpPr>
        <p:spPr>
          <a:xfrm>
            <a:off x="3607994" y="5148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클릭당 비용이 꼬기다의 4.7배</a:t>
            </a:r>
            <a:endParaRPr lang="en-US" sz="1400" dirty="0"/>
          </a:p>
        </p:txBody>
      </p:sp>
      <p:sp>
        <p:nvSpPr>
          <p:cNvPr id="40" name="Shape 38"/>
          <p:cNvSpPr/>
          <p:nvPr/>
        </p:nvSpPr>
        <p:spPr>
          <a:xfrm>
            <a:off x="6210148" y="3886200"/>
            <a:ext cx="2602154" cy="2057400"/>
          </a:xfrm>
          <a:prstGeom prst="roundRect">
            <a:avLst>
              <a:gd name="adj" fmla="val 5333"/>
            </a:avLst>
          </a:prstGeom>
          <a:solidFill>
            <a:schemeClr val="bg2"/>
          </a:solidFill>
          <a:ln/>
        </p:spPr>
      </p:sp>
      <p:sp>
        <p:nvSpPr>
          <p:cNvPr id="41" name="Shape 39"/>
          <p:cNvSpPr/>
          <p:nvPr/>
        </p:nvSpPr>
        <p:spPr>
          <a:xfrm>
            <a:off x="6438748" y="4114800"/>
            <a:ext cx="384048" cy="384048"/>
          </a:xfrm>
          <a:prstGeom prst="ellipse">
            <a:avLst/>
          </a:prstGeom>
          <a:solidFill>
            <a:schemeClr val="accent5"/>
          </a:solidFill>
          <a:ln/>
        </p:spPr>
      </p:sp>
      <p:sp>
        <p:nvSpPr>
          <p:cNvPr id="42" name="Text 40"/>
          <p:cNvSpPr txBox="1"/>
          <p:nvPr/>
        </p:nvSpPr>
        <p:spPr>
          <a:xfrm>
            <a:off x="6438748" y="4114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3" name="Text 41"/>
          <p:cNvSpPr txBox="1"/>
          <p:nvPr/>
        </p:nvSpPr>
        <p:spPr>
          <a:xfrm>
            <a:off x="6941668" y="4114800"/>
            <a:ext cx="914400" cy="384048"/>
          </a:xfrm>
          <a:prstGeom prst="rect">
            <a:avLst/>
          </a:prstGeom>
          <a:noFill/>
          <a:ln/>
        </p:spPr>
        <p:txBody>
          <a:bodyPr wrap="square" lIns="0" tIns="0" rIns="0" bIns="0" rtlCol="0" anchor="ctr"/>
          <a:lstStyle/>
          <a:p>
            <a:pPr indent="0" marL="0">
              <a:buNone/>
            </a:pPr>
            <a:r>
              <a:rPr lang="en-US" sz="1200" b="1" dirty="0">
                <a:solidFill>
                  <a:schemeClr val="accent5"/>
                </a:solidFill>
              </a:rPr>
              <a:t>주의</a:t>
            </a:r>
            <a:endParaRPr lang="en-US" sz="1200" dirty="0"/>
          </a:p>
        </p:txBody>
      </p:sp>
      <p:sp>
        <p:nvSpPr>
          <p:cNvPr id="44" name="Text 42"/>
          <p:cNvSpPr txBox="1"/>
          <p:nvPr/>
        </p:nvSpPr>
        <p:spPr>
          <a:xfrm>
            <a:off x="6438748" y="4709160"/>
            <a:ext cx="2190674" cy="411480"/>
          </a:xfrm>
          <a:prstGeom prst="rect">
            <a:avLst/>
          </a:prstGeom>
          <a:noFill/>
          <a:ln/>
        </p:spPr>
        <p:txBody>
          <a:bodyPr wrap="square" lIns="0" tIns="0" rIns="0" bIns="0" rtlCol="0" anchor="t"/>
          <a:lstStyle/>
          <a:p>
            <a:pPr indent="0" marL="0">
              <a:buNone/>
            </a:pPr>
            <a:r>
              <a:rPr lang="en-US" sz="1700" b="1" dirty="0">
                <a:solidFill>
                  <a:schemeClr val="tx1"/>
                </a:solidFill>
              </a:rPr>
              <a:t>기본 관리 부재</a:t>
            </a:r>
            <a:endParaRPr lang="en-US" sz="1700" dirty="0"/>
          </a:p>
        </p:txBody>
      </p:sp>
      <p:sp>
        <p:nvSpPr>
          <p:cNvPr id="45" name="Text 43"/>
          <p:cNvSpPr txBox="1"/>
          <p:nvPr/>
        </p:nvSpPr>
        <p:spPr>
          <a:xfrm>
            <a:off x="6438748" y="5148072"/>
            <a:ext cx="2190674" cy="640080"/>
          </a:xfrm>
          <a:prstGeom prst="rect">
            <a:avLst/>
          </a:prstGeom>
          <a:noFill/>
          <a:ln/>
        </p:spPr>
        <p:txBody>
          <a:bodyPr wrap="square" lIns="0" tIns="0" rIns="0" bIns="0" rtlCol="0" anchor="t"/>
          <a:lstStyle/>
          <a:p>
            <a:pPr indent="0" marL="0">
              <a:buNone/>
            </a:pPr>
            <a:r>
              <a:rPr lang="en-US" sz="1400" dirty="0">
                <a:solidFill>
                  <a:schemeClr val="accent2"/>
                </a:solidFill>
              </a:rPr>
              <a:t>제외키워드 0개, 새는 비용 217만 원</a:t>
            </a:r>
            <a:endParaRPr lang="en-US" sz="1400" dirty="0"/>
          </a:p>
        </p:txBody>
      </p:sp>
      <p:sp>
        <p:nvSpPr>
          <p:cNvPr id="46" name="Shape 44"/>
          <p:cNvSpPr/>
          <p:nvPr/>
        </p:nvSpPr>
        <p:spPr>
          <a:xfrm>
            <a:off x="9040901" y="3886200"/>
            <a:ext cx="2602154" cy="2057400"/>
          </a:xfrm>
          <a:prstGeom prst="roundRect">
            <a:avLst>
              <a:gd name="adj" fmla="val 5333"/>
            </a:avLst>
          </a:prstGeom>
          <a:solidFill>
            <a:schemeClr val="tx2"/>
          </a:solidFill>
          <a:ln/>
        </p:spPr>
      </p:sp>
      <p:sp>
        <p:nvSpPr>
          <p:cNvPr id="47" name="Text 45"/>
          <p:cNvSpPr txBox="1"/>
          <p:nvPr/>
        </p:nvSpPr>
        <p:spPr>
          <a:xfrm>
            <a:off x="9269501" y="4160520"/>
            <a:ext cx="2190674" cy="868680"/>
          </a:xfrm>
          <a:prstGeom prst="rect">
            <a:avLst/>
          </a:prstGeom>
          <a:noFill/>
          <a:ln/>
        </p:spPr>
        <p:txBody>
          <a:bodyPr wrap="square" lIns="0" tIns="0" rIns="0" bIns="0" rtlCol="0" anchor="t"/>
          <a:lstStyle/>
          <a:p>
            <a:pPr indent="0" marL="0">
              <a:buNone/>
            </a:pPr>
            <a:r>
              <a:rPr lang="en-US" sz="1800" b="1" dirty="0">
                <a:solidFill>
                  <a:schemeClr val="bg1"/>
                </a:solidFill>
              </a:rPr>
              <a:t>3가지 방향으로</a:t>
            </a:r>
            <a:endParaRPr lang="en-US" sz="1800" dirty="0"/>
          </a:p>
          <a:p>
            <a:pPr indent="0" marL="0">
              <a:buNone/>
            </a:pPr>
            <a:r>
              <a:rPr lang="en-US" sz="1800" b="1" dirty="0">
                <a:solidFill>
                  <a:schemeClr val="bg1"/>
                </a:solidFill>
              </a:rPr>
              <a:t>해결합니다</a:t>
            </a:r>
            <a:endParaRPr lang="en-US" sz="1800" dirty="0"/>
          </a:p>
        </p:txBody>
      </p:sp>
      <p:sp>
        <p:nvSpPr>
          <p:cNvPr id="48" name="Text 46"/>
          <p:cNvSpPr txBox="1"/>
          <p:nvPr/>
        </p:nvSpPr>
        <p:spPr>
          <a:xfrm>
            <a:off x="9269501" y="5029200"/>
            <a:ext cx="2190674" cy="822960"/>
          </a:xfrm>
          <a:prstGeom prst="rect">
            <a:avLst/>
          </a:prstGeom>
          <a:noFill/>
          <a:ln/>
        </p:spPr>
        <p:txBody>
          <a:bodyPr wrap="square" lIns="0" tIns="0" rIns="0" bIns="0" rtlCol="0" anchor="t"/>
          <a:lstStyle/>
          <a:p>
            <a:pPr indent="0" marL="0">
              <a:buNone/>
            </a:pPr>
            <a:r>
              <a:rPr lang="en-US" sz="1400" dirty="0">
                <a:solidFill>
                  <a:schemeClr val="bg1"/>
                </a:solidFill>
              </a:rPr>
              <a:t>보이게 만들고</a:t>
            </a:r>
            <a:endParaRPr lang="en-US" sz="1400" dirty="0"/>
          </a:p>
          <a:p>
            <a:pPr indent="0" marL="0">
              <a:buNone/>
            </a:pPr>
            <a:r>
              <a:rPr lang="en-US" sz="1400" dirty="0">
                <a:solidFill>
                  <a:schemeClr val="bg1"/>
                </a:solidFill>
              </a:rPr>
              <a:t>새는 곳을 막고</a:t>
            </a:r>
            <a:endParaRPr lang="en-US" sz="1400" dirty="0"/>
          </a:p>
          <a:p>
            <a:pPr indent="0" marL="0">
              <a:buNone/>
            </a:pPr>
            <a:r>
              <a:rPr lang="en-US" sz="1400" dirty="0">
                <a:solidFill>
                  <a:schemeClr val="bg1"/>
                </a:solidFill>
              </a:rPr>
              <a:t>키웁니다</a:t>
            </a:r>
            <a:endParaRPr lang="en-US" sz="14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1188720" y="640080"/>
            <a:ext cx="9601200" cy="731520"/>
          </a:xfrm>
          <a:prstGeom prst="rect">
            <a:avLst/>
          </a:prstGeom>
          <a:noFill/>
          <a:ln/>
        </p:spPr>
        <p:txBody>
          <a:bodyPr wrap="square" lIns="0" tIns="0" rIns="0" bIns="0" rtlCol="0" anchor="ctr"/>
          <a:lstStyle/>
          <a:p>
            <a:pPr algn="l" indent="0" marL="0">
              <a:buNone/>
            </a:pPr>
            <a:r>
              <a:rPr lang="en-US" sz="3600" b="1" dirty="0">
                <a:solidFill>
                  <a:schemeClr val="bg1"/>
                </a:solidFill>
              </a:rPr>
              <a:t>02  검색광고</a:t>
            </a:r>
            <a:endParaRPr lang="en-US" sz="3600" dirty="0"/>
          </a:p>
        </p:txBody>
      </p:sp>
      <p:sp>
        <p:nvSpPr>
          <p:cNvPr id="3" name="Text 1"/>
          <p:cNvSpPr txBox="1"/>
          <p:nvPr/>
        </p:nvSpPr>
        <p:spPr>
          <a:xfrm>
            <a:off x="1188720" y="1691640"/>
            <a:ext cx="9144000" cy="548640"/>
          </a:xfrm>
          <a:prstGeom prst="rect">
            <a:avLst/>
          </a:prstGeom>
          <a:noFill/>
          <a:ln/>
        </p:spPr>
        <p:txBody>
          <a:bodyPr wrap="square" lIns="0" tIns="0" rIns="0" bIns="0" rtlCol="0" anchor="t"/>
          <a:lstStyle/>
          <a:p>
            <a:pPr indent="0" marL="0">
              <a:buNone/>
            </a:pPr>
            <a:r>
              <a:rPr lang="en-US" sz="2600" dirty="0">
                <a:solidFill>
                  <a:schemeClr val="bg1"/>
                </a:solidFill>
              </a:rPr>
              <a:t>검색광고는 이미 아는 고객만 받고 있습니다</a:t>
            </a:r>
            <a:endParaRPr lang="en-US" sz="2600" dirty="0"/>
          </a:p>
        </p:txBody>
      </p:sp>
      <p:sp>
        <p:nvSpPr>
          <p:cNvPr id="4" name="Text 2"/>
          <p:cNvSpPr txBox="1"/>
          <p:nvPr/>
        </p:nvSpPr>
        <p:spPr>
          <a:xfrm>
            <a:off x="1188720" y="2514600"/>
            <a:ext cx="9144000" cy="365760"/>
          </a:xfrm>
          <a:prstGeom prst="rect">
            <a:avLst/>
          </a:prstGeom>
          <a:noFill/>
          <a:ln/>
        </p:spPr>
        <p:txBody>
          <a:bodyPr wrap="square" lIns="0" tIns="0" rIns="0" bIns="0" rtlCol="0" anchor="t"/>
          <a:lstStyle/>
          <a:p>
            <a:pPr indent="0" marL="0">
              <a:buNone/>
            </a:pPr>
            <a:r>
              <a:rPr lang="en-US" sz="1600" dirty="0">
                <a:solidFill>
                  <a:schemeClr val="bg1"/>
                </a:solidFill>
              </a:rPr>
              <a:t>측정 누락  ·  브랜드검색 미노출  ·  신규 키워드  ·  제외키워드</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02  검색광고</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파워링크 121만 원, 구매가 하나도 집계되지 않았습니다</a:t>
            </a:r>
            <a:endParaRPr lang="en-US" sz="2800" dirty="0"/>
          </a:p>
        </p:txBody>
      </p:sp>
      <p:sp>
        <p:nvSpPr>
          <p:cNvPr id="4" name="Shape 2"/>
          <p:cNvSpPr/>
          <p:nvPr/>
        </p:nvSpPr>
        <p:spPr>
          <a:xfrm>
            <a:off x="548640" y="1554480"/>
            <a:ext cx="4480560" cy="4434840"/>
          </a:xfrm>
          <a:prstGeom prst="roundRect">
            <a:avLst>
              <a:gd name="adj" fmla="val 2474"/>
            </a:avLst>
          </a:prstGeom>
          <a:solidFill>
            <a:schemeClr val="bg2"/>
          </a:solidFill>
          <a:ln/>
        </p:spPr>
      </p:sp>
      <p:sp>
        <p:nvSpPr>
          <p:cNvPr id="5" name="Text 3"/>
          <p:cNvSpPr txBox="1"/>
          <p:nvPr/>
        </p:nvSpPr>
        <p:spPr>
          <a:xfrm>
            <a:off x="868680" y="1828800"/>
            <a:ext cx="3931920" cy="320040"/>
          </a:xfrm>
          <a:prstGeom prst="rect">
            <a:avLst/>
          </a:prstGeom>
          <a:noFill/>
          <a:ln/>
        </p:spPr>
        <p:txBody>
          <a:bodyPr wrap="square" lIns="0" tIns="0" rIns="0" bIns="0" rtlCol="0" anchor="t"/>
          <a:lstStyle/>
          <a:p>
            <a:pPr indent="0" marL="0">
              <a:buNone/>
            </a:pPr>
            <a:r>
              <a:rPr lang="en-US" sz="1400" b="1" dirty="0">
                <a:solidFill>
                  <a:schemeClr val="accent2"/>
                </a:solidFill>
              </a:rPr>
              <a:t>건담닭 · 올라잇그린 파워링크 (3개월)</a:t>
            </a:r>
            <a:endParaRPr lang="en-US" sz="1400" dirty="0"/>
          </a:p>
        </p:txBody>
      </p:sp>
      <p:sp>
        <p:nvSpPr>
          <p:cNvPr id="6" name="Text 4"/>
          <p:cNvSpPr txBox="1"/>
          <p:nvPr/>
        </p:nvSpPr>
        <p:spPr>
          <a:xfrm>
            <a:off x="868680" y="2377440"/>
            <a:ext cx="2926080" cy="731520"/>
          </a:xfrm>
          <a:prstGeom prst="rect">
            <a:avLst/>
          </a:prstGeom>
          <a:noFill/>
          <a:ln/>
        </p:spPr>
        <p:txBody>
          <a:bodyPr wrap="square" lIns="0" tIns="0" rIns="0" bIns="0" rtlCol="0" anchor="ctr"/>
          <a:lstStyle/>
          <a:p>
            <a:pPr indent="0" marL="0">
              <a:buNone/>
            </a:pPr>
            <a:r>
              <a:rPr lang="en-US" sz="4000" b="1" dirty="0">
                <a:solidFill>
                  <a:schemeClr val="tx1"/>
                </a:solidFill>
              </a:rPr>
              <a:t>121만 원</a:t>
            </a:r>
            <a:endParaRPr lang="en-US" sz="4000" dirty="0"/>
          </a:p>
        </p:txBody>
      </p:sp>
      <p:sp>
        <p:nvSpPr>
          <p:cNvPr id="7" name="Text 5"/>
          <p:cNvSpPr txBox="1"/>
          <p:nvPr/>
        </p:nvSpPr>
        <p:spPr>
          <a:xfrm>
            <a:off x="3794760" y="2377440"/>
            <a:ext cx="914400" cy="731520"/>
          </a:xfrm>
          <a:prstGeom prst="rect">
            <a:avLst/>
          </a:prstGeom>
          <a:noFill/>
          <a:ln/>
        </p:spPr>
        <p:txBody>
          <a:bodyPr wrap="square" lIns="0" tIns="0" rIns="0" bIns="0" rtlCol="0" anchor="ctr"/>
          <a:lstStyle/>
          <a:p>
            <a:pPr indent="0" marL="0">
              <a:buNone/>
            </a:pPr>
            <a:r>
              <a:rPr lang="en-US" sz="1600" dirty="0">
                <a:solidFill>
                  <a:schemeClr val="accent2"/>
                </a:solidFill>
              </a:rPr>
              <a:t>광고비</a:t>
            </a:r>
            <a:endParaRPr lang="en-US" sz="1600" dirty="0"/>
          </a:p>
        </p:txBody>
      </p:sp>
      <p:sp>
        <p:nvSpPr>
          <p:cNvPr id="8" name="Text 6"/>
          <p:cNvSpPr txBox="1"/>
          <p:nvPr/>
        </p:nvSpPr>
        <p:spPr>
          <a:xfrm>
            <a:off x="868680" y="3520440"/>
            <a:ext cx="2926080" cy="731520"/>
          </a:xfrm>
          <a:prstGeom prst="rect">
            <a:avLst/>
          </a:prstGeom>
          <a:noFill/>
          <a:ln/>
        </p:spPr>
        <p:txBody>
          <a:bodyPr wrap="square" lIns="0" tIns="0" rIns="0" bIns="0" rtlCol="0" anchor="ctr"/>
          <a:lstStyle/>
          <a:p>
            <a:pPr indent="0" marL="0">
              <a:buNone/>
            </a:pPr>
            <a:r>
              <a:rPr lang="en-US" sz="4000" b="1" dirty="0">
                <a:solidFill>
                  <a:schemeClr val="tx1"/>
                </a:solidFill>
              </a:rPr>
              <a:t>7,672회</a:t>
            </a:r>
            <a:endParaRPr lang="en-US" sz="4000" dirty="0"/>
          </a:p>
        </p:txBody>
      </p:sp>
      <p:sp>
        <p:nvSpPr>
          <p:cNvPr id="9" name="Text 7"/>
          <p:cNvSpPr txBox="1"/>
          <p:nvPr/>
        </p:nvSpPr>
        <p:spPr>
          <a:xfrm>
            <a:off x="3794760" y="3520440"/>
            <a:ext cx="914400" cy="731520"/>
          </a:xfrm>
          <a:prstGeom prst="rect">
            <a:avLst/>
          </a:prstGeom>
          <a:noFill/>
          <a:ln/>
        </p:spPr>
        <p:txBody>
          <a:bodyPr wrap="square" lIns="0" tIns="0" rIns="0" bIns="0" rtlCol="0" anchor="ctr"/>
          <a:lstStyle/>
          <a:p>
            <a:pPr indent="0" marL="0">
              <a:buNone/>
            </a:pPr>
            <a:r>
              <a:rPr lang="en-US" sz="1600" dirty="0">
                <a:solidFill>
                  <a:schemeClr val="accent2"/>
                </a:solidFill>
              </a:rPr>
              <a:t>클릭</a:t>
            </a:r>
            <a:endParaRPr lang="en-US" sz="1600" dirty="0"/>
          </a:p>
        </p:txBody>
      </p:sp>
      <p:sp>
        <p:nvSpPr>
          <p:cNvPr id="10" name="Text 8"/>
          <p:cNvSpPr txBox="1"/>
          <p:nvPr/>
        </p:nvSpPr>
        <p:spPr>
          <a:xfrm>
            <a:off x="868680" y="4663440"/>
            <a:ext cx="2926080" cy="731520"/>
          </a:xfrm>
          <a:prstGeom prst="rect">
            <a:avLst/>
          </a:prstGeom>
          <a:noFill/>
          <a:ln/>
        </p:spPr>
        <p:txBody>
          <a:bodyPr wrap="square" lIns="0" tIns="0" rIns="0" bIns="0" rtlCol="0" anchor="ctr"/>
          <a:lstStyle/>
          <a:p>
            <a:pPr indent="0" marL="0">
              <a:buNone/>
            </a:pPr>
            <a:r>
              <a:rPr lang="en-US" sz="4000" b="1" dirty="0">
                <a:solidFill>
                  <a:schemeClr val="accent1"/>
                </a:solidFill>
              </a:rPr>
              <a:t>0건</a:t>
            </a:r>
            <a:endParaRPr lang="en-US" sz="4000" dirty="0"/>
          </a:p>
        </p:txBody>
      </p:sp>
      <p:sp>
        <p:nvSpPr>
          <p:cNvPr id="11" name="Text 9"/>
          <p:cNvSpPr txBox="1"/>
          <p:nvPr/>
        </p:nvSpPr>
        <p:spPr>
          <a:xfrm>
            <a:off x="3794760" y="4663440"/>
            <a:ext cx="914400" cy="731520"/>
          </a:xfrm>
          <a:prstGeom prst="rect">
            <a:avLst/>
          </a:prstGeom>
          <a:noFill/>
          <a:ln/>
        </p:spPr>
        <p:txBody>
          <a:bodyPr wrap="square" lIns="0" tIns="0" rIns="0" bIns="0" rtlCol="0" anchor="ctr"/>
          <a:lstStyle/>
          <a:p>
            <a:pPr indent="0" marL="0">
              <a:buNone/>
            </a:pPr>
            <a:r>
              <a:rPr lang="en-US" sz="1600" dirty="0">
                <a:solidFill>
                  <a:schemeClr val="accent2"/>
                </a:solidFill>
              </a:rPr>
              <a:t>구매</a:t>
            </a:r>
            <a:endParaRPr lang="en-US" sz="1600" dirty="0"/>
          </a:p>
        </p:txBody>
      </p:sp>
      <p:sp>
        <p:nvSpPr>
          <p:cNvPr id="12" name="Shape 10"/>
          <p:cNvSpPr/>
          <p:nvPr/>
        </p:nvSpPr>
        <p:spPr>
          <a:xfrm>
            <a:off x="5349240" y="1572768"/>
            <a:ext cx="365760" cy="365760"/>
          </a:xfrm>
          <a:prstGeom prst="ellipse">
            <a:avLst/>
          </a:prstGeom>
          <a:solidFill>
            <a:schemeClr val="accent1"/>
          </a:solidFill>
          <a:ln/>
        </p:spPr>
      </p:sp>
      <p:sp>
        <p:nvSpPr>
          <p:cNvPr id="13" name="Text 11"/>
          <p:cNvSpPr txBox="1"/>
          <p:nvPr/>
        </p:nvSpPr>
        <p:spPr>
          <a:xfrm>
            <a:off x="5349240" y="157276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Text 12"/>
          <p:cNvSpPr txBox="1"/>
          <p:nvPr/>
        </p:nvSpPr>
        <p:spPr>
          <a:xfrm>
            <a:off x="5897880" y="1554480"/>
            <a:ext cx="5745175" cy="365760"/>
          </a:xfrm>
          <a:prstGeom prst="rect">
            <a:avLst/>
          </a:prstGeom>
          <a:noFill/>
          <a:ln/>
        </p:spPr>
        <p:txBody>
          <a:bodyPr wrap="square" lIns="0" tIns="0" rIns="0" bIns="0" rtlCol="0" anchor="ctr"/>
          <a:lstStyle/>
          <a:p>
            <a:pPr indent="0" marL="0">
              <a:buNone/>
            </a:pPr>
            <a:r>
              <a:rPr lang="en-US" sz="1600" b="1" dirty="0">
                <a:solidFill>
                  <a:schemeClr val="tx1"/>
                </a:solidFill>
              </a:rPr>
              <a:t>확인된 원인</a:t>
            </a:r>
            <a:endParaRPr lang="en-US" sz="1600" dirty="0"/>
          </a:p>
        </p:txBody>
      </p:sp>
      <p:sp>
        <p:nvSpPr>
          <p:cNvPr id="15" name="Text 13"/>
          <p:cNvSpPr txBox="1"/>
          <p:nvPr/>
        </p:nvSpPr>
        <p:spPr>
          <a:xfrm>
            <a:off x="5897880" y="1947672"/>
            <a:ext cx="5745175" cy="640080"/>
          </a:xfrm>
          <a:prstGeom prst="rect">
            <a:avLst/>
          </a:prstGeom>
          <a:noFill/>
          <a:ln/>
        </p:spPr>
        <p:txBody>
          <a:bodyPr wrap="square" lIns="0" tIns="0" rIns="0" bIns="0" rtlCol="0" anchor="t"/>
          <a:lstStyle/>
          <a:p>
            <a:pPr indent="0" marL="0">
              <a:buNone/>
            </a:pPr>
            <a:r>
              <a:rPr lang="en-US" sz="1400" dirty="0">
                <a:solidFill>
                  <a:schemeClr val="accent2"/>
                </a:solidFill>
              </a:rPr>
              <a:t>올라잇그린·건담닭 파워링크 모두 네이버 전환 스크립트 미설치 (올라잇그린 랜딩: 자사몰 allrightgreen.co.kr)</a:t>
            </a:r>
            <a:endParaRPr lang="en-US" sz="1400" dirty="0"/>
          </a:p>
        </p:txBody>
      </p:sp>
      <p:sp>
        <p:nvSpPr>
          <p:cNvPr id="16" name="Shape 14"/>
          <p:cNvSpPr/>
          <p:nvPr/>
        </p:nvSpPr>
        <p:spPr>
          <a:xfrm>
            <a:off x="5349240" y="2706624"/>
            <a:ext cx="365760" cy="365760"/>
          </a:xfrm>
          <a:prstGeom prst="ellipse">
            <a:avLst/>
          </a:prstGeom>
          <a:solidFill>
            <a:schemeClr val="tx2"/>
          </a:solidFill>
          <a:ln/>
        </p:spPr>
      </p:sp>
      <p:sp>
        <p:nvSpPr>
          <p:cNvPr id="17" name="Text 15"/>
          <p:cNvSpPr txBox="1"/>
          <p:nvPr/>
        </p:nvSpPr>
        <p:spPr>
          <a:xfrm>
            <a:off x="5349240" y="270662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Text 16"/>
          <p:cNvSpPr txBox="1"/>
          <p:nvPr/>
        </p:nvSpPr>
        <p:spPr>
          <a:xfrm>
            <a:off x="5897880" y="2688336"/>
            <a:ext cx="5745175" cy="365760"/>
          </a:xfrm>
          <a:prstGeom prst="rect">
            <a:avLst/>
          </a:prstGeom>
          <a:noFill/>
          <a:ln/>
        </p:spPr>
        <p:txBody>
          <a:bodyPr wrap="square" lIns="0" tIns="0" rIns="0" bIns="0" rtlCol="0" anchor="ctr"/>
          <a:lstStyle/>
          <a:p>
            <a:pPr indent="0" marL="0">
              <a:buNone/>
            </a:pPr>
            <a:r>
              <a:rPr lang="en-US" sz="1600" b="1" dirty="0">
                <a:solidFill>
                  <a:schemeClr val="tx1"/>
                </a:solidFill>
              </a:rPr>
              <a:t>구매가 없는 게 아니라 잡히지 않는 것</a:t>
            </a:r>
            <a:endParaRPr lang="en-US" sz="1600" dirty="0"/>
          </a:p>
        </p:txBody>
      </p:sp>
      <p:sp>
        <p:nvSpPr>
          <p:cNvPr id="19" name="Text 17"/>
          <p:cNvSpPr txBox="1"/>
          <p:nvPr/>
        </p:nvSpPr>
        <p:spPr>
          <a:xfrm>
            <a:off x="5897880" y="3081528"/>
            <a:ext cx="5745175" cy="640080"/>
          </a:xfrm>
          <a:prstGeom prst="rect">
            <a:avLst/>
          </a:prstGeom>
          <a:noFill/>
          <a:ln/>
        </p:spPr>
        <p:txBody>
          <a:bodyPr wrap="square" lIns="0" tIns="0" rIns="0" bIns="0" rtlCol="0" anchor="t"/>
          <a:lstStyle/>
          <a:p>
            <a:pPr indent="0" marL="0">
              <a:buNone/>
            </a:pPr>
            <a:r>
              <a:rPr lang="en-US" sz="1400" dirty="0">
                <a:solidFill>
                  <a:schemeClr val="accent2"/>
                </a:solidFill>
              </a:rPr>
              <a:t>같은 브랜드의 쇼핑검색에서는 구매 225건이 집계됐습니다. 두 캠페인 검색어의 99%가 자사 브랜드명입니다</a:t>
            </a:r>
            <a:endParaRPr lang="en-US" sz="1400" dirty="0"/>
          </a:p>
        </p:txBody>
      </p:sp>
      <p:sp>
        <p:nvSpPr>
          <p:cNvPr id="20" name="Shape 18"/>
          <p:cNvSpPr/>
          <p:nvPr/>
        </p:nvSpPr>
        <p:spPr>
          <a:xfrm>
            <a:off x="5349240" y="3840480"/>
            <a:ext cx="365760" cy="365760"/>
          </a:xfrm>
          <a:prstGeom prst="ellipse">
            <a:avLst/>
          </a:prstGeom>
          <a:solidFill>
            <a:schemeClr val="tx2"/>
          </a:solidFill>
          <a:ln/>
        </p:spPr>
      </p:sp>
      <p:sp>
        <p:nvSpPr>
          <p:cNvPr id="21" name="Text 19"/>
          <p:cNvSpPr txBox="1"/>
          <p:nvPr/>
        </p:nvSpPr>
        <p:spPr>
          <a:xfrm>
            <a:off x="5349240" y="38404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5897880" y="3822192"/>
            <a:ext cx="5745175" cy="365760"/>
          </a:xfrm>
          <a:prstGeom prst="rect">
            <a:avLst/>
          </a:prstGeom>
          <a:noFill/>
          <a:ln/>
        </p:spPr>
        <p:txBody>
          <a:bodyPr wrap="square" lIns="0" tIns="0" rIns="0" bIns="0" rtlCol="0" anchor="ctr"/>
          <a:lstStyle/>
          <a:p>
            <a:pPr indent="0" marL="0">
              <a:buNone/>
            </a:pPr>
            <a:r>
              <a:rPr lang="en-US" sz="1600" b="1" dirty="0">
                <a:solidFill>
                  <a:schemeClr val="tx1"/>
                </a:solidFill>
              </a:rPr>
              <a:t>효과를 모르는 채 증액</a:t>
            </a:r>
            <a:endParaRPr lang="en-US" sz="1600" dirty="0"/>
          </a:p>
        </p:txBody>
      </p:sp>
      <p:sp>
        <p:nvSpPr>
          <p:cNvPr id="23" name="Text 21"/>
          <p:cNvSpPr txBox="1"/>
          <p:nvPr/>
        </p:nvSpPr>
        <p:spPr>
          <a:xfrm>
            <a:off x="5897880" y="4215384"/>
            <a:ext cx="5745175" cy="640080"/>
          </a:xfrm>
          <a:prstGeom prst="rect">
            <a:avLst/>
          </a:prstGeom>
          <a:noFill/>
          <a:ln/>
        </p:spPr>
        <p:txBody>
          <a:bodyPr wrap="square" lIns="0" tIns="0" rIns="0" bIns="0" rtlCol="0" anchor="t"/>
          <a:lstStyle/>
          <a:p>
            <a:pPr indent="0" marL="0">
              <a:buNone/>
            </a:pPr>
            <a:r>
              <a:rPr lang="en-US" sz="1400" dirty="0">
                <a:solidFill>
                  <a:schemeClr val="accent2"/>
                </a:solidFill>
              </a:rPr>
              <a:t>올라잇그린 파워링크는 9월에 68% 증액 (8월 21만 원 → 9월 35만 원)</a:t>
            </a:r>
            <a:endParaRPr lang="en-US" sz="1400" dirty="0"/>
          </a:p>
        </p:txBody>
      </p:sp>
      <p:sp>
        <p:nvSpPr>
          <p:cNvPr id="24" name="Shape 22"/>
          <p:cNvSpPr/>
          <p:nvPr/>
        </p:nvSpPr>
        <p:spPr>
          <a:xfrm>
            <a:off x="5349240" y="4974336"/>
            <a:ext cx="365760" cy="365760"/>
          </a:xfrm>
          <a:prstGeom prst="ellipse">
            <a:avLst/>
          </a:prstGeom>
          <a:solidFill>
            <a:schemeClr val="tx2"/>
          </a:solidFill>
          <a:ln/>
        </p:spPr>
      </p:sp>
      <p:sp>
        <p:nvSpPr>
          <p:cNvPr id="25" name="Text 23"/>
          <p:cNvSpPr txBox="1"/>
          <p:nvPr/>
        </p:nvSpPr>
        <p:spPr>
          <a:xfrm>
            <a:off x="5349240" y="49743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4"/>
          <p:cNvSpPr txBox="1"/>
          <p:nvPr/>
        </p:nvSpPr>
        <p:spPr>
          <a:xfrm>
            <a:off x="5897880" y="4956048"/>
            <a:ext cx="5745175" cy="365760"/>
          </a:xfrm>
          <a:prstGeom prst="rect">
            <a:avLst/>
          </a:prstGeom>
          <a:noFill/>
          <a:ln/>
        </p:spPr>
        <p:txBody>
          <a:bodyPr wrap="square" lIns="0" tIns="0" rIns="0" bIns="0" rtlCol="0" anchor="ctr"/>
          <a:lstStyle/>
          <a:p>
            <a:pPr indent="0" marL="0">
              <a:buNone/>
            </a:pPr>
            <a:r>
              <a:rPr lang="en-US" sz="1600" b="1" dirty="0">
                <a:solidFill>
                  <a:schemeClr val="tx1"/>
                </a:solidFill>
              </a:rPr>
              <a:t>SA 광고비의 24%</a:t>
            </a:r>
            <a:endParaRPr lang="en-US" sz="1600" dirty="0"/>
          </a:p>
        </p:txBody>
      </p:sp>
      <p:sp>
        <p:nvSpPr>
          <p:cNvPr id="27" name="Text 25"/>
          <p:cNvSpPr txBox="1"/>
          <p:nvPr/>
        </p:nvSpPr>
        <p:spPr>
          <a:xfrm>
            <a:off x="5897880" y="5349240"/>
            <a:ext cx="5745175" cy="640080"/>
          </a:xfrm>
          <a:prstGeom prst="rect">
            <a:avLst/>
          </a:prstGeom>
          <a:noFill/>
          <a:ln/>
        </p:spPr>
        <p:txBody>
          <a:bodyPr wrap="square" lIns="0" tIns="0" rIns="0" bIns="0" rtlCol="0" anchor="t"/>
          <a:lstStyle/>
          <a:p>
            <a:pPr indent="0" marL="0">
              <a:buNone/>
            </a:pPr>
            <a:r>
              <a:rPr lang="en-US" sz="1400" dirty="0">
                <a:solidFill>
                  <a:schemeClr val="accent2"/>
                </a:solidFill>
              </a:rPr>
              <a:t>성과를 알 수 없는 상태로 집행되고 있습니다</a:t>
            </a:r>
            <a:endParaRPr lang="en-US" sz="14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02  검색광고</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계약 65일 중 46일, 브랜드검색이 꺼져 있었습니다</a:t>
            </a:r>
            <a:endParaRPr lang="en-US" sz="2800" dirty="0"/>
          </a:p>
        </p:txBody>
      </p:sp>
      <p:sp>
        <p:nvSpPr>
          <p:cNvPr id="4" name="Shape 2"/>
          <p:cNvSpPr/>
          <p:nvPr/>
        </p:nvSpPr>
        <p:spPr>
          <a:xfrm>
            <a:off x="548640" y="1920240"/>
            <a:ext cx="1567689" cy="457200"/>
          </a:xfrm>
          <a:prstGeom prst="rect">
            <a:avLst/>
          </a:prstGeom>
          <a:solidFill>
            <a:schemeClr val="accent6"/>
          </a:solidFill>
          <a:ln w="19050">
            <a:solidFill>
              <a:schemeClr val="bg1"/>
            </a:solidFill>
            <a:prstDash val="solid"/>
          </a:ln>
        </p:spPr>
      </p:sp>
      <p:sp>
        <p:nvSpPr>
          <p:cNvPr id="5" name="Text 3"/>
          <p:cNvSpPr txBox="1"/>
          <p:nvPr/>
        </p:nvSpPr>
        <p:spPr>
          <a:xfrm>
            <a:off x="621792" y="1920240"/>
            <a:ext cx="1476249" cy="457200"/>
          </a:xfrm>
          <a:prstGeom prst="rect">
            <a:avLst/>
          </a:prstGeom>
          <a:noFill/>
          <a:ln/>
        </p:spPr>
        <p:txBody>
          <a:bodyPr wrap="square" lIns="0" tIns="0" rIns="0" bIns="0" rtlCol="0" anchor="ctr"/>
          <a:lstStyle/>
          <a:p>
            <a:pPr indent="0" marL="0">
              <a:buNone/>
            </a:pPr>
            <a:r>
              <a:rPr lang="en-US" sz="1200" b="1" dirty="0">
                <a:solidFill>
                  <a:schemeClr val="bg1"/>
                </a:solidFill>
              </a:rPr>
              <a:t>노출</a:t>
            </a:r>
            <a:endParaRPr lang="en-US" sz="1200" dirty="0"/>
          </a:p>
        </p:txBody>
      </p:sp>
      <p:sp>
        <p:nvSpPr>
          <p:cNvPr id="6" name="Text 4"/>
          <p:cNvSpPr txBox="1"/>
          <p:nvPr/>
        </p:nvSpPr>
        <p:spPr>
          <a:xfrm>
            <a:off x="548640" y="2450592"/>
            <a:ext cx="1567689" cy="411480"/>
          </a:xfrm>
          <a:prstGeom prst="rect">
            <a:avLst/>
          </a:prstGeom>
          <a:noFill/>
          <a:ln/>
        </p:spPr>
        <p:txBody>
          <a:bodyPr wrap="square" lIns="0" tIns="0" rIns="0" bIns="0" rtlCol="0" anchor="t"/>
          <a:lstStyle/>
          <a:p>
            <a:pPr indent="0" marL="0">
              <a:buNone/>
            </a:pPr>
            <a:r>
              <a:rPr lang="en-US" sz="1100" dirty="0">
                <a:solidFill>
                  <a:schemeClr val="accent2"/>
                </a:solidFill>
              </a:rPr>
              <a:t>7/1~7/13</a:t>
            </a:r>
            <a:endParaRPr lang="en-US" sz="1100" dirty="0"/>
          </a:p>
          <a:p>
            <a:pPr indent="0" marL="0">
              <a:buNone/>
            </a:pPr>
            <a:r>
              <a:rPr lang="en-US" sz="1100" dirty="0">
                <a:solidFill>
                  <a:schemeClr val="accent2"/>
                </a:solidFill>
              </a:rPr>
              <a:t>이전 계약분</a:t>
            </a:r>
            <a:endParaRPr lang="en-US" sz="1100" dirty="0"/>
          </a:p>
        </p:txBody>
      </p:sp>
      <p:sp>
        <p:nvSpPr>
          <p:cNvPr id="7" name="Shape 5"/>
          <p:cNvSpPr/>
          <p:nvPr/>
        </p:nvSpPr>
        <p:spPr>
          <a:xfrm>
            <a:off x="2116329" y="1920240"/>
            <a:ext cx="1688281" cy="457200"/>
          </a:xfrm>
          <a:prstGeom prst="rect">
            <a:avLst/>
          </a:prstGeom>
          <a:solidFill>
            <a:srgbClr val="D1D6DB"/>
          </a:solidFill>
          <a:ln w="19050">
            <a:solidFill>
              <a:schemeClr val="bg1"/>
            </a:solidFill>
            <a:prstDash val="solid"/>
          </a:ln>
        </p:spPr>
      </p:sp>
      <p:sp>
        <p:nvSpPr>
          <p:cNvPr id="8" name="Text 6"/>
          <p:cNvSpPr txBox="1"/>
          <p:nvPr/>
        </p:nvSpPr>
        <p:spPr>
          <a:xfrm>
            <a:off x="2189481" y="1920240"/>
            <a:ext cx="1596841" cy="457200"/>
          </a:xfrm>
          <a:prstGeom prst="rect">
            <a:avLst/>
          </a:prstGeom>
          <a:noFill/>
          <a:ln/>
        </p:spPr>
        <p:txBody>
          <a:bodyPr wrap="square" lIns="0" tIns="0" rIns="0" bIns="0" rtlCol="0" anchor="ctr"/>
          <a:lstStyle/>
          <a:p>
            <a:pPr indent="0" marL="0">
              <a:buNone/>
            </a:pPr>
            <a:r>
              <a:rPr lang="en-US" sz="1200" b="1" dirty="0">
                <a:solidFill>
                  <a:schemeClr val="accent2"/>
                </a:solidFill>
              </a:rPr>
              <a:t>노출 0</a:t>
            </a:r>
            <a:endParaRPr lang="en-US" sz="1200" dirty="0"/>
          </a:p>
        </p:txBody>
      </p:sp>
      <p:sp>
        <p:nvSpPr>
          <p:cNvPr id="9" name="Text 7"/>
          <p:cNvSpPr txBox="1"/>
          <p:nvPr/>
        </p:nvSpPr>
        <p:spPr>
          <a:xfrm>
            <a:off x="2116329" y="2450592"/>
            <a:ext cx="1688281" cy="411480"/>
          </a:xfrm>
          <a:prstGeom prst="rect">
            <a:avLst/>
          </a:prstGeom>
          <a:noFill/>
          <a:ln/>
        </p:spPr>
        <p:txBody>
          <a:bodyPr wrap="square" lIns="0" tIns="0" rIns="0" bIns="0" rtlCol="0" anchor="t"/>
          <a:lstStyle/>
          <a:p>
            <a:pPr indent="0" marL="0">
              <a:buNone/>
            </a:pPr>
            <a:r>
              <a:rPr lang="en-US" sz="1100" dirty="0">
                <a:solidFill>
                  <a:schemeClr val="accent2"/>
                </a:solidFill>
              </a:rPr>
              <a:t>7/14~7/27</a:t>
            </a:r>
            <a:endParaRPr lang="en-US" sz="1100" dirty="0"/>
          </a:p>
        </p:txBody>
      </p:sp>
      <p:sp>
        <p:nvSpPr>
          <p:cNvPr id="10" name="Shape 8"/>
          <p:cNvSpPr/>
          <p:nvPr/>
        </p:nvSpPr>
        <p:spPr>
          <a:xfrm>
            <a:off x="3804610" y="1920240"/>
            <a:ext cx="482366" cy="457200"/>
          </a:xfrm>
          <a:prstGeom prst="rect">
            <a:avLst/>
          </a:prstGeom>
          <a:solidFill>
            <a:schemeClr val="tx2"/>
          </a:solidFill>
          <a:ln w="19050">
            <a:solidFill>
              <a:schemeClr val="bg1"/>
            </a:solidFill>
            <a:prstDash val="solid"/>
          </a:ln>
        </p:spPr>
      </p:sp>
      <p:sp>
        <p:nvSpPr>
          <p:cNvPr id="11" name="Shape 9"/>
          <p:cNvSpPr/>
          <p:nvPr/>
        </p:nvSpPr>
        <p:spPr>
          <a:xfrm>
            <a:off x="4286976" y="1920240"/>
            <a:ext cx="5547208" cy="457200"/>
          </a:xfrm>
          <a:prstGeom prst="rect">
            <a:avLst/>
          </a:prstGeom>
          <a:solidFill>
            <a:schemeClr val="accent1"/>
          </a:solidFill>
          <a:ln w="19050">
            <a:solidFill>
              <a:schemeClr val="bg1"/>
            </a:solidFill>
            <a:prstDash val="solid"/>
          </a:ln>
        </p:spPr>
      </p:sp>
      <p:sp>
        <p:nvSpPr>
          <p:cNvPr id="12" name="Text 10"/>
          <p:cNvSpPr txBox="1"/>
          <p:nvPr/>
        </p:nvSpPr>
        <p:spPr>
          <a:xfrm>
            <a:off x="4360128" y="1920240"/>
            <a:ext cx="5455768" cy="457200"/>
          </a:xfrm>
          <a:prstGeom prst="rect">
            <a:avLst/>
          </a:prstGeom>
          <a:noFill/>
          <a:ln/>
        </p:spPr>
        <p:txBody>
          <a:bodyPr wrap="square" lIns="0" tIns="0" rIns="0" bIns="0" rtlCol="0" anchor="ctr"/>
          <a:lstStyle/>
          <a:p>
            <a:pPr indent="0" marL="0">
              <a:buNone/>
            </a:pPr>
            <a:r>
              <a:rPr lang="en-US" sz="1200" b="1" dirty="0">
                <a:solidFill>
                  <a:schemeClr val="bg1"/>
                </a:solidFill>
              </a:rPr>
              <a:t>노출 0  ·  46일 (8월 전체 포함)</a:t>
            </a:r>
            <a:endParaRPr lang="en-US" sz="1200" dirty="0"/>
          </a:p>
        </p:txBody>
      </p:sp>
      <p:sp>
        <p:nvSpPr>
          <p:cNvPr id="13" name="Text 11"/>
          <p:cNvSpPr txBox="1"/>
          <p:nvPr/>
        </p:nvSpPr>
        <p:spPr>
          <a:xfrm>
            <a:off x="4286976" y="2450592"/>
            <a:ext cx="5547208" cy="411480"/>
          </a:xfrm>
          <a:prstGeom prst="rect">
            <a:avLst/>
          </a:prstGeom>
          <a:noFill/>
          <a:ln/>
        </p:spPr>
        <p:txBody>
          <a:bodyPr wrap="square" lIns="0" tIns="0" rIns="0" bIns="0" rtlCol="0" anchor="t"/>
          <a:lstStyle/>
          <a:p>
            <a:pPr indent="0" marL="0">
              <a:buNone/>
            </a:pPr>
            <a:r>
              <a:rPr lang="en-US" sz="1100" dirty="0">
                <a:solidFill>
                  <a:schemeClr val="accent2"/>
                </a:solidFill>
              </a:rPr>
              <a:t>8/1~9/15</a:t>
            </a:r>
            <a:endParaRPr lang="en-US" sz="1100" dirty="0"/>
          </a:p>
        </p:txBody>
      </p:sp>
      <p:sp>
        <p:nvSpPr>
          <p:cNvPr id="14" name="Shape 12"/>
          <p:cNvSpPr/>
          <p:nvPr/>
        </p:nvSpPr>
        <p:spPr>
          <a:xfrm>
            <a:off x="9834183" y="1920240"/>
            <a:ext cx="1808872" cy="457200"/>
          </a:xfrm>
          <a:prstGeom prst="rect">
            <a:avLst/>
          </a:prstGeom>
          <a:solidFill>
            <a:schemeClr val="tx2"/>
          </a:solidFill>
          <a:ln w="19050">
            <a:solidFill>
              <a:schemeClr val="bg1"/>
            </a:solidFill>
            <a:prstDash val="solid"/>
          </a:ln>
        </p:spPr>
      </p:sp>
      <p:sp>
        <p:nvSpPr>
          <p:cNvPr id="15" name="Text 13"/>
          <p:cNvSpPr txBox="1"/>
          <p:nvPr/>
        </p:nvSpPr>
        <p:spPr>
          <a:xfrm>
            <a:off x="9907335" y="1920240"/>
            <a:ext cx="1717432" cy="457200"/>
          </a:xfrm>
          <a:prstGeom prst="rect">
            <a:avLst/>
          </a:prstGeom>
          <a:noFill/>
          <a:ln/>
        </p:spPr>
        <p:txBody>
          <a:bodyPr wrap="square" lIns="0" tIns="0" rIns="0" bIns="0" rtlCol="0" anchor="ctr"/>
          <a:lstStyle/>
          <a:p>
            <a:pPr indent="0" marL="0">
              <a:buNone/>
            </a:pPr>
            <a:r>
              <a:rPr lang="en-US" sz="1200" b="1" dirty="0">
                <a:solidFill>
                  <a:schemeClr val="bg1"/>
                </a:solidFill>
              </a:rPr>
              <a:t>노출</a:t>
            </a:r>
            <a:endParaRPr lang="en-US" sz="1200" dirty="0"/>
          </a:p>
        </p:txBody>
      </p:sp>
      <p:sp>
        <p:nvSpPr>
          <p:cNvPr id="16" name="Text 14"/>
          <p:cNvSpPr txBox="1"/>
          <p:nvPr/>
        </p:nvSpPr>
        <p:spPr>
          <a:xfrm>
            <a:off x="9834183" y="2450592"/>
            <a:ext cx="1808872" cy="411480"/>
          </a:xfrm>
          <a:prstGeom prst="rect">
            <a:avLst/>
          </a:prstGeom>
          <a:noFill/>
          <a:ln/>
        </p:spPr>
        <p:txBody>
          <a:bodyPr wrap="square" lIns="0" tIns="0" rIns="0" bIns="0" rtlCol="0" anchor="t"/>
          <a:lstStyle/>
          <a:p>
            <a:pPr indent="0" marL="0">
              <a:buNone/>
            </a:pPr>
            <a:r>
              <a:rPr lang="en-US" sz="1100" dirty="0">
                <a:solidFill>
                  <a:schemeClr val="accent2"/>
                </a:solidFill>
              </a:rPr>
              <a:t>9/16~9/30</a:t>
            </a:r>
            <a:endParaRPr lang="en-US" sz="1100" dirty="0"/>
          </a:p>
        </p:txBody>
      </p:sp>
      <p:sp>
        <p:nvSpPr>
          <p:cNvPr id="17" name="Shape 15"/>
          <p:cNvSpPr/>
          <p:nvPr/>
        </p:nvSpPr>
        <p:spPr>
          <a:xfrm>
            <a:off x="3804610" y="1645920"/>
            <a:ext cx="0" cy="274320"/>
          </a:xfrm>
          <a:prstGeom prst="line">
            <a:avLst/>
          </a:prstGeom>
          <a:noFill/>
          <a:ln w="19050">
            <a:solidFill>
              <a:schemeClr val="tx2"/>
            </a:solidFill>
            <a:prstDash val="solid"/>
          </a:ln>
        </p:spPr>
      </p:sp>
      <p:sp>
        <p:nvSpPr>
          <p:cNvPr id="18" name="Text 16"/>
          <p:cNvSpPr txBox="1"/>
          <p:nvPr/>
        </p:nvSpPr>
        <p:spPr>
          <a:xfrm>
            <a:off x="3877762" y="1554480"/>
            <a:ext cx="5486400" cy="256032"/>
          </a:xfrm>
          <a:prstGeom prst="rect">
            <a:avLst/>
          </a:prstGeom>
          <a:noFill/>
          <a:ln/>
        </p:spPr>
        <p:txBody>
          <a:bodyPr wrap="square" lIns="0" tIns="0" rIns="0" bIns="0" rtlCol="0" anchor="ctr"/>
          <a:lstStyle/>
          <a:p>
            <a:pPr indent="0" marL="0">
              <a:buNone/>
            </a:pPr>
            <a:r>
              <a:rPr lang="en-US" sz="1200" b="1" dirty="0">
                <a:solidFill>
                  <a:schemeClr val="tx2"/>
                </a:solidFill>
              </a:rPr>
              <a:t>7/28 새 계약 시작 (90일, 1,155만 원, 하루 128,333원)</a:t>
            </a:r>
            <a:endParaRPr lang="en-US" sz="1200" dirty="0"/>
          </a:p>
        </p:txBody>
      </p:sp>
      <p:pic>
        <p:nvPicPr>
          <p:cNvPr id="19" name="Image 0" descr="블랙키위 '꼬기다' 월간 검색량 추이">    </p:cNvPr>
          <p:cNvPicPr>
            <a:picLocks noChangeAspect="1"/>
          </p:cNvPicPr>
          <p:nvPr/>
        </p:nvPicPr>
        <p:blipFill>
          <a:blip r:embed="rId1"/>
          <a:stretch>
            <a:fillRect/>
          </a:stretch>
        </p:blipFill>
        <p:spPr>
          <a:xfrm>
            <a:off x="548640" y="3017520"/>
            <a:ext cx="5669280" cy="1623840"/>
          </a:xfrm>
          <a:prstGeom prst="rect">
            <a:avLst/>
          </a:prstGeom>
        </p:spPr>
      </p:pic>
      <p:sp>
        <p:nvSpPr>
          <p:cNvPr id="20" name="Shape 17"/>
          <p:cNvSpPr/>
          <p:nvPr/>
        </p:nvSpPr>
        <p:spPr>
          <a:xfrm>
            <a:off x="548640" y="3017520"/>
            <a:ext cx="5669280" cy="1623840"/>
          </a:xfrm>
          <a:prstGeom prst="rect">
            <a:avLst/>
          </a:prstGeom>
          <a:ln w="9525">
            <a:solidFill>
              <a:srgbClr val="D1D6DB"/>
            </a:solidFill>
            <a:prstDash val="solid"/>
          </a:ln>
        </p:spPr>
      </p:sp>
      <p:sp>
        <p:nvSpPr>
          <p:cNvPr id="21" name="Shape 18"/>
          <p:cNvSpPr/>
          <p:nvPr/>
        </p:nvSpPr>
        <p:spPr>
          <a:xfrm>
            <a:off x="5373284" y="3050891"/>
            <a:ext cx="310896" cy="310896"/>
          </a:xfrm>
          <a:prstGeom prst="ellipse">
            <a:avLst/>
          </a:prstGeom>
          <a:ln w="28575">
            <a:solidFill>
              <a:schemeClr val="accent1"/>
            </a:solidFill>
            <a:prstDash val="solid"/>
          </a:ln>
        </p:spPr>
      </p:sp>
      <p:sp>
        <p:nvSpPr>
          <p:cNvPr id="22" name="Text 19"/>
          <p:cNvSpPr txBox="1"/>
          <p:nvPr/>
        </p:nvSpPr>
        <p:spPr>
          <a:xfrm>
            <a:off x="3837092" y="3069179"/>
            <a:ext cx="1463040" cy="274320"/>
          </a:xfrm>
          <a:prstGeom prst="rect">
            <a:avLst/>
          </a:prstGeom>
          <a:noFill/>
          <a:ln/>
        </p:spPr>
        <p:txBody>
          <a:bodyPr wrap="square" lIns="0" tIns="0" rIns="0" bIns="0" rtlCol="0" anchor="ctr"/>
          <a:lstStyle/>
          <a:p>
            <a:pPr algn="r" indent="0" marL="0">
              <a:buNone/>
            </a:pPr>
            <a:r>
              <a:rPr lang="en-US" sz="1200" b="1" dirty="0">
                <a:solidFill>
                  <a:schemeClr val="accent1"/>
                </a:solidFill>
              </a:rPr>
              <a:t>8월 약 23,900건</a:t>
            </a:r>
            <a:endParaRPr lang="en-US" sz="1200" dirty="0"/>
          </a:p>
        </p:txBody>
      </p:sp>
      <p:sp>
        <p:nvSpPr>
          <p:cNvPr id="23" name="Text 20"/>
          <p:cNvSpPr txBox="1"/>
          <p:nvPr/>
        </p:nvSpPr>
        <p:spPr>
          <a:xfrm>
            <a:off x="548640" y="4714512"/>
            <a:ext cx="5669280" cy="228600"/>
          </a:xfrm>
          <a:prstGeom prst="rect">
            <a:avLst/>
          </a:prstGeom>
          <a:noFill/>
          <a:ln/>
        </p:spPr>
        <p:txBody>
          <a:bodyPr wrap="square" lIns="0" tIns="0" rIns="0" bIns="0" rtlCol="0" anchor="t"/>
          <a:lstStyle/>
          <a:p>
            <a:pPr indent="0" marL="0">
              <a:buNone/>
            </a:pPr>
            <a:r>
              <a:rPr lang="en-US" sz="1100" dirty="0">
                <a:solidFill>
                  <a:schemeClr val="accent3"/>
                </a:solidFill>
              </a:rPr>
              <a:t>'꼬기다' 월간 검색량 (블랙키위, 2025.10~2026.09) · 그래프 판독 근사치</a:t>
            </a:r>
            <a:endParaRPr lang="en-US" sz="1100" dirty="0"/>
          </a:p>
        </p:txBody>
      </p:sp>
      <p:sp>
        <p:nvSpPr>
          <p:cNvPr id="24" name="Shape 21"/>
          <p:cNvSpPr/>
          <p:nvPr/>
        </p:nvSpPr>
        <p:spPr>
          <a:xfrm>
            <a:off x="548640" y="5349240"/>
            <a:ext cx="5669280" cy="640080"/>
          </a:xfrm>
          <a:prstGeom prst="roundRect">
            <a:avLst>
              <a:gd name="adj" fmla="val 17143"/>
            </a:avLst>
          </a:prstGeom>
          <a:solidFill>
            <a:schemeClr val="accent4">
              <a:alpha val="12000"/>
            </a:schemeClr>
          </a:solidFill>
          <a:ln/>
        </p:spPr>
      </p:sp>
      <p:sp>
        <p:nvSpPr>
          <p:cNvPr id="25" name="Text 22"/>
          <p:cNvSpPr txBox="1"/>
          <p:nvPr/>
        </p:nvSpPr>
        <p:spPr>
          <a:xfrm>
            <a:off x="777240" y="5349240"/>
            <a:ext cx="5303520" cy="640080"/>
          </a:xfrm>
          <a:prstGeom prst="rect">
            <a:avLst/>
          </a:prstGeom>
          <a:noFill/>
          <a:ln/>
        </p:spPr>
        <p:txBody>
          <a:bodyPr wrap="square" lIns="0" tIns="0" rIns="0" bIns="0" rtlCol="0" anchor="ctr"/>
          <a:lstStyle/>
          <a:p>
            <a:pPr indent="0" marL="0">
              <a:buNone/>
            </a:pPr>
            <a:r>
              <a:rPr lang="en-US" sz="1300" dirty="0">
                <a:solidFill>
                  <a:schemeClr val="tx1"/>
                </a:solidFill>
              </a:rPr>
              <a:t>상품 선택은 적정: '꼬기다' 모바일 월 21,300건 → 라이트형 모바일이 맞음. 문제는 노출 관리</a:t>
            </a:r>
            <a:endParaRPr lang="en-US" sz="1300" dirty="0"/>
          </a:p>
        </p:txBody>
      </p:sp>
      <p:sp>
        <p:nvSpPr>
          <p:cNvPr id="26" name="Shape 23"/>
          <p:cNvSpPr/>
          <p:nvPr/>
        </p:nvSpPr>
        <p:spPr>
          <a:xfrm>
            <a:off x="6537960" y="3017520"/>
            <a:ext cx="5105095" cy="896112"/>
          </a:xfrm>
          <a:prstGeom prst="roundRect">
            <a:avLst>
              <a:gd name="adj" fmla="val 12245"/>
            </a:avLst>
          </a:prstGeom>
          <a:solidFill>
            <a:schemeClr val="bg2"/>
          </a:solidFill>
          <a:ln/>
        </p:spPr>
      </p:sp>
      <p:sp>
        <p:nvSpPr>
          <p:cNvPr id="27" name="Text 24"/>
          <p:cNvSpPr txBox="1"/>
          <p:nvPr/>
        </p:nvSpPr>
        <p:spPr>
          <a:xfrm>
            <a:off x="6766560" y="3017520"/>
            <a:ext cx="2011680" cy="896112"/>
          </a:xfrm>
          <a:prstGeom prst="rect">
            <a:avLst/>
          </a:prstGeom>
          <a:noFill/>
          <a:ln/>
        </p:spPr>
        <p:txBody>
          <a:bodyPr wrap="square" lIns="0" tIns="0" rIns="0" bIns="0" rtlCol="0" anchor="ctr"/>
          <a:lstStyle/>
          <a:p>
            <a:pPr indent="0" marL="0">
              <a:buNone/>
            </a:pPr>
            <a:r>
              <a:rPr lang="en-US" sz="2200" b="1" dirty="0">
                <a:solidFill>
                  <a:schemeClr val="accent1"/>
                </a:solidFill>
              </a:rPr>
              <a:t>약 590만 원</a:t>
            </a:r>
            <a:endParaRPr lang="en-US" sz="2200" dirty="0"/>
          </a:p>
        </p:txBody>
      </p:sp>
      <p:sp>
        <p:nvSpPr>
          <p:cNvPr id="28" name="Text 25"/>
          <p:cNvSpPr txBox="1"/>
          <p:nvPr/>
        </p:nvSpPr>
        <p:spPr>
          <a:xfrm>
            <a:off x="8823960" y="3017520"/>
            <a:ext cx="2636215" cy="896112"/>
          </a:xfrm>
          <a:prstGeom prst="rect">
            <a:avLst/>
          </a:prstGeom>
          <a:noFill/>
          <a:ln/>
        </p:spPr>
        <p:txBody>
          <a:bodyPr wrap="square" lIns="0" tIns="0" rIns="0" bIns="0" rtlCol="0" anchor="ctr"/>
          <a:lstStyle/>
          <a:p>
            <a:pPr indent="0" marL="0">
              <a:buNone/>
            </a:pPr>
            <a:r>
              <a:rPr lang="en-US" sz="1300" dirty="0">
                <a:solidFill>
                  <a:schemeClr val="accent2"/>
                </a:solidFill>
              </a:rPr>
              <a:t>노출 0인 46일치 계약금 (5,903,333원)</a:t>
            </a:r>
            <a:endParaRPr lang="en-US" sz="1300" dirty="0"/>
          </a:p>
        </p:txBody>
      </p:sp>
      <p:sp>
        <p:nvSpPr>
          <p:cNvPr id="29" name="Shape 26"/>
          <p:cNvSpPr/>
          <p:nvPr/>
        </p:nvSpPr>
        <p:spPr>
          <a:xfrm>
            <a:off x="6537960" y="4023360"/>
            <a:ext cx="5105095" cy="896112"/>
          </a:xfrm>
          <a:prstGeom prst="roundRect">
            <a:avLst>
              <a:gd name="adj" fmla="val 12245"/>
            </a:avLst>
          </a:prstGeom>
          <a:solidFill>
            <a:schemeClr val="bg2"/>
          </a:solidFill>
          <a:ln/>
        </p:spPr>
      </p:sp>
      <p:sp>
        <p:nvSpPr>
          <p:cNvPr id="30" name="Text 27"/>
          <p:cNvSpPr txBox="1"/>
          <p:nvPr/>
        </p:nvSpPr>
        <p:spPr>
          <a:xfrm>
            <a:off x="6766560" y="4023360"/>
            <a:ext cx="2011680" cy="896112"/>
          </a:xfrm>
          <a:prstGeom prst="rect">
            <a:avLst/>
          </a:prstGeom>
          <a:noFill/>
          <a:ln/>
        </p:spPr>
        <p:txBody>
          <a:bodyPr wrap="square" lIns="0" tIns="0" rIns="0" bIns="0" rtlCol="0" anchor="ctr"/>
          <a:lstStyle/>
          <a:p>
            <a:pPr indent="0" marL="0">
              <a:buNone/>
            </a:pPr>
            <a:r>
              <a:rPr lang="en-US" sz="2200" b="1" dirty="0">
                <a:solidFill>
                  <a:schemeClr val="accent1"/>
                </a:solidFill>
              </a:rPr>
              <a:t>약 23,900건</a:t>
            </a:r>
            <a:endParaRPr lang="en-US" sz="2200" dirty="0"/>
          </a:p>
        </p:txBody>
      </p:sp>
      <p:sp>
        <p:nvSpPr>
          <p:cNvPr id="31" name="Text 28"/>
          <p:cNvSpPr txBox="1"/>
          <p:nvPr/>
        </p:nvSpPr>
        <p:spPr>
          <a:xfrm>
            <a:off x="8823960" y="4023360"/>
            <a:ext cx="2636215" cy="896112"/>
          </a:xfrm>
          <a:prstGeom prst="rect">
            <a:avLst/>
          </a:prstGeom>
          <a:noFill/>
          <a:ln/>
        </p:spPr>
        <p:txBody>
          <a:bodyPr wrap="square" lIns="0" tIns="0" rIns="0" bIns="0" rtlCol="0" anchor="ctr"/>
          <a:lstStyle/>
          <a:p>
            <a:pPr indent="0" marL="0">
              <a:buNone/>
            </a:pPr>
            <a:r>
              <a:rPr lang="en-US" sz="1300" dirty="0">
                <a:solidFill>
                  <a:schemeClr val="accent2"/>
                </a:solidFill>
              </a:rPr>
              <a:t>8월 '꼬기다' 검색량, 최근 12개월 최고. 그 한 달 내내 노출 0</a:t>
            </a:r>
            <a:endParaRPr lang="en-US" sz="1300" dirty="0"/>
          </a:p>
        </p:txBody>
      </p:sp>
      <p:sp>
        <p:nvSpPr>
          <p:cNvPr id="32" name="Shape 29"/>
          <p:cNvSpPr/>
          <p:nvPr/>
        </p:nvSpPr>
        <p:spPr>
          <a:xfrm>
            <a:off x="6537960" y="5029200"/>
            <a:ext cx="5105095" cy="896112"/>
          </a:xfrm>
          <a:prstGeom prst="roundRect">
            <a:avLst>
              <a:gd name="adj" fmla="val 12245"/>
            </a:avLst>
          </a:prstGeom>
          <a:solidFill>
            <a:schemeClr val="bg2"/>
          </a:solidFill>
          <a:ln/>
        </p:spPr>
      </p:sp>
      <p:sp>
        <p:nvSpPr>
          <p:cNvPr id="33" name="Text 30"/>
          <p:cNvSpPr txBox="1"/>
          <p:nvPr/>
        </p:nvSpPr>
        <p:spPr>
          <a:xfrm>
            <a:off x="6766560" y="5029200"/>
            <a:ext cx="2011680" cy="896112"/>
          </a:xfrm>
          <a:prstGeom prst="rect">
            <a:avLst/>
          </a:prstGeom>
          <a:noFill/>
          <a:ln/>
        </p:spPr>
        <p:txBody>
          <a:bodyPr wrap="square" lIns="0" tIns="0" rIns="0" bIns="0" rtlCol="0" anchor="ctr"/>
          <a:lstStyle/>
          <a:p>
            <a:pPr indent="0" marL="0">
              <a:buNone/>
            </a:pPr>
            <a:r>
              <a:rPr lang="en-US" sz="2200" b="1" dirty="0">
                <a:solidFill>
                  <a:schemeClr val="accent1"/>
                </a:solidFill>
              </a:rPr>
              <a:t>198 → 471회</a:t>
            </a:r>
            <a:endParaRPr lang="en-US" sz="2200" dirty="0"/>
          </a:p>
        </p:txBody>
      </p:sp>
      <p:sp>
        <p:nvSpPr>
          <p:cNvPr id="34" name="Text 31"/>
          <p:cNvSpPr txBox="1"/>
          <p:nvPr/>
        </p:nvSpPr>
        <p:spPr>
          <a:xfrm>
            <a:off x="8823960" y="5029200"/>
            <a:ext cx="2636215" cy="896112"/>
          </a:xfrm>
          <a:prstGeom prst="rect">
            <a:avLst/>
          </a:prstGeom>
          <a:noFill/>
          <a:ln/>
        </p:spPr>
        <p:txBody>
          <a:bodyPr wrap="square" lIns="0" tIns="0" rIns="0" bIns="0" rtlCol="0" anchor="ctr"/>
          <a:lstStyle/>
          <a:p>
            <a:pPr indent="0" marL="0">
              <a:buNone/>
            </a:pPr>
            <a:r>
              <a:rPr lang="en-US" sz="1300" dirty="0">
                <a:solidFill>
                  <a:schemeClr val="accent2"/>
                </a:solidFill>
              </a:rPr>
              <a:t>파워링크 '꼬기다' 하루 클릭. 브랜드검색 공백을 파워링크가 대신 메움</a:t>
            </a:r>
            <a:endParaRPr lang="en-US" sz="13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02  검색광고</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검색광고비 98.5%가 이미 브랜드를 아는 고객에게 쓰였습니다</a:t>
            </a:r>
            <a:endParaRPr lang="en-US" sz="2800" dirty="0"/>
          </a:p>
        </p:txBody>
      </p:sp>
      <p:graphicFrame>
        <p:nvGraphicFramePr>
          <p:cNvPr id="4" name="Chart 0" descr=""/>
          <p:cNvGraphicFramePr/>
          <p:nvPr/>
        </p:nvGraphicFramePr>
        <p:xfrm>
          <a:off x="457200" y="1554480"/>
          <a:ext cx="6126480" cy="3977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623560"/>
            <a:ext cx="5852160" cy="274320"/>
          </a:xfrm>
          <a:prstGeom prst="rect">
            <a:avLst/>
          </a:prstGeom>
          <a:noFill/>
          <a:ln/>
        </p:spPr>
        <p:txBody>
          <a:bodyPr wrap="square" lIns="0" tIns="0" rIns="0" bIns="0" rtlCol="0" anchor="t"/>
          <a:lstStyle/>
          <a:p>
            <a:pPr indent="0" marL="0">
              <a:buNone/>
            </a:pPr>
            <a:r>
              <a:rPr lang="en-US" sz="1200" dirty="0">
                <a:solidFill>
                  <a:schemeClr val="accent3"/>
                </a:solidFill>
              </a:rPr>
              <a:t>꼬기다·건담닭·올라잇그린 기준 98.5%, 통영숙수 포함 전체 88%</a:t>
            </a:r>
            <a:endParaRPr lang="en-US" sz="1200" dirty="0"/>
          </a:p>
        </p:txBody>
      </p:sp>
      <p:sp>
        <p:nvSpPr>
          <p:cNvPr id="6" name="Text 3"/>
          <p:cNvSpPr txBox="1"/>
          <p:nvPr/>
        </p:nvSpPr>
        <p:spPr>
          <a:xfrm>
            <a:off x="6720840" y="1554480"/>
            <a:ext cx="4922215" cy="411480"/>
          </a:xfrm>
          <a:prstGeom prst="rect">
            <a:avLst/>
          </a:prstGeom>
          <a:noFill/>
          <a:ln/>
        </p:spPr>
        <p:txBody>
          <a:bodyPr wrap="square" lIns="0" tIns="0" rIns="0" bIns="0" rtlCol="0" anchor="t"/>
          <a:lstStyle/>
          <a:p>
            <a:pPr indent="0" marL="0">
              <a:buNone/>
            </a:pPr>
            <a:r>
              <a:rPr lang="en-US" sz="2000" b="1" dirty="0">
                <a:solidFill>
                  <a:schemeClr val="tx1"/>
                </a:solidFill>
              </a:rPr>
              <a:t>하지 않았는데도 팔렸습니다</a:t>
            </a:r>
            <a:endParaRPr lang="en-US" sz="2000" dirty="0"/>
          </a:p>
        </p:txBody>
      </p:sp>
      <p:sp>
        <p:nvSpPr>
          <p:cNvPr id="7" name="Text 4"/>
          <p:cNvSpPr txBox="1"/>
          <p:nvPr/>
        </p:nvSpPr>
        <p:spPr>
          <a:xfrm>
            <a:off x="6720840" y="2011680"/>
            <a:ext cx="4922215" cy="548640"/>
          </a:xfrm>
          <a:prstGeom prst="rect">
            <a:avLst/>
          </a:prstGeom>
          <a:noFill/>
          <a:ln/>
        </p:spPr>
        <p:txBody>
          <a:bodyPr wrap="square" lIns="0" tIns="0" rIns="0" bIns="0" rtlCol="0" anchor="t"/>
          <a:lstStyle/>
          <a:p>
            <a:pPr indent="0" marL="0">
              <a:buNone/>
            </a:pPr>
            <a:r>
              <a:rPr lang="en-US" sz="1400" dirty="0">
                <a:solidFill>
                  <a:schemeClr val="accent2"/>
                </a:solidFill>
              </a:rPr>
              <a:t>닭가슴살·닭다리살 같은 카테고리 키워드는 파워링크에 등록돼 있지 않습니다</a:t>
            </a:r>
            <a:endParaRPr lang="en-US" sz="1400" dirty="0"/>
          </a:p>
        </p:txBody>
      </p:sp>
      <p:sp>
        <p:nvSpPr>
          <p:cNvPr id="8" name="Shape 5"/>
          <p:cNvSpPr/>
          <p:nvPr/>
        </p:nvSpPr>
        <p:spPr>
          <a:xfrm>
            <a:off x="6720840" y="2697480"/>
            <a:ext cx="4922215" cy="1600200"/>
          </a:xfrm>
          <a:prstGeom prst="roundRect">
            <a:avLst>
              <a:gd name="adj" fmla="val 6857"/>
            </a:avLst>
          </a:prstGeom>
          <a:solidFill>
            <a:schemeClr val="bg2"/>
          </a:solidFill>
          <a:ln/>
        </p:spPr>
      </p:sp>
      <p:sp>
        <p:nvSpPr>
          <p:cNvPr id="9" name="Text 6"/>
          <p:cNvSpPr txBox="1"/>
          <p:nvPr/>
        </p:nvSpPr>
        <p:spPr>
          <a:xfrm>
            <a:off x="6949440" y="2816352"/>
            <a:ext cx="4465015" cy="502920"/>
          </a:xfrm>
          <a:prstGeom prst="rect">
            <a:avLst/>
          </a:prstGeom>
          <a:noFill/>
          <a:ln/>
        </p:spPr>
        <p:txBody>
          <a:bodyPr wrap="square" lIns="0" tIns="0" rIns="0" bIns="0" rtlCol="0" anchor="t"/>
          <a:lstStyle/>
          <a:p>
            <a:pPr indent="0" marL="0">
              <a:buNone/>
            </a:pPr>
            <a:r>
              <a:rPr lang="en-US" sz="1400" b="1" dirty="0">
                <a:solidFill>
                  <a:schemeClr val="tx1"/>
                </a:solidFill>
              </a:rPr>
              <a:t>'닭가슴살' 포함 검색어 898개가 쇼핑·확장검색으로 우연히 유입</a:t>
            </a:r>
            <a:endParaRPr lang="en-US" sz="1400" dirty="0"/>
          </a:p>
        </p:txBody>
      </p:sp>
      <p:sp>
        <p:nvSpPr>
          <p:cNvPr id="10" name="Text 7"/>
          <p:cNvSpPr txBox="1"/>
          <p:nvPr/>
        </p:nvSpPr>
        <p:spPr>
          <a:xfrm>
            <a:off x="6949440" y="3383280"/>
            <a:ext cx="1488338" cy="457200"/>
          </a:xfrm>
          <a:prstGeom prst="rect">
            <a:avLst/>
          </a:prstGeom>
          <a:noFill/>
          <a:ln/>
        </p:spPr>
        <p:txBody>
          <a:bodyPr wrap="square" lIns="0" tIns="0" rIns="0" bIns="0" rtlCol="0" anchor="ctr"/>
          <a:lstStyle/>
          <a:p>
            <a:pPr indent="0" marL="0">
              <a:buNone/>
            </a:pPr>
            <a:r>
              <a:rPr lang="en-US" sz="2200" b="1" dirty="0">
                <a:solidFill>
                  <a:schemeClr val="tx2"/>
                </a:solidFill>
              </a:rPr>
              <a:t>3.8만 원</a:t>
            </a:r>
            <a:endParaRPr lang="en-US" sz="2200" dirty="0"/>
          </a:p>
        </p:txBody>
      </p:sp>
      <p:sp>
        <p:nvSpPr>
          <p:cNvPr id="11" name="Text 8"/>
          <p:cNvSpPr txBox="1"/>
          <p:nvPr/>
        </p:nvSpPr>
        <p:spPr>
          <a:xfrm>
            <a:off x="6949440" y="3840480"/>
            <a:ext cx="1488338" cy="274320"/>
          </a:xfrm>
          <a:prstGeom prst="rect">
            <a:avLst/>
          </a:prstGeom>
          <a:noFill/>
          <a:ln/>
        </p:spPr>
        <p:txBody>
          <a:bodyPr wrap="square" lIns="0" tIns="0" rIns="0" bIns="0" rtlCol="0" anchor="t"/>
          <a:lstStyle/>
          <a:p>
            <a:pPr indent="0" marL="0">
              <a:buNone/>
            </a:pPr>
            <a:r>
              <a:rPr lang="en-US" sz="1200" dirty="0">
                <a:solidFill>
                  <a:schemeClr val="accent2"/>
                </a:solidFill>
              </a:rPr>
              <a:t>비용</a:t>
            </a:r>
            <a:endParaRPr lang="en-US" sz="1200" dirty="0"/>
          </a:p>
        </p:txBody>
      </p:sp>
      <p:sp>
        <p:nvSpPr>
          <p:cNvPr id="12" name="Text 9"/>
          <p:cNvSpPr txBox="1"/>
          <p:nvPr/>
        </p:nvSpPr>
        <p:spPr>
          <a:xfrm>
            <a:off x="8437778" y="3383280"/>
            <a:ext cx="1488338" cy="457200"/>
          </a:xfrm>
          <a:prstGeom prst="rect">
            <a:avLst/>
          </a:prstGeom>
          <a:noFill/>
          <a:ln/>
        </p:spPr>
        <p:txBody>
          <a:bodyPr wrap="square" lIns="0" tIns="0" rIns="0" bIns="0" rtlCol="0" anchor="ctr"/>
          <a:lstStyle/>
          <a:p>
            <a:pPr indent="0" marL="0">
              <a:buNone/>
            </a:pPr>
            <a:r>
              <a:rPr lang="en-US" sz="2200" b="1" dirty="0">
                <a:solidFill>
                  <a:schemeClr val="tx2"/>
                </a:solidFill>
              </a:rPr>
              <a:t>34건</a:t>
            </a:r>
            <a:endParaRPr lang="en-US" sz="2200" dirty="0"/>
          </a:p>
        </p:txBody>
      </p:sp>
      <p:sp>
        <p:nvSpPr>
          <p:cNvPr id="13" name="Text 10"/>
          <p:cNvSpPr txBox="1"/>
          <p:nvPr/>
        </p:nvSpPr>
        <p:spPr>
          <a:xfrm>
            <a:off x="8437778" y="3840480"/>
            <a:ext cx="1488338" cy="274320"/>
          </a:xfrm>
          <a:prstGeom prst="rect">
            <a:avLst/>
          </a:prstGeom>
          <a:noFill/>
          <a:ln/>
        </p:spPr>
        <p:txBody>
          <a:bodyPr wrap="square" lIns="0" tIns="0" rIns="0" bIns="0" rtlCol="0" anchor="t"/>
          <a:lstStyle/>
          <a:p>
            <a:pPr indent="0" marL="0">
              <a:buNone/>
            </a:pPr>
            <a:r>
              <a:rPr lang="en-US" sz="1200" dirty="0">
                <a:solidFill>
                  <a:schemeClr val="accent2"/>
                </a:solidFill>
              </a:rPr>
              <a:t>구매</a:t>
            </a:r>
            <a:endParaRPr lang="en-US" sz="1200" dirty="0"/>
          </a:p>
        </p:txBody>
      </p:sp>
      <p:sp>
        <p:nvSpPr>
          <p:cNvPr id="14" name="Text 11"/>
          <p:cNvSpPr txBox="1"/>
          <p:nvPr/>
        </p:nvSpPr>
        <p:spPr>
          <a:xfrm>
            <a:off x="9926117" y="3383280"/>
            <a:ext cx="1488338" cy="457200"/>
          </a:xfrm>
          <a:prstGeom prst="rect">
            <a:avLst/>
          </a:prstGeom>
          <a:noFill/>
          <a:ln/>
        </p:spPr>
        <p:txBody>
          <a:bodyPr wrap="square" lIns="0" tIns="0" rIns="0" bIns="0" rtlCol="0" anchor="ctr"/>
          <a:lstStyle/>
          <a:p>
            <a:pPr indent="0" marL="0">
              <a:buNone/>
            </a:pPr>
            <a:r>
              <a:rPr lang="en-US" sz="2200" b="1" dirty="0">
                <a:solidFill>
                  <a:schemeClr val="tx2"/>
                </a:solidFill>
              </a:rPr>
              <a:t>191만 원</a:t>
            </a:r>
            <a:endParaRPr lang="en-US" sz="2200" dirty="0"/>
          </a:p>
        </p:txBody>
      </p:sp>
      <p:sp>
        <p:nvSpPr>
          <p:cNvPr id="15" name="Text 12"/>
          <p:cNvSpPr txBox="1"/>
          <p:nvPr/>
        </p:nvSpPr>
        <p:spPr>
          <a:xfrm>
            <a:off x="9926117" y="3840480"/>
            <a:ext cx="1488338" cy="274320"/>
          </a:xfrm>
          <a:prstGeom prst="rect">
            <a:avLst/>
          </a:prstGeom>
          <a:noFill/>
          <a:ln/>
        </p:spPr>
        <p:txBody>
          <a:bodyPr wrap="square" lIns="0" tIns="0" rIns="0" bIns="0" rtlCol="0" anchor="t"/>
          <a:lstStyle/>
          <a:p>
            <a:pPr indent="0" marL="0">
              <a:buNone/>
            </a:pPr>
            <a:r>
              <a:rPr lang="en-US" sz="1200" dirty="0">
                <a:solidFill>
                  <a:schemeClr val="accent2"/>
                </a:solidFill>
              </a:rPr>
              <a:t>매출</a:t>
            </a:r>
            <a:endParaRPr lang="en-US" sz="1200" dirty="0"/>
          </a:p>
        </p:txBody>
      </p:sp>
      <p:sp>
        <p:nvSpPr>
          <p:cNvPr id="16" name="Shape 13"/>
          <p:cNvSpPr/>
          <p:nvPr/>
        </p:nvSpPr>
        <p:spPr>
          <a:xfrm>
            <a:off x="6720840" y="4434840"/>
            <a:ext cx="4922215" cy="914400"/>
          </a:xfrm>
          <a:prstGeom prst="roundRect">
            <a:avLst>
              <a:gd name="adj" fmla="val 12000"/>
            </a:avLst>
          </a:prstGeom>
          <a:solidFill>
            <a:schemeClr val="bg2"/>
          </a:solidFill>
          <a:ln/>
        </p:spPr>
      </p:sp>
      <p:sp>
        <p:nvSpPr>
          <p:cNvPr id="17" name="Text 14"/>
          <p:cNvSpPr txBox="1"/>
          <p:nvPr/>
        </p:nvSpPr>
        <p:spPr>
          <a:xfrm>
            <a:off x="6949440" y="4434840"/>
            <a:ext cx="4465015" cy="914400"/>
          </a:xfrm>
          <a:prstGeom prst="rect">
            <a:avLst/>
          </a:prstGeom>
          <a:noFill/>
          <a:ln/>
        </p:spPr>
        <p:txBody>
          <a:bodyPr wrap="square" lIns="0" tIns="0" rIns="0" bIns="0" rtlCol="0" anchor="ctr"/>
          <a:lstStyle/>
          <a:p>
            <a:pPr indent="0" marL="0">
              <a:buNone/>
            </a:pPr>
            <a:r>
              <a:rPr lang="en-US" sz="1400" b="1" dirty="0">
                <a:solidFill>
                  <a:schemeClr val="tx1"/>
                </a:solidFill>
              </a:rPr>
              <a:t>타사 브랜드 검색에서 구매 27건</a:t>
            </a:r>
            <a:endParaRPr lang="en-US" sz="1400" dirty="0"/>
          </a:p>
          <a:p>
            <a:pPr indent="0" marL="0">
              <a:buNone/>
            </a:pPr>
            <a:r>
              <a:rPr lang="en-US" sz="1300" dirty="0">
                <a:solidFill>
                  <a:schemeClr val="accent2"/>
                </a:solidFill>
              </a:rPr>
              <a:t>'고기남자 닭가슴살', '워크맨 닭가슴살' 등</a:t>
            </a:r>
            <a:endParaRPr lang="en-US" sz="1400" dirty="0"/>
          </a:p>
        </p:txBody>
      </p:sp>
      <p:sp>
        <p:nvSpPr>
          <p:cNvPr id="18" name="Shape 15"/>
          <p:cNvSpPr/>
          <p:nvPr/>
        </p:nvSpPr>
        <p:spPr>
          <a:xfrm>
            <a:off x="6720840" y="5486400"/>
            <a:ext cx="4922215" cy="502920"/>
          </a:xfrm>
          <a:prstGeom prst="roundRect">
            <a:avLst>
              <a:gd name="adj" fmla="val 21818"/>
            </a:avLst>
          </a:prstGeom>
          <a:solidFill>
            <a:schemeClr val="tx2"/>
          </a:solidFill>
          <a:ln/>
        </p:spPr>
      </p:sp>
      <p:sp>
        <p:nvSpPr>
          <p:cNvPr id="19" name="Text 16"/>
          <p:cNvSpPr txBox="1"/>
          <p:nvPr/>
        </p:nvSpPr>
        <p:spPr>
          <a:xfrm>
            <a:off x="6949440" y="5486400"/>
            <a:ext cx="4465015" cy="502920"/>
          </a:xfrm>
          <a:prstGeom prst="rect">
            <a:avLst/>
          </a:prstGeom>
          <a:noFill/>
          <a:ln/>
        </p:spPr>
        <p:txBody>
          <a:bodyPr wrap="square" lIns="0" tIns="0" rIns="0" bIns="0" rtlCol="0" anchor="ctr"/>
          <a:lstStyle/>
          <a:p>
            <a:pPr indent="0" marL="0">
              <a:buNone/>
            </a:pPr>
            <a:r>
              <a:rPr lang="en-US" sz="1500" b="1" dirty="0">
                <a:solidFill>
                  <a:schemeClr val="bg1"/>
                </a:solidFill>
              </a:rPr>
              <a:t>제대로 하면 더 팔 수 있습니다</a:t>
            </a:r>
            <a:endParaRPr lang="en-US" sz="15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02  검색광고</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'올라잇그린'은 브랜드 키워드처럼 작동하지 않습니다</a:t>
            </a:r>
            <a:endParaRPr lang="en-US" sz="2800" dirty="0"/>
          </a:p>
        </p:txBody>
      </p:sp>
      <p:sp>
        <p:nvSpPr>
          <p:cNvPr id="4" name="Text 2"/>
          <p:cNvSpPr txBox="1"/>
          <p:nvPr/>
        </p:nvSpPr>
        <p:spPr>
          <a:xfrm>
            <a:off x="548640" y="1554480"/>
            <a:ext cx="5486400" cy="320040"/>
          </a:xfrm>
          <a:prstGeom prst="rect">
            <a:avLst/>
          </a:prstGeom>
          <a:noFill/>
          <a:ln/>
        </p:spPr>
        <p:txBody>
          <a:bodyPr wrap="square" lIns="0" tIns="0" rIns="0" bIns="0" rtlCol="0" anchor="t"/>
          <a:lstStyle/>
          <a:p>
            <a:pPr indent="0" marL="0">
              <a:buNone/>
            </a:pPr>
            <a:r>
              <a:rPr lang="en-US" sz="1600" b="1" dirty="0">
                <a:solidFill>
                  <a:schemeClr val="tx1"/>
                </a:solidFill>
              </a:rPr>
              <a:t>파워링크 브랜드 키워드 그룹 비교</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486400" cy="914400"/>
        </p:xfrm>
        <a:graphic>
          <a:graphicData uri="http://schemas.openxmlformats.org/drawingml/2006/table">
            <a:tbl>
              <a:tblPr/>
              <a:tblGrid>
                <a:gridCol w="2377440"/>
                <a:gridCol w="1463040"/>
                <a:gridCol w="1645920"/>
              </a:tblGrid>
              <a:tr h="457200">
                <a:tc>
                  <a:txBody>
                    <a:bodyPr/>
                    <a:lstStyle/>
                    <a:p>
                      <a:pPr indent="0" marL="0">
                        <a:buNone/>
                      </a:pPr>
                      <a:r>
                        <a:rPr lang="en-US" sz="1400" b="1" dirty="0">
                          <a:solidFill>
                            <a:schemeClr val="bg1"/>
                          </a:solidFill>
                        </a:rPr>
                        <a:t>브랜드 키워드 그룹</a:t>
                      </a:r>
                      <a:endParaRPr lang="en-US" sz="14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클릭률</a:t>
                      </a:r>
                      <a:endParaRPr lang="en-US" sz="14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클릭당 비용</a:t>
                      </a:r>
                      <a:endParaRPr lang="en-US" sz="14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457200">
                <a:tc>
                  <a:txBody>
                    <a:bodyPr/>
                    <a:lstStyle/>
                    <a:p>
                      <a:pPr indent="0" marL="0">
                        <a:buNone/>
                      </a:pPr>
                      <a:r>
                        <a:rPr lang="en-US" sz="1500" dirty="0">
                          <a:solidFill>
                            <a:srgbClr val="000000"/>
                          </a:solidFill>
                        </a:rPr>
                        <a:t>꼬기다</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500" dirty="0">
                          <a:solidFill>
                            <a:srgbClr val="000000"/>
                          </a:solidFill>
                        </a:rPr>
                        <a:t>25.8%</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500" dirty="0">
                          <a:solidFill>
                            <a:srgbClr val="000000"/>
                          </a:solidFill>
                        </a:rPr>
                        <a:t>77원</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500" dirty="0">
                          <a:solidFill>
                            <a:srgbClr val="000000"/>
                          </a:solidFill>
                        </a:rPr>
                        <a:t>건담닭</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500" dirty="0">
                          <a:solidFill>
                            <a:srgbClr val="000000"/>
                          </a:solidFill>
                        </a:rPr>
                        <a:t>24.4%</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500" dirty="0">
                          <a:solidFill>
                            <a:srgbClr val="000000"/>
                          </a:solidFill>
                        </a:rPr>
                        <a:t>79원</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500" b="1" dirty="0">
                          <a:solidFill>
                            <a:srgbClr val="000000"/>
                          </a:solidFill>
                        </a:rPr>
                        <a:t>올라잇그린</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c>
                  <a:txBody>
                    <a:bodyPr/>
                    <a:lstStyle/>
                    <a:p>
                      <a:pPr algn="r" indent="0" marL="0">
                        <a:buNone/>
                      </a:pPr>
                      <a:r>
                        <a:rPr lang="en-US" sz="1500" b="1" dirty="0">
                          <a:solidFill>
                            <a:schemeClr val="accent1"/>
                          </a:solidFill>
                        </a:rPr>
                        <a:t>9.8%</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c>
                  <a:txBody>
                    <a:bodyPr/>
                    <a:lstStyle/>
                    <a:p>
                      <a:pPr algn="r" indent="0" marL="0">
                        <a:buNone/>
                      </a:pPr>
                      <a:r>
                        <a:rPr lang="en-US" sz="1500" b="1" dirty="0">
                          <a:solidFill>
                            <a:schemeClr val="accent1"/>
                          </a:solidFill>
                        </a:rPr>
                        <a:t>361원</a:t>
                      </a:r>
                      <a:endParaRPr lang="en-US" sz="1500" dirty="0"/>
                    </a:p>
                  </a:txBody>
                  <a:tcPr marL="137160" marR="137160"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bl>
          </a:graphicData>
        </a:graphic>
      </p:graphicFrame>
      <p:sp>
        <p:nvSpPr>
          <p:cNvPr id="6" name="Shape 3"/>
          <p:cNvSpPr/>
          <p:nvPr/>
        </p:nvSpPr>
        <p:spPr>
          <a:xfrm>
            <a:off x="548640" y="4069080"/>
            <a:ext cx="2651760" cy="1874520"/>
          </a:xfrm>
          <a:prstGeom prst="roundRect">
            <a:avLst>
              <a:gd name="adj" fmla="val 5854"/>
            </a:avLst>
          </a:prstGeom>
          <a:solidFill>
            <a:schemeClr val="bg2"/>
          </a:solidFill>
          <a:ln/>
        </p:spPr>
      </p:sp>
      <p:sp>
        <p:nvSpPr>
          <p:cNvPr id="7" name="Text 4"/>
          <p:cNvSpPr txBox="1"/>
          <p:nvPr/>
        </p:nvSpPr>
        <p:spPr>
          <a:xfrm>
            <a:off x="777240" y="4206240"/>
            <a:ext cx="2286000" cy="731520"/>
          </a:xfrm>
          <a:prstGeom prst="rect">
            <a:avLst/>
          </a:prstGeom>
          <a:noFill/>
          <a:ln/>
        </p:spPr>
        <p:txBody>
          <a:bodyPr wrap="square" lIns="0" tIns="0" rIns="0" bIns="0" rtlCol="0" anchor="ctr"/>
          <a:lstStyle/>
          <a:p>
            <a:pPr indent="0" marL="0">
              <a:buNone/>
            </a:pPr>
            <a:r>
              <a:rPr lang="en-US" sz="4000" b="1" dirty="0">
                <a:solidFill>
                  <a:schemeClr val="accent1"/>
                </a:solidFill>
              </a:rPr>
              <a:t>4.7배</a:t>
            </a:r>
            <a:endParaRPr lang="en-US" sz="4000" dirty="0"/>
          </a:p>
        </p:txBody>
      </p:sp>
      <p:sp>
        <p:nvSpPr>
          <p:cNvPr id="8" name="Text 5"/>
          <p:cNvSpPr txBox="1"/>
          <p:nvPr/>
        </p:nvSpPr>
        <p:spPr>
          <a:xfrm>
            <a:off x="777240" y="4983480"/>
            <a:ext cx="2286000" cy="731520"/>
          </a:xfrm>
          <a:prstGeom prst="rect">
            <a:avLst/>
          </a:prstGeom>
          <a:noFill/>
          <a:ln/>
        </p:spPr>
        <p:txBody>
          <a:bodyPr wrap="square" lIns="0" tIns="0" rIns="0" bIns="0" rtlCol="0" anchor="t"/>
          <a:lstStyle/>
          <a:p>
            <a:pPr indent="0" marL="0">
              <a:buNone/>
            </a:pPr>
            <a:r>
              <a:rPr lang="en-US" sz="1400" dirty="0">
                <a:solidFill>
                  <a:schemeClr val="accent2"/>
                </a:solidFill>
              </a:rPr>
              <a:t>올라잇그린 클릭당 비용</a:t>
            </a:r>
            <a:endParaRPr lang="en-US" sz="1400" dirty="0"/>
          </a:p>
          <a:p>
            <a:pPr indent="0" marL="0">
              <a:buNone/>
            </a:pPr>
            <a:r>
              <a:rPr lang="en-US" sz="1400" dirty="0">
                <a:solidFill>
                  <a:schemeClr val="accent2"/>
                </a:solidFill>
              </a:rPr>
              <a:t>(꼬기다 대비)</a:t>
            </a:r>
            <a:endParaRPr lang="en-US" sz="1400" dirty="0"/>
          </a:p>
        </p:txBody>
      </p:sp>
      <p:sp>
        <p:nvSpPr>
          <p:cNvPr id="9" name="Shape 6"/>
          <p:cNvSpPr/>
          <p:nvPr/>
        </p:nvSpPr>
        <p:spPr>
          <a:xfrm>
            <a:off x="3383280" y="4069080"/>
            <a:ext cx="2651760" cy="1874520"/>
          </a:xfrm>
          <a:prstGeom prst="roundRect">
            <a:avLst>
              <a:gd name="adj" fmla="val 5854"/>
            </a:avLst>
          </a:prstGeom>
          <a:solidFill>
            <a:schemeClr val="accent4">
              <a:alpha val="12000"/>
            </a:schemeClr>
          </a:solidFill>
          <a:ln/>
        </p:spPr>
      </p:sp>
      <p:sp>
        <p:nvSpPr>
          <p:cNvPr id="10" name="Text 7"/>
          <p:cNvSpPr txBox="1"/>
          <p:nvPr/>
        </p:nvSpPr>
        <p:spPr>
          <a:xfrm>
            <a:off x="3611880" y="4206240"/>
            <a:ext cx="2286000" cy="731520"/>
          </a:xfrm>
          <a:prstGeom prst="rect">
            <a:avLst/>
          </a:prstGeom>
          <a:noFill/>
          <a:ln/>
        </p:spPr>
        <p:txBody>
          <a:bodyPr wrap="square" lIns="0" tIns="0" rIns="0" bIns="0" rtlCol="0" anchor="ctr"/>
          <a:lstStyle/>
          <a:p>
            <a:pPr indent="0" marL="0">
              <a:buNone/>
            </a:pPr>
            <a:r>
              <a:rPr lang="en-US" sz="2400" b="1" dirty="0">
                <a:solidFill>
                  <a:schemeClr val="accent4"/>
                </a:solidFill>
              </a:rPr>
              <a:t>품질지수 10/10</a:t>
            </a:r>
            <a:endParaRPr lang="en-US" sz="2400" dirty="0"/>
          </a:p>
        </p:txBody>
      </p:sp>
      <p:sp>
        <p:nvSpPr>
          <p:cNvPr id="11" name="Text 8"/>
          <p:cNvSpPr txBox="1"/>
          <p:nvPr/>
        </p:nvSpPr>
        <p:spPr>
          <a:xfrm>
            <a:off x="3611880" y="4983480"/>
            <a:ext cx="2286000" cy="731520"/>
          </a:xfrm>
          <a:prstGeom prst="rect">
            <a:avLst/>
          </a:prstGeom>
          <a:noFill/>
          <a:ln/>
        </p:spPr>
        <p:txBody>
          <a:bodyPr wrap="square" lIns="0" tIns="0" rIns="0" bIns="0" rtlCol="0" anchor="t"/>
          <a:lstStyle/>
          <a:p>
            <a:pPr indent="0" marL="0">
              <a:buNone/>
            </a:pPr>
            <a:r>
              <a:rPr lang="en-US" sz="1400" dirty="0">
                <a:solidFill>
                  <a:schemeClr val="tx1"/>
                </a:solidFill>
              </a:rPr>
              <a:t>광고 품질은 만점.</a:t>
            </a:r>
            <a:endParaRPr lang="en-US" sz="1400" dirty="0"/>
          </a:p>
          <a:p>
            <a:pPr indent="0" marL="0">
              <a:buNone/>
            </a:pPr>
            <a:r>
              <a:rPr lang="en-US" sz="1400" dirty="0">
                <a:solidFill>
                  <a:schemeClr val="tx1"/>
                </a:solidFill>
              </a:rPr>
              <a:t>원인은 경쟁 입찰과 이름 충돌</a:t>
            </a:r>
            <a:endParaRPr lang="en-US" sz="1400" dirty="0"/>
          </a:p>
        </p:txBody>
      </p:sp>
      <p:sp>
        <p:nvSpPr>
          <p:cNvPr id="12" name="Text 9"/>
          <p:cNvSpPr txBox="1"/>
          <p:nvPr/>
        </p:nvSpPr>
        <p:spPr>
          <a:xfrm>
            <a:off x="6492240" y="1554480"/>
            <a:ext cx="5150815" cy="320040"/>
          </a:xfrm>
          <a:prstGeom prst="rect">
            <a:avLst/>
          </a:prstGeom>
          <a:noFill/>
          <a:ln/>
        </p:spPr>
        <p:txBody>
          <a:bodyPr wrap="square" lIns="0" tIns="0" rIns="0" bIns="0" rtlCol="0" anchor="t"/>
          <a:lstStyle/>
          <a:p>
            <a:pPr indent="0" marL="0">
              <a:buNone/>
            </a:pPr>
            <a:r>
              <a:rPr lang="en-US" sz="1600" b="1" dirty="0">
                <a:solidFill>
                  <a:schemeClr val="tx1"/>
                </a:solidFill>
              </a:rPr>
              <a:t>검색어 단위로 보면 두 갈래입니다</a:t>
            </a:r>
            <a:endParaRPr lang="en-US" sz="1600" dirty="0"/>
          </a:p>
        </p:txBody>
      </p:sp>
      <p:sp>
        <p:nvSpPr>
          <p:cNvPr id="13" name="Shape 10"/>
          <p:cNvSpPr/>
          <p:nvPr/>
        </p:nvSpPr>
        <p:spPr>
          <a:xfrm>
            <a:off x="6492240" y="2011680"/>
            <a:ext cx="5150815" cy="1874520"/>
          </a:xfrm>
          <a:prstGeom prst="roundRect">
            <a:avLst>
              <a:gd name="adj" fmla="val 5854"/>
            </a:avLst>
          </a:prstGeom>
          <a:solidFill>
            <a:schemeClr val="bg2"/>
          </a:solidFill>
          <a:ln/>
        </p:spPr>
      </p:sp>
      <p:sp>
        <p:nvSpPr>
          <p:cNvPr id="14" name="Text 11"/>
          <p:cNvSpPr txBox="1"/>
          <p:nvPr/>
        </p:nvSpPr>
        <p:spPr>
          <a:xfrm>
            <a:off x="6766560" y="2194560"/>
            <a:ext cx="4602175" cy="365760"/>
          </a:xfrm>
          <a:prstGeom prst="rect">
            <a:avLst/>
          </a:prstGeom>
          <a:noFill/>
          <a:ln/>
        </p:spPr>
        <p:txBody>
          <a:bodyPr wrap="square" lIns="0" tIns="0" rIns="0" bIns="0" rtlCol="0" anchor="t"/>
          <a:lstStyle/>
          <a:p>
            <a:pPr indent="0" marL="0">
              <a:buNone/>
            </a:pPr>
            <a:r>
              <a:rPr lang="en-US" sz="1600" b="1" dirty="0">
                <a:solidFill>
                  <a:schemeClr val="tx1"/>
                </a:solidFill>
              </a:rPr>
              <a:t>'올라잇그린' 자체</a:t>
            </a:r>
            <a:endParaRPr lang="en-US" sz="1600" dirty="0"/>
          </a:p>
        </p:txBody>
      </p:sp>
      <p:sp>
        <p:nvSpPr>
          <p:cNvPr id="15" name="Text 12"/>
          <p:cNvSpPr txBox="1"/>
          <p:nvPr/>
        </p:nvSpPr>
        <p:spPr>
          <a:xfrm>
            <a:off x="6766560" y="2606040"/>
            <a:ext cx="2103120" cy="502920"/>
          </a:xfrm>
          <a:prstGeom prst="rect">
            <a:avLst/>
          </a:prstGeom>
          <a:noFill/>
          <a:ln/>
        </p:spPr>
        <p:txBody>
          <a:bodyPr wrap="square" lIns="0" tIns="0" rIns="0" bIns="0" rtlCol="0" anchor="ctr"/>
          <a:lstStyle/>
          <a:p>
            <a:pPr indent="0" marL="0">
              <a:buNone/>
            </a:pPr>
            <a:r>
              <a:rPr lang="en-US" sz="2600" b="1" dirty="0">
                <a:solidFill>
                  <a:schemeClr val="tx2"/>
                </a:solidFill>
              </a:rPr>
              <a:t>22.3%</a:t>
            </a:r>
            <a:endParaRPr lang="en-US" sz="2600" dirty="0"/>
          </a:p>
        </p:txBody>
      </p:sp>
      <p:sp>
        <p:nvSpPr>
          <p:cNvPr id="16" name="Text 13"/>
          <p:cNvSpPr txBox="1"/>
          <p:nvPr/>
        </p:nvSpPr>
        <p:spPr>
          <a:xfrm>
            <a:off x="6766560" y="3108960"/>
            <a:ext cx="2103120" cy="256032"/>
          </a:xfrm>
          <a:prstGeom prst="rect">
            <a:avLst/>
          </a:prstGeom>
          <a:noFill/>
          <a:ln/>
        </p:spPr>
        <p:txBody>
          <a:bodyPr wrap="square" lIns="0" tIns="0" rIns="0" bIns="0" rtlCol="0" anchor="t"/>
          <a:lstStyle/>
          <a:p>
            <a:pPr indent="0" marL="0">
              <a:buNone/>
            </a:pPr>
            <a:r>
              <a:rPr lang="en-US" sz="1200" dirty="0">
                <a:solidFill>
                  <a:schemeClr val="accent2"/>
                </a:solidFill>
              </a:rPr>
              <a:t>클릭률 (양호)</a:t>
            </a:r>
            <a:endParaRPr lang="en-US" sz="1200" dirty="0"/>
          </a:p>
        </p:txBody>
      </p:sp>
      <p:sp>
        <p:nvSpPr>
          <p:cNvPr id="17" name="Text 14"/>
          <p:cNvSpPr txBox="1"/>
          <p:nvPr/>
        </p:nvSpPr>
        <p:spPr>
          <a:xfrm>
            <a:off x="8961120" y="2606040"/>
            <a:ext cx="2103120" cy="502920"/>
          </a:xfrm>
          <a:prstGeom prst="rect">
            <a:avLst/>
          </a:prstGeom>
          <a:noFill/>
          <a:ln/>
        </p:spPr>
        <p:txBody>
          <a:bodyPr wrap="square" lIns="0" tIns="0" rIns="0" bIns="0" rtlCol="0" anchor="ctr"/>
          <a:lstStyle/>
          <a:p>
            <a:pPr indent="0" marL="0">
              <a:buNone/>
            </a:pPr>
            <a:r>
              <a:rPr lang="en-US" sz="2600" b="1" dirty="0">
                <a:solidFill>
                  <a:schemeClr val="tx2"/>
                </a:solidFill>
              </a:rPr>
              <a:t>407원</a:t>
            </a:r>
            <a:endParaRPr lang="en-US" sz="2600" dirty="0"/>
          </a:p>
        </p:txBody>
      </p:sp>
      <p:sp>
        <p:nvSpPr>
          <p:cNvPr id="18" name="Text 15"/>
          <p:cNvSpPr txBox="1"/>
          <p:nvPr/>
        </p:nvSpPr>
        <p:spPr>
          <a:xfrm>
            <a:off x="8961120" y="3108960"/>
            <a:ext cx="2103120" cy="256032"/>
          </a:xfrm>
          <a:prstGeom prst="rect">
            <a:avLst/>
          </a:prstGeom>
          <a:noFill/>
          <a:ln/>
        </p:spPr>
        <p:txBody>
          <a:bodyPr wrap="square" lIns="0" tIns="0" rIns="0" bIns="0" rtlCol="0" anchor="t"/>
          <a:lstStyle/>
          <a:p>
            <a:pPr indent="0" marL="0">
              <a:buNone/>
            </a:pPr>
            <a:r>
              <a:rPr lang="en-US" sz="1200" dirty="0">
                <a:solidFill>
                  <a:schemeClr val="accent2"/>
                </a:solidFill>
              </a:rPr>
              <a:t>클릭당 비용</a:t>
            </a:r>
            <a:endParaRPr lang="en-US" sz="1200" dirty="0"/>
          </a:p>
        </p:txBody>
      </p:sp>
      <p:sp>
        <p:nvSpPr>
          <p:cNvPr id="19" name="Text 16"/>
          <p:cNvSpPr txBox="1"/>
          <p:nvPr/>
        </p:nvSpPr>
        <p:spPr>
          <a:xfrm>
            <a:off x="6766560" y="3429000"/>
            <a:ext cx="4602175" cy="320040"/>
          </a:xfrm>
          <a:prstGeom prst="rect">
            <a:avLst/>
          </a:prstGeom>
          <a:noFill/>
          <a:ln/>
        </p:spPr>
        <p:txBody>
          <a:bodyPr wrap="square" lIns="0" tIns="0" rIns="0" bIns="0" rtlCol="0" anchor="t"/>
          <a:lstStyle/>
          <a:p>
            <a:pPr indent="0" marL="0">
              <a:buNone/>
            </a:pPr>
            <a:r>
              <a:rPr lang="en-US" sz="1400" b="1" dirty="0">
                <a:solidFill>
                  <a:schemeClr val="accent1"/>
                </a:solidFill>
              </a:rPr>
              <a:t>→ 타사 비오틴 제품 '올라잇' 셀러와 입찰 경쟁</a:t>
            </a:r>
            <a:endParaRPr lang="en-US" sz="1400" dirty="0"/>
          </a:p>
        </p:txBody>
      </p:sp>
      <p:sp>
        <p:nvSpPr>
          <p:cNvPr id="20" name="Shape 17"/>
          <p:cNvSpPr/>
          <p:nvPr/>
        </p:nvSpPr>
        <p:spPr>
          <a:xfrm>
            <a:off x="6492240" y="4023360"/>
            <a:ext cx="5150815" cy="1874520"/>
          </a:xfrm>
          <a:prstGeom prst="roundRect">
            <a:avLst>
              <a:gd name="adj" fmla="val 5854"/>
            </a:avLst>
          </a:prstGeom>
          <a:solidFill>
            <a:schemeClr val="bg2"/>
          </a:solidFill>
          <a:ln/>
        </p:spPr>
      </p:sp>
      <p:sp>
        <p:nvSpPr>
          <p:cNvPr id="21" name="Text 18"/>
          <p:cNvSpPr txBox="1"/>
          <p:nvPr/>
        </p:nvSpPr>
        <p:spPr>
          <a:xfrm>
            <a:off x="6766560" y="4206240"/>
            <a:ext cx="4602175" cy="365760"/>
          </a:xfrm>
          <a:prstGeom prst="rect">
            <a:avLst/>
          </a:prstGeom>
          <a:noFill/>
          <a:ln/>
        </p:spPr>
        <p:txBody>
          <a:bodyPr wrap="square" lIns="0" tIns="0" rIns="0" bIns="0" rtlCol="0" anchor="t"/>
          <a:lstStyle/>
          <a:p>
            <a:pPr indent="0" marL="0">
              <a:buNone/>
            </a:pPr>
            <a:r>
              <a:rPr lang="en-US" sz="1600" b="1" dirty="0">
                <a:solidFill>
                  <a:schemeClr val="tx1"/>
                </a:solidFill>
              </a:rPr>
              <a:t>'올라잇' 단독</a:t>
            </a:r>
            <a:endParaRPr lang="en-US" sz="1600" dirty="0"/>
          </a:p>
        </p:txBody>
      </p:sp>
      <p:sp>
        <p:nvSpPr>
          <p:cNvPr id="22" name="Text 19"/>
          <p:cNvSpPr txBox="1"/>
          <p:nvPr/>
        </p:nvSpPr>
        <p:spPr>
          <a:xfrm>
            <a:off x="6766560" y="4617720"/>
            <a:ext cx="2103120" cy="502920"/>
          </a:xfrm>
          <a:prstGeom prst="rect">
            <a:avLst/>
          </a:prstGeom>
          <a:noFill/>
          <a:ln/>
        </p:spPr>
        <p:txBody>
          <a:bodyPr wrap="square" lIns="0" tIns="0" rIns="0" bIns="0" rtlCol="0" anchor="ctr"/>
          <a:lstStyle/>
          <a:p>
            <a:pPr indent="0" marL="0">
              <a:buNone/>
            </a:pPr>
            <a:r>
              <a:rPr lang="en-US" sz="2600" b="1" dirty="0">
                <a:solidFill>
                  <a:schemeClr val="tx2"/>
                </a:solidFill>
              </a:rPr>
              <a:t>7,456회</a:t>
            </a:r>
            <a:endParaRPr lang="en-US" sz="2600" dirty="0"/>
          </a:p>
        </p:txBody>
      </p:sp>
      <p:sp>
        <p:nvSpPr>
          <p:cNvPr id="23" name="Text 20"/>
          <p:cNvSpPr txBox="1"/>
          <p:nvPr/>
        </p:nvSpPr>
        <p:spPr>
          <a:xfrm>
            <a:off x="6766560" y="5120640"/>
            <a:ext cx="2103120" cy="256032"/>
          </a:xfrm>
          <a:prstGeom prst="rect">
            <a:avLst/>
          </a:prstGeom>
          <a:noFill/>
          <a:ln/>
        </p:spPr>
        <p:txBody>
          <a:bodyPr wrap="square" lIns="0" tIns="0" rIns="0" bIns="0" rtlCol="0" anchor="t"/>
          <a:lstStyle/>
          <a:p>
            <a:pPr indent="0" marL="0">
              <a:buNone/>
            </a:pPr>
            <a:r>
              <a:rPr lang="en-US" sz="1200" dirty="0">
                <a:solidFill>
                  <a:schemeClr val="accent2"/>
                </a:solidFill>
              </a:rPr>
              <a:t>노출</a:t>
            </a:r>
            <a:endParaRPr lang="en-US" sz="1200" dirty="0"/>
          </a:p>
        </p:txBody>
      </p:sp>
      <p:sp>
        <p:nvSpPr>
          <p:cNvPr id="24" name="Text 21"/>
          <p:cNvSpPr txBox="1"/>
          <p:nvPr/>
        </p:nvSpPr>
        <p:spPr>
          <a:xfrm>
            <a:off x="8961120" y="4617720"/>
            <a:ext cx="2103120" cy="502920"/>
          </a:xfrm>
          <a:prstGeom prst="rect">
            <a:avLst/>
          </a:prstGeom>
          <a:noFill/>
          <a:ln/>
        </p:spPr>
        <p:txBody>
          <a:bodyPr wrap="square" lIns="0" tIns="0" rIns="0" bIns="0" rtlCol="0" anchor="ctr"/>
          <a:lstStyle/>
          <a:p>
            <a:pPr indent="0" marL="0">
              <a:buNone/>
            </a:pPr>
            <a:r>
              <a:rPr lang="en-US" sz="2600" b="1" dirty="0">
                <a:solidFill>
                  <a:schemeClr val="tx2"/>
                </a:solidFill>
              </a:rPr>
              <a:t>2.0%</a:t>
            </a:r>
            <a:endParaRPr lang="en-US" sz="2600" dirty="0"/>
          </a:p>
        </p:txBody>
      </p:sp>
      <p:sp>
        <p:nvSpPr>
          <p:cNvPr id="25" name="Text 22"/>
          <p:cNvSpPr txBox="1"/>
          <p:nvPr/>
        </p:nvSpPr>
        <p:spPr>
          <a:xfrm>
            <a:off x="8961120" y="5120640"/>
            <a:ext cx="2103120" cy="256032"/>
          </a:xfrm>
          <a:prstGeom prst="rect">
            <a:avLst/>
          </a:prstGeom>
          <a:noFill/>
          <a:ln/>
        </p:spPr>
        <p:txBody>
          <a:bodyPr wrap="square" lIns="0" tIns="0" rIns="0" bIns="0" rtlCol="0" anchor="t"/>
          <a:lstStyle/>
          <a:p>
            <a:pPr indent="0" marL="0">
              <a:buNone/>
            </a:pPr>
            <a:r>
              <a:rPr lang="en-US" sz="1200" dirty="0">
                <a:solidFill>
                  <a:schemeClr val="accent2"/>
                </a:solidFill>
              </a:rPr>
              <a:t>클릭률</a:t>
            </a:r>
            <a:endParaRPr lang="en-US" sz="1200" dirty="0"/>
          </a:p>
        </p:txBody>
      </p:sp>
      <p:sp>
        <p:nvSpPr>
          <p:cNvPr id="26" name="Text 23"/>
          <p:cNvSpPr txBox="1"/>
          <p:nvPr/>
        </p:nvSpPr>
        <p:spPr>
          <a:xfrm>
            <a:off x="6766560" y="5440680"/>
            <a:ext cx="4602175" cy="320040"/>
          </a:xfrm>
          <a:prstGeom prst="rect">
            <a:avLst/>
          </a:prstGeom>
          <a:noFill/>
          <a:ln/>
        </p:spPr>
        <p:txBody>
          <a:bodyPr wrap="square" lIns="0" tIns="0" rIns="0" bIns="0" rtlCol="0" anchor="t"/>
          <a:lstStyle/>
          <a:p>
            <a:pPr indent="0" marL="0">
              <a:buNone/>
            </a:pPr>
            <a:r>
              <a:rPr lang="en-US" sz="1400" b="1" dirty="0">
                <a:solidFill>
                  <a:schemeClr val="accent1"/>
                </a:solidFill>
              </a:rPr>
              <a:t>→ 그룹 평균 클릭률을 끌어내림</a:t>
            </a:r>
            <a:endParaRPr lang="en-US" sz="14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02  검색광고</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'올라잇그린' 검색 결과 상단은 다른 회사 제품입니다</a:t>
            </a:r>
            <a:endParaRPr lang="en-US" sz="2800" dirty="0"/>
          </a:p>
        </p:txBody>
      </p:sp>
      <p:pic>
        <p:nvPicPr>
          <p:cNvPr id="4" name="Image 0" descr="통합검색: 타사 비오틴 제품 '올라잇' 셀러(지혜홈쿡·미쁘다) 광고가 공식 광고보다 위에 노출">    </p:cNvPr>
          <p:cNvPicPr>
            <a:picLocks noChangeAspect="1"/>
          </p:cNvPicPr>
          <p:nvPr/>
        </p:nvPicPr>
        <p:blipFill>
          <a:blip r:embed="rId1"/>
          <a:stretch>
            <a:fillRect/>
          </a:stretch>
        </p:blipFill>
        <p:spPr>
          <a:xfrm>
            <a:off x="548640" y="1554480"/>
            <a:ext cx="3503328" cy="3429000"/>
          </a:xfrm>
          <a:prstGeom prst="rect">
            <a:avLst/>
          </a:prstGeom>
        </p:spPr>
      </p:pic>
      <p:sp>
        <p:nvSpPr>
          <p:cNvPr id="5" name="Shape 2"/>
          <p:cNvSpPr/>
          <p:nvPr/>
        </p:nvSpPr>
        <p:spPr>
          <a:xfrm>
            <a:off x="548640" y="1554480"/>
            <a:ext cx="3503328" cy="3429000"/>
          </a:xfrm>
          <a:prstGeom prst="rect">
            <a:avLst/>
          </a:prstGeom>
          <a:ln w="9525">
            <a:solidFill>
              <a:srgbClr val="D1D6DB"/>
            </a:solidFill>
            <a:prstDash val="solid"/>
          </a:ln>
        </p:spPr>
      </p:sp>
      <p:sp>
        <p:nvSpPr>
          <p:cNvPr id="6" name="Shape 3"/>
          <p:cNvSpPr/>
          <p:nvPr/>
        </p:nvSpPr>
        <p:spPr>
          <a:xfrm>
            <a:off x="438912" y="1444752"/>
            <a:ext cx="347472" cy="347472"/>
          </a:xfrm>
          <a:prstGeom prst="ellipse">
            <a:avLst/>
          </a:prstGeom>
          <a:solidFill>
            <a:schemeClr val="accent1"/>
          </a:solidFill>
          <a:ln/>
        </p:spPr>
      </p:sp>
      <p:sp>
        <p:nvSpPr>
          <p:cNvPr id="7" name="Text 4"/>
          <p:cNvSpPr txBox="1"/>
          <p:nvPr/>
        </p:nvSpPr>
        <p:spPr>
          <a:xfrm>
            <a:off x="438912" y="144475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5"/>
          <p:cNvSpPr txBox="1"/>
          <p:nvPr/>
        </p:nvSpPr>
        <p:spPr>
          <a:xfrm>
            <a:off x="548640" y="5120640"/>
            <a:ext cx="3503328" cy="914400"/>
          </a:xfrm>
          <a:prstGeom prst="rect">
            <a:avLst/>
          </a:prstGeom>
          <a:noFill/>
          <a:ln/>
        </p:spPr>
        <p:txBody>
          <a:bodyPr wrap="square" lIns="0" tIns="0" rIns="0" bIns="0" rtlCol="0" anchor="t"/>
          <a:lstStyle/>
          <a:p>
            <a:pPr indent="0" marL="0">
              <a:buNone/>
            </a:pPr>
            <a:r>
              <a:rPr lang="en-US" sz="1200" dirty="0">
                <a:solidFill>
                  <a:schemeClr val="accent2"/>
                </a:solidFill>
              </a:rPr>
              <a:t>통합검색: 타사 비오틴 제품 '올라잇' 셀러(지혜홈쿡·미쁘다) 광고가 공식 광고보다 위에 노출</a:t>
            </a:r>
            <a:endParaRPr lang="en-US" sz="1200" dirty="0"/>
          </a:p>
        </p:txBody>
      </p:sp>
      <p:pic>
        <p:nvPicPr>
          <p:cNvPr id="9" name="Image 1" descr="쇼핑검색: 상단은 올라잇뷰티의 왁싱 제품. 공식 브랜드 그룹 평균 4.6위">    </p:cNvPr>
          <p:cNvPicPr>
            <a:picLocks noChangeAspect="1"/>
          </p:cNvPicPr>
          <p:nvPr/>
        </p:nvPicPr>
        <p:blipFill>
          <a:blip r:embed="rId2"/>
          <a:stretch>
            <a:fillRect/>
          </a:stretch>
        </p:blipFill>
        <p:spPr>
          <a:xfrm>
            <a:off x="5063648" y="1554480"/>
            <a:ext cx="1863306" cy="3429000"/>
          </a:xfrm>
          <a:prstGeom prst="rect">
            <a:avLst/>
          </a:prstGeom>
        </p:spPr>
      </p:pic>
      <p:sp>
        <p:nvSpPr>
          <p:cNvPr id="10" name="Shape 6"/>
          <p:cNvSpPr/>
          <p:nvPr/>
        </p:nvSpPr>
        <p:spPr>
          <a:xfrm>
            <a:off x="5063648" y="1554480"/>
            <a:ext cx="1863306" cy="3429000"/>
          </a:xfrm>
          <a:prstGeom prst="rect">
            <a:avLst/>
          </a:prstGeom>
          <a:ln w="9525">
            <a:solidFill>
              <a:srgbClr val="D1D6DB"/>
            </a:solidFill>
            <a:prstDash val="solid"/>
          </a:ln>
        </p:spPr>
      </p:sp>
      <p:sp>
        <p:nvSpPr>
          <p:cNvPr id="11" name="Shape 7"/>
          <p:cNvSpPr/>
          <p:nvPr/>
        </p:nvSpPr>
        <p:spPr>
          <a:xfrm>
            <a:off x="4953920" y="1444752"/>
            <a:ext cx="347472" cy="347472"/>
          </a:xfrm>
          <a:prstGeom prst="ellipse">
            <a:avLst/>
          </a:prstGeom>
          <a:solidFill>
            <a:schemeClr val="accent1"/>
          </a:solidFill>
          <a:ln/>
        </p:spPr>
      </p:sp>
      <p:sp>
        <p:nvSpPr>
          <p:cNvPr id="12" name="Text 8"/>
          <p:cNvSpPr txBox="1"/>
          <p:nvPr/>
        </p:nvSpPr>
        <p:spPr>
          <a:xfrm>
            <a:off x="4953920" y="144475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9"/>
          <p:cNvSpPr txBox="1"/>
          <p:nvPr/>
        </p:nvSpPr>
        <p:spPr>
          <a:xfrm>
            <a:off x="5063648" y="5120640"/>
            <a:ext cx="2103120" cy="914400"/>
          </a:xfrm>
          <a:prstGeom prst="rect">
            <a:avLst/>
          </a:prstGeom>
          <a:noFill/>
          <a:ln/>
        </p:spPr>
        <p:txBody>
          <a:bodyPr wrap="square" lIns="0" tIns="0" rIns="0" bIns="0" rtlCol="0" anchor="t"/>
          <a:lstStyle/>
          <a:p>
            <a:pPr indent="0" marL="0">
              <a:buNone/>
            </a:pPr>
            <a:r>
              <a:rPr lang="en-US" sz="1200" dirty="0">
                <a:solidFill>
                  <a:schemeClr val="accent2"/>
                </a:solidFill>
              </a:rPr>
              <a:t>쇼핑검색: 상단은 올라잇뷰티의 왁싱 제품. 공식 브랜드 그룹 평균 4.6위</a:t>
            </a:r>
            <a:endParaRPr lang="en-US" sz="1200" dirty="0"/>
          </a:p>
        </p:txBody>
      </p:sp>
      <p:pic>
        <p:nvPicPr>
          <p:cNvPr id="14" name="Image 2" descr="확장소재: 추가홍보문구가 맛·성분 위주라 제품군이 드러나지 않음. 옆 셀러는 '본품 증정' 이벤트 노출">    </p:cNvPr>
          <p:cNvPicPr>
            <a:picLocks noChangeAspect="1"/>
          </p:cNvPicPr>
          <p:nvPr/>
        </p:nvPicPr>
        <p:blipFill>
          <a:blip r:embed="rId3"/>
          <a:stretch>
            <a:fillRect/>
          </a:stretch>
        </p:blipFill>
        <p:spPr>
          <a:xfrm>
            <a:off x="7938634" y="1554480"/>
            <a:ext cx="3704422" cy="3429000"/>
          </a:xfrm>
          <a:prstGeom prst="rect">
            <a:avLst/>
          </a:prstGeom>
        </p:spPr>
      </p:pic>
      <p:sp>
        <p:nvSpPr>
          <p:cNvPr id="15" name="Shape 10"/>
          <p:cNvSpPr/>
          <p:nvPr/>
        </p:nvSpPr>
        <p:spPr>
          <a:xfrm>
            <a:off x="7938634" y="1554480"/>
            <a:ext cx="3704422" cy="3429000"/>
          </a:xfrm>
          <a:prstGeom prst="rect">
            <a:avLst/>
          </a:prstGeom>
          <a:ln w="9525">
            <a:solidFill>
              <a:srgbClr val="D1D6DB"/>
            </a:solidFill>
            <a:prstDash val="solid"/>
          </a:ln>
        </p:spPr>
      </p:sp>
      <p:sp>
        <p:nvSpPr>
          <p:cNvPr id="16" name="Shape 11"/>
          <p:cNvSpPr/>
          <p:nvPr/>
        </p:nvSpPr>
        <p:spPr>
          <a:xfrm>
            <a:off x="7828906" y="1444752"/>
            <a:ext cx="347472" cy="347472"/>
          </a:xfrm>
          <a:prstGeom prst="ellipse">
            <a:avLst/>
          </a:prstGeom>
          <a:solidFill>
            <a:schemeClr val="accent1"/>
          </a:solidFill>
          <a:ln/>
        </p:spPr>
      </p:sp>
      <p:sp>
        <p:nvSpPr>
          <p:cNvPr id="17" name="Text 12"/>
          <p:cNvSpPr txBox="1"/>
          <p:nvPr/>
        </p:nvSpPr>
        <p:spPr>
          <a:xfrm>
            <a:off x="7828906" y="144475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3"/>
          <p:cNvSpPr txBox="1"/>
          <p:nvPr/>
        </p:nvSpPr>
        <p:spPr>
          <a:xfrm>
            <a:off x="7938634" y="5120640"/>
            <a:ext cx="3704422" cy="914400"/>
          </a:xfrm>
          <a:prstGeom prst="rect">
            <a:avLst/>
          </a:prstGeom>
          <a:noFill/>
          <a:ln/>
        </p:spPr>
        <p:txBody>
          <a:bodyPr wrap="square" lIns="0" tIns="0" rIns="0" bIns="0" rtlCol="0" anchor="t"/>
          <a:lstStyle/>
          <a:p>
            <a:pPr indent="0" marL="0">
              <a:buNone/>
            </a:pPr>
            <a:r>
              <a:rPr lang="en-US" sz="1200" dirty="0">
                <a:solidFill>
                  <a:schemeClr val="accent2"/>
                </a:solidFill>
              </a:rPr>
              <a:t>확장소재: 추가홍보문구가 맛·성분 위주라 제품군이 드러나지 않음. 옆 셀러는 '본품 증정' 이벤트 노출</a:t>
            </a:r>
            <a:endParaRPr lang="en-US" sz="12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02  검색광고</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검색어 7,602개가 들어오는데 제외키워드는 0개입니다</a:t>
            </a:r>
            <a:endParaRPr lang="en-US" sz="2800" dirty="0"/>
          </a:p>
        </p:txBody>
      </p:sp>
      <p:sp>
        <p:nvSpPr>
          <p:cNvPr id="4" name="Shape 2"/>
          <p:cNvSpPr/>
          <p:nvPr/>
        </p:nvSpPr>
        <p:spPr>
          <a:xfrm>
            <a:off x="548640" y="1554480"/>
            <a:ext cx="3566160" cy="3886200"/>
          </a:xfrm>
          <a:prstGeom prst="roundRect">
            <a:avLst>
              <a:gd name="adj" fmla="val 3077"/>
            </a:avLst>
          </a:prstGeom>
          <a:solidFill>
            <a:schemeClr val="tx2"/>
          </a:solidFill>
          <a:ln/>
        </p:spPr>
      </p:sp>
      <p:sp>
        <p:nvSpPr>
          <p:cNvPr id="5" name="Text 3"/>
          <p:cNvSpPr txBox="1"/>
          <p:nvPr/>
        </p:nvSpPr>
        <p:spPr>
          <a:xfrm>
            <a:off x="822960" y="1828800"/>
            <a:ext cx="3017520" cy="320040"/>
          </a:xfrm>
          <a:prstGeom prst="rect">
            <a:avLst/>
          </a:prstGeom>
          <a:noFill/>
          <a:ln/>
        </p:spPr>
        <p:txBody>
          <a:bodyPr wrap="square" lIns="0" tIns="0" rIns="0" bIns="0" rtlCol="0" anchor="t"/>
          <a:lstStyle/>
          <a:p>
            <a:pPr indent="0" marL="0">
              <a:buNone/>
            </a:pPr>
            <a:r>
              <a:rPr lang="en-US" sz="1500" dirty="0">
                <a:solidFill>
                  <a:schemeClr val="bg1"/>
                </a:solidFill>
              </a:rPr>
              <a:t>등록된 제외키워드</a:t>
            </a:r>
            <a:endParaRPr lang="en-US" sz="1500" dirty="0"/>
          </a:p>
        </p:txBody>
      </p:sp>
      <p:sp>
        <p:nvSpPr>
          <p:cNvPr id="6" name="Text 4"/>
          <p:cNvSpPr txBox="1"/>
          <p:nvPr/>
        </p:nvSpPr>
        <p:spPr>
          <a:xfrm>
            <a:off x="822960" y="2194560"/>
            <a:ext cx="3017520" cy="1005840"/>
          </a:xfrm>
          <a:prstGeom prst="rect">
            <a:avLst/>
          </a:prstGeom>
          <a:noFill/>
          <a:ln/>
        </p:spPr>
        <p:txBody>
          <a:bodyPr wrap="square" lIns="0" tIns="0" rIns="0" bIns="0" rtlCol="0" anchor="ctr"/>
          <a:lstStyle/>
          <a:p>
            <a:pPr indent="0" marL="0">
              <a:buNone/>
            </a:pPr>
            <a:r>
              <a:rPr lang="en-US" sz="6000" b="1" dirty="0">
                <a:solidFill>
                  <a:schemeClr val="bg1"/>
                </a:solidFill>
              </a:rPr>
              <a:t>0개</a:t>
            </a:r>
            <a:endParaRPr lang="en-US" sz="6000" dirty="0"/>
          </a:p>
        </p:txBody>
      </p:sp>
      <p:sp>
        <p:nvSpPr>
          <p:cNvPr id="7" name="Text 5"/>
          <p:cNvSpPr txBox="1"/>
          <p:nvPr/>
        </p:nvSpPr>
        <p:spPr>
          <a:xfrm>
            <a:off x="822960" y="3337560"/>
            <a:ext cx="3017520" cy="822960"/>
          </a:xfrm>
          <a:prstGeom prst="rect">
            <a:avLst/>
          </a:prstGeom>
          <a:noFill/>
          <a:ln/>
        </p:spPr>
        <p:txBody>
          <a:bodyPr wrap="square" lIns="0" tIns="0" rIns="0" bIns="0" rtlCol="0" anchor="t"/>
          <a:lstStyle/>
          <a:p>
            <a:pPr indent="0" marL="0">
              <a:buNone/>
            </a:pPr>
            <a:r>
              <a:rPr lang="en-US" sz="1400" dirty="0">
                <a:solidFill>
                  <a:schemeClr val="bg1"/>
                </a:solidFill>
              </a:rPr>
              <a:t>3개월간 들어온 서로 다른 검색어</a:t>
            </a:r>
            <a:endParaRPr lang="en-US" sz="1400" dirty="0"/>
          </a:p>
          <a:p>
            <a:pPr indent="0" marL="0">
              <a:buNone/>
            </a:pPr>
            <a:r>
              <a:rPr lang="en-US" sz="2600" b="1" dirty="0">
                <a:solidFill>
                  <a:schemeClr val="bg1"/>
                </a:solidFill>
              </a:rPr>
              <a:t>7,602개</a:t>
            </a:r>
            <a:endParaRPr lang="en-US" sz="1400" dirty="0"/>
          </a:p>
        </p:txBody>
      </p:sp>
      <p:sp>
        <p:nvSpPr>
          <p:cNvPr id="8" name="Text 6"/>
          <p:cNvSpPr txBox="1"/>
          <p:nvPr/>
        </p:nvSpPr>
        <p:spPr>
          <a:xfrm>
            <a:off x="822960" y="4297680"/>
            <a:ext cx="3017520" cy="1005840"/>
          </a:xfrm>
          <a:prstGeom prst="rect">
            <a:avLst/>
          </a:prstGeom>
          <a:noFill/>
          <a:ln/>
        </p:spPr>
        <p:txBody>
          <a:bodyPr wrap="square" lIns="0" tIns="0" rIns="0" bIns="0" rtlCol="0" anchor="t"/>
          <a:lstStyle/>
          <a:p>
            <a:pPr indent="0" marL="0">
              <a:buNone/>
            </a:pPr>
            <a:r>
              <a:rPr lang="en-US" sz="1300" dirty="0">
                <a:solidFill>
                  <a:schemeClr val="bg1"/>
                </a:solidFill>
              </a:rPr>
              <a:t>통영숙수 전복죽 캠페인에 타사 전복죽 브랜드(여수해적, 장우준 등), '닭죽', '떡볶이 밀키트'까지 유입</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389120" y="1554480"/>
          <a:ext cx="7253935" cy="914400"/>
        </p:xfrm>
        <a:graphic>
          <a:graphicData uri="http://schemas.openxmlformats.org/drawingml/2006/table">
            <a:tbl>
              <a:tblPr/>
              <a:tblGrid>
                <a:gridCol w="2926080"/>
                <a:gridCol w="1234440"/>
                <a:gridCol w="3090672"/>
              </a:tblGrid>
              <a:tr h="457200">
                <a:tc>
                  <a:txBody>
                    <a:bodyPr/>
                    <a:lstStyle/>
                    <a:p>
                      <a:pPr indent="0" marL="0">
                        <a:buNone/>
                      </a:pPr>
                      <a:r>
                        <a:rPr lang="en-US" sz="1400" b="1" dirty="0">
                          <a:solidFill>
                            <a:schemeClr val="bg1"/>
                          </a:solidFill>
                        </a:rPr>
                        <a:t>새는 곳</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3개월 비용</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내용</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457200">
                <a:tc>
                  <a:txBody>
                    <a:bodyPr/>
                    <a:lstStyle/>
                    <a:p>
                      <a:pPr indent="0" marL="0">
                        <a:buNone/>
                      </a:pPr>
                      <a:r>
                        <a:rPr lang="en-US" sz="1400" dirty="0">
                          <a:solidFill>
                            <a:srgbClr val="000000"/>
                          </a:solidFill>
                        </a:rPr>
                        <a:t>GFA 트래픽 목적 캠페인</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91만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ROAS 59%, 구매 16건</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400" dirty="0">
                          <a:solidFill>
                            <a:srgbClr val="000000"/>
                          </a:solidFill>
                        </a:rPr>
                        <a:t>GFA 19세 미만 노출</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57만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ROAS 143%</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400" dirty="0">
                          <a:solidFill>
                            <a:srgbClr val="000000"/>
                          </a:solidFill>
                        </a:rPr>
                        <a:t>GFA 스마트채널·커뮤니케이션 지면</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32만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ROAS 75% · 0%</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400" dirty="0">
                          <a:solidFill>
                            <a:srgbClr val="000000"/>
                          </a:solidFill>
                        </a:rPr>
                        <a:t>SA 콘텐츠 매체</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22만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클릭률 0.36%, ROAS 113%</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400" dirty="0">
                          <a:solidFill>
                            <a:srgbClr val="000000"/>
                          </a:solidFill>
                        </a:rPr>
                        <a:t>SA 구매 0건 검색어</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15만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395개 (측정 누락 캠페인 제외)</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57200">
                <a:tc>
                  <a:txBody>
                    <a:bodyPr/>
                    <a:lstStyle/>
                    <a:p>
                      <a:pPr indent="0" marL="0">
                        <a:buNone/>
                      </a:pPr>
                      <a:r>
                        <a:rPr lang="en-US" sz="1400" b="1" dirty="0">
                          <a:solidFill>
                            <a:srgbClr val="000000"/>
                          </a:solidFill>
                        </a:rPr>
                        <a:t>합계</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c>
                  <a:txBody>
                    <a:bodyPr/>
                    <a:lstStyle/>
                    <a:p>
                      <a:pPr algn="r" indent="0" marL="0">
                        <a:buNone/>
                      </a:pPr>
                      <a:r>
                        <a:rPr lang="en-US" sz="1400" b="1" dirty="0">
                          <a:solidFill>
                            <a:schemeClr val="accent1"/>
                          </a:solidFill>
                        </a:rPr>
                        <a:t>약 217만 원</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c>
                  <a:txBody>
                    <a:bodyPr/>
                    <a:lstStyle/>
                    <a:p>
                      <a:pPr indent="0" marL="0">
                        <a:buNone/>
                      </a:pPr>
                      <a:r>
                        <a:rPr lang="en-US" sz="1400" b="1" dirty="0">
                          <a:solidFill>
                            <a:schemeClr val="accent1"/>
                          </a:solidFill>
                        </a:rPr>
                        <a:t>월 약 70만 원 재배치 가능</a:t>
                      </a:r>
                      <a:endParaRPr lang="en-US" sz="1400" dirty="0"/>
                    </a:p>
                  </a:txBody>
                  <a:tcPr marL="109728" marR="109728" marT="36576" marB="36576"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bl>
          </a:graphicData>
        </a:graphic>
      </p:graphicFrame>
      <p:sp>
        <p:nvSpPr>
          <p:cNvPr id="10" name="Shape 7"/>
          <p:cNvSpPr/>
          <p:nvPr/>
        </p:nvSpPr>
        <p:spPr>
          <a:xfrm>
            <a:off x="548640" y="5577840"/>
            <a:ext cx="11094415" cy="457200"/>
          </a:xfrm>
          <a:prstGeom prst="roundRect">
            <a:avLst>
              <a:gd name="adj" fmla="val 24000"/>
            </a:avLst>
          </a:prstGeom>
          <a:solidFill>
            <a:schemeClr val="bg2"/>
          </a:solidFill>
          <a:ln/>
        </p:spPr>
      </p:sp>
      <p:sp>
        <p:nvSpPr>
          <p:cNvPr id="11" name="Text 8"/>
          <p:cNvSpPr txBox="1"/>
          <p:nvPr/>
        </p:nvSpPr>
        <p:spPr>
          <a:xfrm>
            <a:off x="777240" y="5577840"/>
            <a:ext cx="10637215" cy="457200"/>
          </a:xfrm>
          <a:prstGeom prst="rect">
            <a:avLst/>
          </a:prstGeom>
          <a:noFill/>
          <a:ln/>
        </p:spPr>
        <p:txBody>
          <a:bodyPr wrap="square" lIns="0" tIns="0" rIns="0" bIns="0" rtlCol="0" anchor="ctr"/>
          <a:lstStyle/>
          <a:p>
            <a:pPr indent="0" marL="0">
              <a:buNone/>
            </a:pPr>
            <a:r>
              <a:rPr lang="en-US" sz="1300" dirty="0">
                <a:solidFill>
                  <a:schemeClr val="accent2"/>
                </a:solidFill>
              </a:rPr>
              <a:t>GFA 소재 87개 중 51개 구매 0건, 8~9월 신규 소재 없음  ·  통영숙수 전복죽 15일, 물회 39일 만에 종료 (판단 데이터가 쌓이기 전 중단)</a:t>
            </a:r>
            <a:endParaRPr lang="en-US" sz="13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1188720" y="640080"/>
            <a:ext cx="9601200" cy="731520"/>
          </a:xfrm>
          <a:prstGeom prst="rect">
            <a:avLst/>
          </a:prstGeom>
          <a:noFill/>
          <a:ln/>
        </p:spPr>
        <p:txBody>
          <a:bodyPr wrap="square" lIns="0" tIns="0" rIns="0" bIns="0" rtlCol="0" anchor="ctr"/>
          <a:lstStyle/>
          <a:p>
            <a:pPr algn="l" indent="0" marL="0">
              <a:buNone/>
            </a:pPr>
            <a:r>
              <a:rPr lang="en-US" sz="3600" b="1" dirty="0">
                <a:solidFill>
                  <a:schemeClr val="bg1"/>
                </a:solidFill>
              </a:rPr>
              <a:t>03  GFA</a:t>
            </a:r>
            <a:endParaRPr lang="en-US" sz="3600" dirty="0"/>
          </a:p>
        </p:txBody>
      </p:sp>
      <p:sp>
        <p:nvSpPr>
          <p:cNvPr id="3" name="Text 1"/>
          <p:cNvSpPr txBox="1"/>
          <p:nvPr/>
        </p:nvSpPr>
        <p:spPr>
          <a:xfrm>
            <a:off x="1188720" y="1691640"/>
            <a:ext cx="9144000" cy="548640"/>
          </a:xfrm>
          <a:prstGeom prst="rect">
            <a:avLst/>
          </a:prstGeom>
          <a:noFill/>
          <a:ln/>
        </p:spPr>
        <p:txBody>
          <a:bodyPr wrap="square" lIns="0" tIns="0" rIns="0" bIns="0" rtlCol="0" anchor="t"/>
          <a:lstStyle/>
          <a:p>
            <a:pPr indent="0" marL="0">
              <a:buNone/>
            </a:pPr>
            <a:r>
              <a:rPr lang="en-US" sz="2600" dirty="0">
                <a:solidFill>
                  <a:schemeClr val="bg1"/>
                </a:solidFill>
              </a:rPr>
              <a:t>늘린 예산과 쪼개진 캠페인</a:t>
            </a:r>
            <a:endParaRPr lang="en-US" sz="2600" dirty="0"/>
          </a:p>
        </p:txBody>
      </p:sp>
      <p:sp>
        <p:nvSpPr>
          <p:cNvPr id="4" name="Text 2"/>
          <p:cNvSpPr txBox="1"/>
          <p:nvPr/>
        </p:nvSpPr>
        <p:spPr>
          <a:xfrm>
            <a:off x="1188720" y="2514600"/>
            <a:ext cx="9144000" cy="365760"/>
          </a:xfrm>
          <a:prstGeom prst="rect">
            <a:avLst/>
          </a:prstGeom>
          <a:noFill/>
          <a:ln/>
        </p:spPr>
        <p:txBody>
          <a:bodyPr wrap="square" lIns="0" tIns="0" rIns="0" bIns="0" rtlCol="0" anchor="t"/>
          <a:lstStyle/>
          <a:p>
            <a:pPr indent="0" marL="0">
              <a:buNone/>
            </a:pPr>
            <a:r>
              <a:rPr lang="en-US" sz="1600" dirty="0">
                <a:solidFill>
                  <a:schemeClr val="bg1"/>
                </a:solidFill>
              </a:rPr>
              <a:t>증액 후 효율 하락  ·  ADVoost 분할  ·  새 고객과 기존 고객 혼재</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03  GFA</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예산을 2.3배 늘린 뒤 ROAS가 4개월 연속 떨어졌습니다</a:t>
            </a:r>
            <a:endParaRPr lang="en-US" sz="2800" dirty="0"/>
          </a:p>
        </p:txBody>
      </p:sp>
      <p:graphicFrame>
        <p:nvGraphicFramePr>
          <p:cNvPr id="4" name="Chart 0" descr=""/>
          <p:cNvGraphicFramePr/>
          <p:nvPr/>
        </p:nvGraphicFramePr>
        <p:xfrm>
          <a:off x="457200" y="1554480"/>
          <a:ext cx="630936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440680"/>
            <a:ext cx="6035040" cy="274320"/>
          </a:xfrm>
          <a:prstGeom prst="rect">
            <a:avLst/>
          </a:prstGeom>
          <a:noFill/>
          <a:ln/>
        </p:spPr>
        <p:txBody>
          <a:bodyPr wrap="square" lIns="0" tIns="0" rIns="0" bIns="0" rtlCol="0" anchor="t"/>
          <a:lstStyle/>
          <a:p>
            <a:pPr indent="0" marL="0">
              <a:buNone/>
            </a:pPr>
            <a:r>
              <a:rPr lang="en-US" sz="1300" b="1" dirty="0">
                <a:solidFill>
                  <a:schemeClr val="accent1"/>
                </a:solidFill>
              </a:rPr>
              <a:t>9월: 광고비는 8월과 비슷한데 노출은 절반, 구매는 32% 감소</a:t>
            </a:r>
            <a:endParaRPr lang="en-US" sz="1300" dirty="0"/>
          </a:p>
        </p:txBody>
      </p:sp>
      <p:sp>
        <p:nvSpPr>
          <p:cNvPr id="6" name="Shape 3"/>
          <p:cNvSpPr/>
          <p:nvPr/>
        </p:nvSpPr>
        <p:spPr>
          <a:xfrm>
            <a:off x="6720840" y="1554480"/>
            <a:ext cx="4922215" cy="1188720"/>
          </a:xfrm>
          <a:prstGeom prst="roundRect">
            <a:avLst>
              <a:gd name="adj" fmla="val 9231"/>
            </a:avLst>
          </a:prstGeom>
          <a:solidFill>
            <a:schemeClr val="bg2"/>
          </a:solidFill>
          <a:ln/>
        </p:spPr>
      </p:sp>
      <p:sp>
        <p:nvSpPr>
          <p:cNvPr id="7" name="Text 4"/>
          <p:cNvSpPr txBox="1"/>
          <p:nvPr/>
        </p:nvSpPr>
        <p:spPr>
          <a:xfrm>
            <a:off x="6995160" y="1691640"/>
            <a:ext cx="4373575" cy="274320"/>
          </a:xfrm>
          <a:prstGeom prst="rect">
            <a:avLst/>
          </a:prstGeom>
          <a:noFill/>
          <a:ln/>
        </p:spPr>
        <p:txBody>
          <a:bodyPr wrap="square" lIns="0" tIns="0" rIns="0" bIns="0" rtlCol="0" anchor="t"/>
          <a:lstStyle/>
          <a:p>
            <a:pPr indent="0" marL="0">
              <a:buNone/>
            </a:pPr>
            <a:r>
              <a:rPr lang="en-US" sz="1300" dirty="0">
                <a:solidFill>
                  <a:schemeClr val="accent2"/>
                </a:solidFill>
              </a:rPr>
              <a:t>월 광고비</a:t>
            </a:r>
            <a:endParaRPr lang="en-US" sz="1300" dirty="0"/>
          </a:p>
        </p:txBody>
      </p:sp>
      <p:sp>
        <p:nvSpPr>
          <p:cNvPr id="8" name="Text 5"/>
          <p:cNvSpPr txBox="1"/>
          <p:nvPr/>
        </p:nvSpPr>
        <p:spPr>
          <a:xfrm>
            <a:off x="6995160" y="1965960"/>
            <a:ext cx="3550615" cy="457200"/>
          </a:xfrm>
          <a:prstGeom prst="rect">
            <a:avLst/>
          </a:prstGeom>
          <a:noFill/>
          <a:ln/>
        </p:spPr>
        <p:txBody>
          <a:bodyPr wrap="square" lIns="0" tIns="0" rIns="0" bIns="0" rtlCol="0" anchor="ctr"/>
          <a:lstStyle/>
          <a:p>
            <a:pPr indent="0" marL="0">
              <a:buNone/>
            </a:pPr>
            <a:r>
              <a:rPr lang="en-US" sz="2200" b="1" dirty="0">
                <a:solidFill>
                  <a:schemeClr val="tx1"/>
                </a:solidFill>
              </a:rPr>
              <a:t>510만 → 1,171만 원</a:t>
            </a:r>
            <a:endParaRPr lang="en-US" sz="2200" dirty="0"/>
          </a:p>
        </p:txBody>
      </p:sp>
      <p:sp>
        <p:nvSpPr>
          <p:cNvPr id="9" name="Text 6"/>
          <p:cNvSpPr txBox="1"/>
          <p:nvPr/>
        </p:nvSpPr>
        <p:spPr>
          <a:xfrm>
            <a:off x="10454335" y="1965960"/>
            <a:ext cx="914400" cy="457200"/>
          </a:xfrm>
          <a:prstGeom prst="rect">
            <a:avLst/>
          </a:prstGeom>
          <a:noFill/>
          <a:ln/>
        </p:spPr>
        <p:txBody>
          <a:bodyPr wrap="square" lIns="0" tIns="0" rIns="0" bIns="0" rtlCol="0" anchor="ctr"/>
          <a:lstStyle/>
          <a:p>
            <a:pPr algn="r" indent="0" marL="0">
              <a:buNone/>
            </a:pPr>
            <a:r>
              <a:rPr lang="en-US" sz="2000" b="1" dirty="0">
                <a:solidFill>
                  <a:schemeClr val="accent1"/>
                </a:solidFill>
              </a:rPr>
              <a:t>2.3배</a:t>
            </a:r>
            <a:endParaRPr lang="en-US" sz="2000" dirty="0"/>
          </a:p>
        </p:txBody>
      </p:sp>
      <p:sp>
        <p:nvSpPr>
          <p:cNvPr id="10" name="Shape 7"/>
          <p:cNvSpPr/>
          <p:nvPr/>
        </p:nvSpPr>
        <p:spPr>
          <a:xfrm>
            <a:off x="6720840" y="2880360"/>
            <a:ext cx="4922215" cy="1188720"/>
          </a:xfrm>
          <a:prstGeom prst="roundRect">
            <a:avLst>
              <a:gd name="adj" fmla="val 9231"/>
            </a:avLst>
          </a:prstGeom>
          <a:solidFill>
            <a:schemeClr val="bg2"/>
          </a:solidFill>
          <a:ln/>
        </p:spPr>
      </p:sp>
      <p:sp>
        <p:nvSpPr>
          <p:cNvPr id="11" name="Text 8"/>
          <p:cNvSpPr txBox="1"/>
          <p:nvPr/>
        </p:nvSpPr>
        <p:spPr>
          <a:xfrm>
            <a:off x="6995160" y="3017520"/>
            <a:ext cx="4373575" cy="274320"/>
          </a:xfrm>
          <a:prstGeom prst="rect">
            <a:avLst/>
          </a:prstGeom>
          <a:noFill/>
          <a:ln/>
        </p:spPr>
        <p:txBody>
          <a:bodyPr wrap="square" lIns="0" tIns="0" rIns="0" bIns="0" rtlCol="0" anchor="t"/>
          <a:lstStyle/>
          <a:p>
            <a:pPr indent="0" marL="0">
              <a:buNone/>
            </a:pPr>
            <a:r>
              <a:rPr lang="en-US" sz="1300" dirty="0">
                <a:solidFill>
                  <a:schemeClr val="accent2"/>
                </a:solidFill>
              </a:rPr>
              <a:t>CPM (노출 1,000회당 단가)</a:t>
            </a:r>
            <a:endParaRPr lang="en-US" sz="1300" dirty="0"/>
          </a:p>
        </p:txBody>
      </p:sp>
      <p:sp>
        <p:nvSpPr>
          <p:cNvPr id="12" name="Text 9"/>
          <p:cNvSpPr txBox="1"/>
          <p:nvPr/>
        </p:nvSpPr>
        <p:spPr>
          <a:xfrm>
            <a:off x="6995160" y="3291840"/>
            <a:ext cx="3550615" cy="457200"/>
          </a:xfrm>
          <a:prstGeom prst="rect">
            <a:avLst/>
          </a:prstGeom>
          <a:noFill/>
          <a:ln/>
        </p:spPr>
        <p:txBody>
          <a:bodyPr wrap="square" lIns="0" tIns="0" rIns="0" bIns="0" rtlCol="0" anchor="ctr"/>
          <a:lstStyle/>
          <a:p>
            <a:pPr indent="0" marL="0">
              <a:buNone/>
            </a:pPr>
            <a:r>
              <a:rPr lang="en-US" sz="2200" b="1" dirty="0">
                <a:solidFill>
                  <a:schemeClr val="tx1"/>
                </a:solidFill>
              </a:rPr>
              <a:t>4,377 → 11,990원</a:t>
            </a:r>
            <a:endParaRPr lang="en-US" sz="2200" dirty="0"/>
          </a:p>
        </p:txBody>
      </p:sp>
      <p:sp>
        <p:nvSpPr>
          <p:cNvPr id="13" name="Text 10"/>
          <p:cNvSpPr txBox="1"/>
          <p:nvPr/>
        </p:nvSpPr>
        <p:spPr>
          <a:xfrm>
            <a:off x="10454335" y="3291840"/>
            <a:ext cx="914400" cy="457200"/>
          </a:xfrm>
          <a:prstGeom prst="rect">
            <a:avLst/>
          </a:prstGeom>
          <a:noFill/>
          <a:ln/>
        </p:spPr>
        <p:txBody>
          <a:bodyPr wrap="square" lIns="0" tIns="0" rIns="0" bIns="0" rtlCol="0" anchor="ctr"/>
          <a:lstStyle/>
          <a:p>
            <a:pPr algn="r" indent="0" marL="0">
              <a:buNone/>
            </a:pPr>
            <a:r>
              <a:rPr lang="en-US" sz="2000" b="1" dirty="0">
                <a:solidFill>
                  <a:schemeClr val="accent1"/>
                </a:solidFill>
              </a:rPr>
              <a:t>2.7배</a:t>
            </a:r>
            <a:endParaRPr lang="en-US" sz="2000" dirty="0"/>
          </a:p>
        </p:txBody>
      </p:sp>
      <p:sp>
        <p:nvSpPr>
          <p:cNvPr id="14" name="Shape 11"/>
          <p:cNvSpPr/>
          <p:nvPr/>
        </p:nvSpPr>
        <p:spPr>
          <a:xfrm>
            <a:off x="6720840" y="4206240"/>
            <a:ext cx="4922215" cy="1188720"/>
          </a:xfrm>
          <a:prstGeom prst="roundRect">
            <a:avLst>
              <a:gd name="adj" fmla="val 9231"/>
            </a:avLst>
          </a:prstGeom>
          <a:solidFill>
            <a:schemeClr val="tx2"/>
          </a:solidFill>
          <a:ln/>
        </p:spPr>
      </p:sp>
      <p:sp>
        <p:nvSpPr>
          <p:cNvPr id="15" name="Text 12"/>
          <p:cNvSpPr txBox="1"/>
          <p:nvPr/>
        </p:nvSpPr>
        <p:spPr>
          <a:xfrm>
            <a:off x="6995160" y="4343400"/>
            <a:ext cx="4373575" cy="274320"/>
          </a:xfrm>
          <a:prstGeom prst="rect">
            <a:avLst/>
          </a:prstGeom>
          <a:noFill/>
          <a:ln/>
        </p:spPr>
        <p:txBody>
          <a:bodyPr wrap="square" lIns="0" tIns="0" rIns="0" bIns="0" rtlCol="0" anchor="t"/>
          <a:lstStyle/>
          <a:p>
            <a:pPr indent="0" marL="0">
              <a:buNone/>
            </a:pPr>
            <a:r>
              <a:rPr lang="en-US" sz="1300" dirty="0">
                <a:solidFill>
                  <a:schemeClr val="bg1"/>
                </a:solidFill>
              </a:rPr>
              <a:t>늘린 돈의 효율 (추정)</a:t>
            </a:r>
            <a:endParaRPr lang="en-US" sz="1300" dirty="0"/>
          </a:p>
        </p:txBody>
      </p:sp>
      <p:sp>
        <p:nvSpPr>
          <p:cNvPr id="16" name="Text 13"/>
          <p:cNvSpPr txBox="1"/>
          <p:nvPr/>
        </p:nvSpPr>
        <p:spPr>
          <a:xfrm>
            <a:off x="6995160" y="4617720"/>
            <a:ext cx="3550615" cy="457200"/>
          </a:xfrm>
          <a:prstGeom prst="rect">
            <a:avLst/>
          </a:prstGeom>
          <a:noFill/>
          <a:ln/>
        </p:spPr>
        <p:txBody>
          <a:bodyPr wrap="square" lIns="0" tIns="0" rIns="0" bIns="0" rtlCol="0" anchor="ctr"/>
          <a:lstStyle/>
          <a:p>
            <a:pPr indent="0" marL="0">
              <a:buNone/>
            </a:pPr>
            <a:r>
              <a:rPr lang="en-US" sz="2200" b="1" dirty="0">
                <a:solidFill>
                  <a:schemeClr val="bg1"/>
                </a:solidFill>
              </a:rPr>
              <a:t>ROAS 239%</a:t>
            </a:r>
            <a:endParaRPr lang="en-US" sz="2200" dirty="0"/>
          </a:p>
        </p:txBody>
      </p:sp>
      <p:sp>
        <p:nvSpPr>
          <p:cNvPr id="17" name="Text 14"/>
          <p:cNvSpPr txBox="1"/>
          <p:nvPr/>
        </p:nvSpPr>
        <p:spPr>
          <a:xfrm>
            <a:off x="6995160" y="5074920"/>
            <a:ext cx="4373575" cy="274320"/>
          </a:xfrm>
          <a:prstGeom prst="rect">
            <a:avLst/>
          </a:prstGeom>
          <a:noFill/>
          <a:ln/>
        </p:spPr>
        <p:txBody>
          <a:bodyPr wrap="square" lIns="0" tIns="0" rIns="0" bIns="0" rtlCol="0" anchor="t"/>
          <a:lstStyle/>
          <a:p>
            <a:pPr indent="0" marL="0">
              <a:buNone/>
            </a:pPr>
            <a:r>
              <a:rPr lang="en-US" sz="1200" dirty="0">
                <a:solidFill>
                  <a:schemeClr val="bg1"/>
                </a:solidFill>
              </a:rPr>
              <a:t>추가 월 광고비 약 660만 원 → 추가 월 매출 약 1,580만 원</a:t>
            </a:r>
            <a:endParaRPr lang="en-US" sz="1200" dirty="0"/>
          </a:p>
        </p:txBody>
      </p:sp>
      <p:sp>
        <p:nvSpPr>
          <p:cNvPr id="18" name="Text 15"/>
          <p:cNvSpPr txBox="1"/>
          <p:nvPr/>
        </p:nvSpPr>
        <p:spPr>
          <a:xfrm>
            <a:off x="6720840" y="5577840"/>
            <a:ext cx="4922215" cy="548640"/>
          </a:xfrm>
          <a:prstGeom prst="rect">
            <a:avLst/>
          </a:prstGeom>
          <a:noFill/>
          <a:ln/>
        </p:spPr>
        <p:txBody>
          <a:bodyPr wrap="square" lIns="0" tIns="0" rIns="0" bIns="0" rtlCol="0" anchor="t"/>
          <a:lstStyle/>
          <a:p>
            <a:pPr indent="0" marL="0">
              <a:buNone/>
            </a:pPr>
            <a:r>
              <a:rPr lang="en-US" sz="1100" dirty="0">
                <a:solidFill>
                  <a:schemeClr val="accent3"/>
                </a:solidFill>
              </a:rPr>
              <a:t>5~6월은 5/1~9 중단을 반영해 5/10~6/30(52일) 실적을 월 환산. 7~9월 월 광고비는 3개월 단순 평균. 늘린 돈의 효율은 월 환산값으로 계산한 추정치</a:t>
            </a:r>
            <a:endParaRPr lang="en-US" sz="11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03  GFA</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AI가 찾아야 할 고객을 사람이 9개로 나눠 놓았습니다</a:t>
            </a:r>
            <a:endParaRPr lang="en-US" sz="2800" dirty="0"/>
          </a:p>
        </p:txBody>
      </p:sp>
      <p:sp>
        <p:nvSpPr>
          <p:cNvPr id="4" name="Text 2"/>
          <p:cNvSpPr txBox="1"/>
          <p:nvPr/>
        </p:nvSpPr>
        <p:spPr>
          <a:xfrm>
            <a:off x="548640" y="1554480"/>
            <a:ext cx="3017520" cy="365760"/>
          </a:xfrm>
          <a:prstGeom prst="rect">
            <a:avLst/>
          </a:prstGeom>
          <a:noFill/>
          <a:ln/>
        </p:spPr>
        <p:txBody>
          <a:bodyPr wrap="square" lIns="0" tIns="0" rIns="0" bIns="0" rtlCol="0" anchor="ctr"/>
          <a:lstStyle/>
          <a:p>
            <a:pPr indent="0" marL="0">
              <a:buNone/>
            </a:pPr>
            <a:r>
              <a:rPr lang="en-US" sz="1600" b="1" dirty="0">
                <a:solidFill>
                  <a:schemeClr val="tx1"/>
                </a:solidFill>
              </a:rPr>
              <a:t>네이버 판매처 (4개)</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3017520" cy="914400"/>
        </p:xfrm>
        <a:graphic>
          <a:graphicData uri="http://schemas.openxmlformats.org/drawingml/2006/table">
            <a:tbl>
              <a:tblPr/>
              <a:tblGrid>
                <a:gridCol w="1325880"/>
                <a:gridCol w="914400"/>
                <a:gridCol w="777240"/>
              </a:tblGrid>
              <a:tr h="411480">
                <a:tc>
                  <a:txBody>
                    <a:bodyPr/>
                    <a:lstStyle/>
                    <a:p>
                      <a:pPr indent="0" marL="0">
                        <a:buNone/>
                      </a:pPr>
                      <a:r>
                        <a:rPr lang="en-US" sz="1400" b="1" dirty="0">
                          <a:solidFill>
                            <a:schemeClr val="bg1"/>
                          </a:solidFill>
                        </a:rPr>
                        <a:t>타겟</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광고비</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ROAS</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411480">
                <a:tc>
                  <a:txBody>
                    <a:bodyPr/>
                    <a:lstStyle/>
                    <a:p>
                      <a:pPr indent="0" marL="0">
                        <a:buNone/>
                      </a:pPr>
                      <a:r>
                        <a:rPr lang="en-US" sz="1400" dirty="0">
                          <a:solidFill>
                            <a:srgbClr val="000000"/>
                          </a:solidFill>
                        </a:rPr>
                        <a:t>25~39세</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672만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332%</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11480">
                <a:tc>
                  <a:txBody>
                    <a:bodyPr/>
                    <a:lstStyle/>
                    <a:p>
                      <a:pPr indent="0" marL="0">
                        <a:buNone/>
                      </a:pPr>
                      <a:r>
                        <a:rPr lang="en-US" sz="1400" dirty="0">
                          <a:solidFill>
                            <a:srgbClr val="000000"/>
                          </a:solidFill>
                        </a:rPr>
                        <a:t>꼬기밥 단독</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434만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353%</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11480">
                <a:tc>
                  <a:txBody>
                    <a:bodyPr/>
                    <a:lstStyle/>
                    <a:p>
                      <a:pPr indent="0" marL="0">
                        <a:buNone/>
                      </a:pPr>
                      <a:r>
                        <a:rPr lang="en-US" sz="1400" dirty="0">
                          <a:solidFill>
                            <a:srgbClr val="000000"/>
                          </a:solidFill>
                        </a:rPr>
                        <a:t>서브 연령대</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408만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b="1" dirty="0">
                          <a:solidFill>
                            <a:schemeClr val="accent1"/>
                          </a:solidFill>
                        </a:rPr>
                        <a:t>292%</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11480">
                <a:tc>
                  <a:txBody>
                    <a:bodyPr/>
                    <a:lstStyle/>
                    <a:p>
                      <a:pPr indent="0" marL="0">
                        <a:buNone/>
                      </a:pPr>
                      <a:r>
                        <a:rPr lang="en-US" sz="1400" dirty="0">
                          <a:solidFill>
                            <a:srgbClr val="000000"/>
                          </a:solidFill>
                        </a:rPr>
                        <a:t>40~54세</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310만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b="1" dirty="0">
                          <a:solidFill>
                            <a:schemeClr val="accent1"/>
                          </a:solidFill>
                        </a:rPr>
                        <a:t>265%</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bl>
          </a:graphicData>
        </a:graphic>
      </p:graphicFrame>
      <p:sp>
        <p:nvSpPr>
          <p:cNvPr id="6" name="Text 3"/>
          <p:cNvSpPr txBox="1"/>
          <p:nvPr/>
        </p:nvSpPr>
        <p:spPr>
          <a:xfrm>
            <a:off x="3840480" y="1554480"/>
            <a:ext cx="3017520" cy="365760"/>
          </a:xfrm>
          <a:prstGeom prst="rect">
            <a:avLst/>
          </a:prstGeom>
          <a:noFill/>
          <a:ln/>
        </p:spPr>
        <p:txBody>
          <a:bodyPr wrap="square" lIns="0" tIns="0" rIns="0" bIns="0" rtlCol="0" anchor="ctr"/>
          <a:lstStyle/>
          <a:p>
            <a:pPr indent="0" marL="0">
              <a:buNone/>
            </a:pPr>
            <a:r>
              <a:rPr lang="en-US" sz="1600" b="1" dirty="0">
                <a:solidFill>
                  <a:schemeClr val="tx1"/>
                </a:solidFill>
              </a:rPr>
              <a:t>자사몰 (3개)</a:t>
            </a:r>
            <a:endParaRPr lang="en-US" sz="16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3840480" y="2011680"/>
          <a:ext cx="3017520" cy="914400"/>
        </p:xfrm>
        <a:graphic>
          <a:graphicData uri="http://schemas.openxmlformats.org/drawingml/2006/table">
            <a:tbl>
              <a:tblPr/>
              <a:tblGrid>
                <a:gridCol w="1325880"/>
                <a:gridCol w="914400"/>
                <a:gridCol w="777240"/>
              </a:tblGrid>
              <a:tr h="411480">
                <a:tc>
                  <a:txBody>
                    <a:bodyPr/>
                    <a:lstStyle/>
                    <a:p>
                      <a:pPr indent="0" marL="0">
                        <a:buNone/>
                      </a:pPr>
                      <a:r>
                        <a:rPr lang="en-US" sz="1400" b="1" dirty="0">
                          <a:solidFill>
                            <a:schemeClr val="bg1"/>
                          </a:solidFill>
                        </a:rPr>
                        <a:t>타겟</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광고비</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ROAS</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411480">
                <a:tc>
                  <a:txBody>
                    <a:bodyPr/>
                    <a:lstStyle/>
                    <a:p>
                      <a:pPr indent="0" marL="0">
                        <a:buNone/>
                      </a:pPr>
                      <a:r>
                        <a:rPr lang="en-US" sz="1400" dirty="0">
                          <a:solidFill>
                            <a:srgbClr val="000000"/>
                          </a:solidFill>
                        </a:rPr>
                        <a:t>25~49세</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653만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311%</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11480">
                <a:tc>
                  <a:txBody>
                    <a:bodyPr/>
                    <a:lstStyle/>
                    <a:p>
                      <a:pPr indent="0" marL="0">
                        <a:buNone/>
                      </a:pPr>
                      <a:r>
                        <a:rPr lang="en-US" sz="1400" dirty="0">
                          <a:solidFill>
                            <a:srgbClr val="000000"/>
                          </a:solidFill>
                        </a:rPr>
                        <a:t>타겟 미표기</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480만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325%</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411480">
                <a:tc>
                  <a:txBody>
                    <a:bodyPr/>
                    <a:lstStyle/>
                    <a:p>
                      <a:pPr indent="0" marL="0">
                        <a:buNone/>
                      </a:pPr>
                      <a:r>
                        <a:rPr lang="en-US" sz="1400" dirty="0">
                          <a:solidFill>
                            <a:srgbClr val="000000"/>
                          </a:solidFill>
                        </a:rPr>
                        <a:t>서브 연령대</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rgbClr val="000000"/>
                          </a:solidFill>
                        </a:rPr>
                        <a:t>9만</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400" dirty="0">
                          <a:solidFill>
                            <a:schemeClr val="tx1"/>
                          </a:solidFill>
                        </a:rPr>
                        <a:t>343%</a:t>
                      </a:r>
                      <a:endParaRPr lang="en-US" sz="1400" dirty="0"/>
                    </a:p>
                  </a:txBody>
                  <a:tcPr marL="91440" marR="91440" marT="27432" marB="2743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bl>
          </a:graphicData>
        </a:graphic>
      </p:graphicFrame>
      <p:sp>
        <p:nvSpPr>
          <p:cNvPr id="8" name="Shape 4"/>
          <p:cNvSpPr/>
          <p:nvPr/>
        </p:nvSpPr>
        <p:spPr>
          <a:xfrm>
            <a:off x="548640" y="4206240"/>
            <a:ext cx="6309360" cy="685800"/>
          </a:xfrm>
          <a:prstGeom prst="roundRect">
            <a:avLst>
              <a:gd name="adj" fmla="val 16000"/>
            </a:avLst>
          </a:prstGeom>
          <a:solidFill>
            <a:schemeClr val="bg2"/>
          </a:solidFill>
          <a:ln/>
        </p:spPr>
      </p:sp>
      <p:sp>
        <p:nvSpPr>
          <p:cNvPr id="9" name="Text 5"/>
          <p:cNvSpPr txBox="1"/>
          <p:nvPr/>
        </p:nvSpPr>
        <p:spPr>
          <a:xfrm>
            <a:off x="777240" y="4206240"/>
            <a:ext cx="5852160" cy="685800"/>
          </a:xfrm>
          <a:prstGeom prst="rect">
            <a:avLst/>
          </a:prstGeom>
          <a:noFill/>
          <a:ln/>
        </p:spPr>
        <p:txBody>
          <a:bodyPr wrap="square" lIns="0" tIns="0" rIns="0" bIns="0" rtlCol="0" anchor="ctr"/>
          <a:lstStyle/>
          <a:p>
            <a:pPr indent="0" marL="0">
              <a:buNone/>
            </a:pPr>
            <a:r>
              <a:rPr lang="en-US" sz="1400" dirty="0">
                <a:solidFill>
                  <a:schemeClr val="accent2"/>
                </a:solidFill>
              </a:rPr>
              <a:t>삭제된 통영숙수 전복죽 ADVoost 2개 (네이버·자사몰): 209만 원, ROAS 157%</a:t>
            </a:r>
            <a:endParaRPr lang="en-US" sz="1400" dirty="0"/>
          </a:p>
        </p:txBody>
      </p:sp>
      <p:sp>
        <p:nvSpPr>
          <p:cNvPr id="10" name="Shape 6"/>
          <p:cNvSpPr/>
          <p:nvPr/>
        </p:nvSpPr>
        <p:spPr>
          <a:xfrm>
            <a:off x="548640" y="5029200"/>
            <a:ext cx="6309360" cy="868680"/>
          </a:xfrm>
          <a:prstGeom prst="roundRect">
            <a:avLst>
              <a:gd name="adj" fmla="val 12632"/>
            </a:avLst>
          </a:prstGeom>
          <a:solidFill>
            <a:schemeClr val="accent4">
              <a:alpha val="12000"/>
            </a:schemeClr>
          </a:solidFill>
          <a:ln/>
        </p:spPr>
      </p:sp>
      <p:sp>
        <p:nvSpPr>
          <p:cNvPr id="11" name="Text 7"/>
          <p:cNvSpPr txBox="1"/>
          <p:nvPr/>
        </p:nvSpPr>
        <p:spPr>
          <a:xfrm>
            <a:off x="777240" y="5029200"/>
            <a:ext cx="5852160" cy="868680"/>
          </a:xfrm>
          <a:prstGeom prst="rect">
            <a:avLst/>
          </a:prstGeom>
          <a:noFill/>
          <a:ln/>
        </p:spPr>
        <p:txBody>
          <a:bodyPr wrap="square" lIns="0" tIns="0" rIns="0" bIns="0" rtlCol="0" anchor="ctr"/>
          <a:lstStyle/>
          <a:p>
            <a:pPr indent="0" marL="0">
              <a:buNone/>
            </a:pPr>
            <a:r>
              <a:rPr lang="en-US" sz="1400" b="1" dirty="0">
                <a:solidFill>
                  <a:schemeClr val="tx1"/>
                </a:solidFill>
              </a:rPr>
              <a:t>ADVoost 전체 3,174만 원 · ROAS 306%</a:t>
            </a:r>
            <a:endParaRPr lang="en-US" sz="1400" dirty="0"/>
          </a:p>
          <a:p>
            <a:pPr indent="0" marL="0">
              <a:buNone/>
            </a:pPr>
            <a:r>
              <a:rPr lang="en-US" sz="1300" dirty="0">
                <a:solidFill>
                  <a:schemeClr val="tx1"/>
                </a:solidFill>
              </a:rPr>
              <a:t>나쁜 숫자가 아닙니다. 더 좋아질 여지가 막혀 있는 게 문제입니다</a:t>
            </a:r>
            <a:endParaRPr lang="en-US" sz="1400" dirty="0"/>
          </a:p>
        </p:txBody>
      </p:sp>
      <p:sp>
        <p:nvSpPr>
          <p:cNvPr id="12" name="Shape 8"/>
          <p:cNvSpPr/>
          <p:nvPr/>
        </p:nvSpPr>
        <p:spPr>
          <a:xfrm>
            <a:off x="7086600" y="1554480"/>
            <a:ext cx="365760" cy="365760"/>
          </a:xfrm>
          <a:prstGeom prst="ellipse">
            <a:avLst/>
          </a:prstGeom>
          <a:solidFill>
            <a:schemeClr val="tx2"/>
          </a:solidFill>
          <a:ln/>
        </p:spPr>
      </p:sp>
      <p:sp>
        <p:nvSpPr>
          <p:cNvPr id="13" name="Text 9"/>
          <p:cNvSpPr txBox="1"/>
          <p:nvPr/>
        </p:nvSpPr>
        <p:spPr>
          <a:xfrm>
            <a:off x="7086600" y="15544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Text 10"/>
          <p:cNvSpPr txBox="1"/>
          <p:nvPr/>
        </p:nvSpPr>
        <p:spPr>
          <a:xfrm>
            <a:off x="7589520" y="1554480"/>
            <a:ext cx="4053535" cy="365760"/>
          </a:xfrm>
          <a:prstGeom prst="rect">
            <a:avLst/>
          </a:prstGeom>
          <a:noFill/>
          <a:ln/>
        </p:spPr>
        <p:txBody>
          <a:bodyPr wrap="square" lIns="0" tIns="0" rIns="0" bIns="0" rtlCol="0" anchor="ctr"/>
          <a:lstStyle/>
          <a:p>
            <a:pPr indent="0" marL="0">
              <a:buNone/>
            </a:pPr>
            <a:r>
              <a:rPr lang="en-US" sz="1600" b="1" dirty="0">
                <a:solidFill>
                  <a:schemeClr val="tx1"/>
                </a:solidFill>
              </a:rPr>
              <a:t>합치면 결국 전 연령</a:t>
            </a:r>
            <a:endParaRPr lang="en-US" sz="1600" dirty="0"/>
          </a:p>
        </p:txBody>
      </p:sp>
      <p:sp>
        <p:nvSpPr>
          <p:cNvPr id="15" name="Text 11"/>
          <p:cNvSpPr txBox="1"/>
          <p:nvPr/>
        </p:nvSpPr>
        <p:spPr>
          <a:xfrm>
            <a:off x="7589520" y="1938528"/>
            <a:ext cx="4053535" cy="685800"/>
          </a:xfrm>
          <a:prstGeom prst="rect">
            <a:avLst/>
          </a:prstGeom>
          <a:noFill/>
          <a:ln/>
        </p:spPr>
        <p:txBody>
          <a:bodyPr wrap="square" lIns="0" tIns="0" rIns="0" bIns="0" rtlCol="0" anchor="t"/>
          <a:lstStyle/>
          <a:p>
            <a:pPr indent="0" marL="0">
              <a:buNone/>
            </a:pPr>
            <a:r>
              <a:rPr lang="en-US" sz="1300" dirty="0">
                <a:solidFill>
                  <a:schemeClr val="accent2"/>
                </a:solidFill>
              </a:rPr>
              <a:t>나눈 캠페인을 더하면 전 연령입니다. 학습할 구매 데이터만 나뉩니다</a:t>
            </a:r>
            <a:endParaRPr lang="en-US" sz="1300" dirty="0"/>
          </a:p>
        </p:txBody>
      </p:sp>
      <p:sp>
        <p:nvSpPr>
          <p:cNvPr id="16" name="Shape 12"/>
          <p:cNvSpPr/>
          <p:nvPr/>
        </p:nvSpPr>
        <p:spPr>
          <a:xfrm>
            <a:off x="7086600" y="2651760"/>
            <a:ext cx="365760" cy="365760"/>
          </a:xfrm>
          <a:prstGeom prst="ellipse">
            <a:avLst/>
          </a:prstGeom>
          <a:solidFill>
            <a:schemeClr val="tx2"/>
          </a:solidFill>
          <a:ln/>
        </p:spPr>
      </p:sp>
      <p:sp>
        <p:nvSpPr>
          <p:cNvPr id="17" name="Text 13"/>
          <p:cNvSpPr txBox="1"/>
          <p:nvPr/>
        </p:nvSpPr>
        <p:spPr>
          <a:xfrm>
            <a:off x="7086600" y="2651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Text 14"/>
          <p:cNvSpPr txBox="1"/>
          <p:nvPr/>
        </p:nvSpPr>
        <p:spPr>
          <a:xfrm>
            <a:off x="7589520" y="2651760"/>
            <a:ext cx="4053535" cy="365760"/>
          </a:xfrm>
          <a:prstGeom prst="rect">
            <a:avLst/>
          </a:prstGeom>
          <a:noFill/>
          <a:ln/>
        </p:spPr>
        <p:txBody>
          <a:bodyPr wrap="square" lIns="0" tIns="0" rIns="0" bIns="0" rtlCol="0" anchor="ctr"/>
          <a:lstStyle/>
          <a:p>
            <a:pPr indent="0" marL="0">
              <a:buNone/>
            </a:pPr>
            <a:r>
              <a:rPr lang="en-US" sz="1600" b="1" dirty="0">
                <a:solidFill>
                  <a:schemeClr val="tx1"/>
                </a:solidFill>
              </a:rPr>
              <a:t>보여주는 상품은 모두 같음</a:t>
            </a:r>
            <a:endParaRPr lang="en-US" sz="1600" dirty="0"/>
          </a:p>
        </p:txBody>
      </p:sp>
      <p:sp>
        <p:nvSpPr>
          <p:cNvPr id="19" name="Text 15"/>
          <p:cNvSpPr txBox="1"/>
          <p:nvPr/>
        </p:nvSpPr>
        <p:spPr>
          <a:xfrm>
            <a:off x="7589520" y="3035808"/>
            <a:ext cx="4053535" cy="685800"/>
          </a:xfrm>
          <a:prstGeom prst="rect">
            <a:avLst/>
          </a:prstGeom>
          <a:noFill/>
          <a:ln/>
        </p:spPr>
        <p:txBody>
          <a:bodyPr wrap="square" lIns="0" tIns="0" rIns="0" bIns="0" rtlCol="0" anchor="t"/>
          <a:lstStyle/>
          <a:p>
            <a:pPr indent="0" marL="0">
              <a:buNone/>
            </a:pPr>
            <a:r>
              <a:rPr lang="en-US" sz="1300" dirty="0">
                <a:solidFill>
                  <a:schemeClr val="accent2"/>
                </a:solidFill>
              </a:rPr>
              <a:t>연령을 나눴지만 상품은 전부 '전체상품'입니다</a:t>
            </a:r>
            <a:endParaRPr lang="en-US" sz="1300" dirty="0"/>
          </a:p>
        </p:txBody>
      </p:sp>
      <p:sp>
        <p:nvSpPr>
          <p:cNvPr id="20" name="Shape 16"/>
          <p:cNvSpPr/>
          <p:nvPr/>
        </p:nvSpPr>
        <p:spPr>
          <a:xfrm>
            <a:off x="7086600" y="3749040"/>
            <a:ext cx="365760" cy="365760"/>
          </a:xfrm>
          <a:prstGeom prst="ellipse">
            <a:avLst/>
          </a:prstGeom>
          <a:solidFill>
            <a:schemeClr val="tx2"/>
          </a:solidFill>
          <a:ln/>
        </p:spPr>
      </p:sp>
      <p:sp>
        <p:nvSpPr>
          <p:cNvPr id="21" name="Text 17"/>
          <p:cNvSpPr txBox="1"/>
          <p:nvPr/>
        </p:nvSpPr>
        <p:spPr>
          <a:xfrm>
            <a:off x="7086600" y="37490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18"/>
          <p:cNvSpPr txBox="1"/>
          <p:nvPr/>
        </p:nvSpPr>
        <p:spPr>
          <a:xfrm>
            <a:off x="7589520" y="3749040"/>
            <a:ext cx="4053535" cy="365760"/>
          </a:xfrm>
          <a:prstGeom prst="rect">
            <a:avLst/>
          </a:prstGeom>
          <a:noFill/>
          <a:ln/>
        </p:spPr>
        <p:txBody>
          <a:bodyPr wrap="square" lIns="0" tIns="0" rIns="0" bIns="0" rtlCol="0" anchor="ctr"/>
          <a:lstStyle/>
          <a:p>
            <a:pPr indent="0" marL="0">
              <a:buNone/>
            </a:pPr>
            <a:r>
              <a:rPr lang="en-US" sz="1600" b="1" dirty="0">
                <a:solidFill>
                  <a:schemeClr val="tx1"/>
                </a:solidFill>
              </a:rPr>
              <a:t>경계가 효율과 안 맞음</a:t>
            </a:r>
            <a:endParaRPr lang="en-US" sz="1600" dirty="0"/>
          </a:p>
        </p:txBody>
      </p:sp>
      <p:sp>
        <p:nvSpPr>
          <p:cNvPr id="23" name="Text 19"/>
          <p:cNvSpPr txBox="1"/>
          <p:nvPr/>
        </p:nvSpPr>
        <p:spPr>
          <a:xfrm>
            <a:off x="7589520" y="4133088"/>
            <a:ext cx="4053535" cy="685800"/>
          </a:xfrm>
          <a:prstGeom prst="rect">
            <a:avLst/>
          </a:prstGeom>
          <a:noFill/>
          <a:ln/>
        </p:spPr>
        <p:txBody>
          <a:bodyPr wrap="square" lIns="0" tIns="0" rIns="0" bIns="0" rtlCol="0" anchor="t"/>
          <a:lstStyle/>
          <a:p>
            <a:pPr indent="0" marL="0">
              <a:buNone/>
            </a:pPr>
            <a:r>
              <a:rPr lang="en-US" sz="1300" dirty="0">
                <a:solidFill>
                  <a:schemeClr val="accent2"/>
                </a:solidFill>
              </a:rPr>
              <a:t>ROAS 426%인 45~49세 여성이 효율 최저(265%) 40~54세 캠페인에 섞여 있고, 연령 기준도 판매처마다 다릅니다</a:t>
            </a:r>
            <a:endParaRPr lang="en-US" sz="1300" dirty="0"/>
          </a:p>
        </p:txBody>
      </p:sp>
      <p:sp>
        <p:nvSpPr>
          <p:cNvPr id="24" name="Shape 20"/>
          <p:cNvSpPr/>
          <p:nvPr/>
        </p:nvSpPr>
        <p:spPr>
          <a:xfrm>
            <a:off x="7086600" y="4846320"/>
            <a:ext cx="365760" cy="365760"/>
          </a:xfrm>
          <a:prstGeom prst="ellipse">
            <a:avLst/>
          </a:prstGeom>
          <a:solidFill>
            <a:schemeClr val="tx2"/>
          </a:solidFill>
          <a:ln/>
        </p:spPr>
      </p:sp>
      <p:sp>
        <p:nvSpPr>
          <p:cNvPr id="25" name="Text 21"/>
          <p:cNvSpPr txBox="1"/>
          <p:nvPr/>
        </p:nvSpPr>
        <p:spPr>
          <a:xfrm>
            <a:off x="7086600" y="48463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2"/>
          <p:cNvSpPr txBox="1"/>
          <p:nvPr/>
        </p:nvSpPr>
        <p:spPr>
          <a:xfrm>
            <a:off x="7589520" y="4846320"/>
            <a:ext cx="4053535" cy="365760"/>
          </a:xfrm>
          <a:prstGeom prst="rect">
            <a:avLst/>
          </a:prstGeom>
          <a:noFill/>
          <a:ln/>
        </p:spPr>
        <p:txBody>
          <a:bodyPr wrap="square" lIns="0" tIns="0" rIns="0" bIns="0" rtlCol="0" anchor="ctr"/>
          <a:lstStyle/>
          <a:p>
            <a:pPr indent="0" marL="0">
              <a:buNone/>
            </a:pPr>
            <a:r>
              <a:rPr lang="en-US" sz="1600" b="1" dirty="0">
                <a:solidFill>
                  <a:schemeClr val="tx1"/>
                </a:solidFill>
              </a:rPr>
              <a:t>서로 입찰할 수 있음</a:t>
            </a:r>
            <a:endParaRPr lang="en-US" sz="1600" dirty="0"/>
          </a:p>
        </p:txBody>
      </p:sp>
      <p:sp>
        <p:nvSpPr>
          <p:cNvPr id="27" name="Text 23"/>
          <p:cNvSpPr txBox="1"/>
          <p:nvPr/>
        </p:nvSpPr>
        <p:spPr>
          <a:xfrm>
            <a:off x="7589520" y="5230368"/>
            <a:ext cx="4053535" cy="685800"/>
          </a:xfrm>
          <a:prstGeom prst="rect">
            <a:avLst/>
          </a:prstGeom>
          <a:noFill/>
          <a:ln/>
        </p:spPr>
        <p:txBody>
          <a:bodyPr wrap="square" lIns="0" tIns="0" rIns="0" bIns="0" rtlCol="0" anchor="t"/>
          <a:lstStyle/>
          <a:p>
            <a:pPr indent="0" marL="0">
              <a:buNone/>
            </a:pPr>
            <a:r>
              <a:rPr lang="en-US" sz="1300" dirty="0">
                <a:solidFill>
                  <a:schemeClr val="accent2"/>
                </a:solidFill>
              </a:rPr>
              <a:t>꼬기밥 단독과 전체상품 캠페인의 상품이 겹쳐 같은 지면에서 경쟁할 수 있습니다</a:t>
            </a:r>
            <a:endParaRPr lang="en-US" sz="13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03  GFA</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새 고객용 광고에 기존 고객이 섞여 있습니다</a:t>
            </a:r>
            <a:endParaRPr lang="en-US" sz="2800" dirty="0"/>
          </a:p>
        </p:txBody>
      </p:sp>
      <p:pic>
        <p:nvPicPr>
          <p:cNvPr id="4" name="Image 0" descr="자사몰 ADVoost 잠재고객 시그널 화면">    </p:cNvPr>
          <p:cNvPicPr>
            <a:picLocks noChangeAspect="1"/>
          </p:cNvPicPr>
          <p:nvPr/>
        </p:nvPicPr>
        <p:blipFill>
          <a:blip r:embed="rId1"/>
          <a:stretch>
            <a:fillRect/>
          </a:stretch>
        </p:blipFill>
        <p:spPr>
          <a:xfrm>
            <a:off x="548640" y="1554480"/>
            <a:ext cx="4023360" cy="3210306"/>
          </a:xfrm>
          <a:prstGeom prst="rect">
            <a:avLst/>
          </a:prstGeom>
        </p:spPr>
      </p:pic>
      <p:sp>
        <p:nvSpPr>
          <p:cNvPr id="5" name="Shape 2"/>
          <p:cNvSpPr/>
          <p:nvPr/>
        </p:nvSpPr>
        <p:spPr>
          <a:xfrm>
            <a:off x="548640" y="1554480"/>
            <a:ext cx="4023360" cy="3210306"/>
          </a:xfrm>
          <a:prstGeom prst="rect">
            <a:avLst/>
          </a:prstGeom>
          <a:ln w="9525">
            <a:solidFill>
              <a:srgbClr val="D1D6DB"/>
            </a:solidFill>
            <a:prstDash val="solid"/>
          </a:ln>
        </p:spPr>
      </p:sp>
      <p:sp>
        <p:nvSpPr>
          <p:cNvPr id="6" name="Shape 3"/>
          <p:cNvSpPr/>
          <p:nvPr/>
        </p:nvSpPr>
        <p:spPr>
          <a:xfrm>
            <a:off x="1118616" y="3934968"/>
            <a:ext cx="1676400" cy="251460"/>
          </a:xfrm>
          <a:prstGeom prst="roundRect">
            <a:avLst>
              <a:gd name="adj" fmla="val 18182"/>
            </a:avLst>
          </a:prstGeom>
          <a:ln w="28575">
            <a:solidFill>
              <a:schemeClr val="accent1"/>
            </a:solidFill>
            <a:prstDash val="solid"/>
          </a:ln>
        </p:spPr>
      </p:sp>
      <p:sp>
        <p:nvSpPr>
          <p:cNvPr id="7" name="Text 4"/>
          <p:cNvSpPr txBox="1"/>
          <p:nvPr/>
        </p:nvSpPr>
        <p:spPr>
          <a:xfrm>
            <a:off x="2878836" y="3934968"/>
            <a:ext cx="1280160" cy="251460"/>
          </a:xfrm>
          <a:prstGeom prst="rect">
            <a:avLst/>
          </a:prstGeom>
          <a:noFill/>
          <a:ln/>
        </p:spPr>
        <p:txBody>
          <a:bodyPr wrap="square" lIns="0" tIns="0" rIns="0" bIns="0" rtlCol="0" anchor="ctr"/>
          <a:lstStyle/>
          <a:p>
            <a:pPr indent="0" marL="0">
              <a:buNone/>
            </a:pPr>
            <a:r>
              <a:rPr lang="en-US" sz="1300" b="1" dirty="0">
                <a:solidFill>
                  <a:schemeClr val="accent1"/>
                </a:solidFill>
              </a:rPr>
              <a:t>기존 구매자</a:t>
            </a:r>
            <a:endParaRPr lang="en-US" sz="1300" dirty="0"/>
          </a:p>
        </p:txBody>
      </p:sp>
      <p:sp>
        <p:nvSpPr>
          <p:cNvPr id="8" name="Text 5"/>
          <p:cNvSpPr txBox="1"/>
          <p:nvPr/>
        </p:nvSpPr>
        <p:spPr>
          <a:xfrm>
            <a:off x="548640" y="4856226"/>
            <a:ext cx="4389120" cy="502920"/>
          </a:xfrm>
          <a:prstGeom prst="rect">
            <a:avLst/>
          </a:prstGeom>
          <a:noFill/>
          <a:ln/>
        </p:spPr>
        <p:txBody>
          <a:bodyPr wrap="square" lIns="0" tIns="0" rIns="0" bIns="0" rtlCol="0" anchor="t"/>
          <a:lstStyle/>
          <a:p>
            <a:pPr indent="0" marL="0">
              <a:buNone/>
            </a:pPr>
            <a:r>
              <a:rPr lang="en-US" sz="1200" dirty="0">
                <a:solidFill>
                  <a:schemeClr val="accent2"/>
                </a:solidFill>
              </a:rPr>
              <a:t>자사몰 ADVoost 시그널(AI에게 주는 힌트): 방문 60일 · 장바구니 60일 · 구매 30일</a:t>
            </a:r>
            <a:endParaRPr lang="en-US" sz="1200" dirty="0"/>
          </a:p>
        </p:txBody>
      </p:sp>
      <p:sp>
        <p:nvSpPr>
          <p:cNvPr id="9" name="Shape 6"/>
          <p:cNvSpPr/>
          <p:nvPr/>
        </p:nvSpPr>
        <p:spPr>
          <a:xfrm>
            <a:off x="548640" y="5257800"/>
            <a:ext cx="4389120" cy="685800"/>
          </a:xfrm>
          <a:prstGeom prst="roundRect">
            <a:avLst>
              <a:gd name="adj" fmla="val 16000"/>
            </a:avLst>
          </a:prstGeom>
          <a:solidFill>
            <a:schemeClr val="accent1">
              <a:alpha val="10000"/>
            </a:schemeClr>
          </a:solidFill>
          <a:ln/>
        </p:spPr>
      </p:sp>
      <p:sp>
        <p:nvSpPr>
          <p:cNvPr id="10" name="Text 7"/>
          <p:cNvSpPr txBox="1"/>
          <p:nvPr/>
        </p:nvSpPr>
        <p:spPr>
          <a:xfrm>
            <a:off x="777240" y="5257800"/>
            <a:ext cx="3931920" cy="685800"/>
          </a:xfrm>
          <a:prstGeom prst="rect">
            <a:avLst/>
          </a:prstGeom>
          <a:noFill/>
          <a:ln/>
        </p:spPr>
        <p:txBody>
          <a:bodyPr wrap="square" lIns="0" tIns="0" rIns="0" bIns="0" rtlCol="0" anchor="ctr"/>
          <a:lstStyle/>
          <a:p>
            <a:pPr indent="0" marL="0">
              <a:buNone/>
            </a:pPr>
            <a:r>
              <a:rPr lang="en-US" sz="1400" b="1" dirty="0">
                <a:solidFill>
                  <a:schemeClr val="accent1"/>
                </a:solidFill>
              </a:rPr>
              <a:t>라이브 중인 카탈로그 광고 0개</a:t>
            </a:r>
            <a:endParaRPr lang="en-US" sz="1400" dirty="0"/>
          </a:p>
          <a:p>
            <a:pPr indent="0" marL="0">
              <a:buNone/>
            </a:pPr>
            <a:r>
              <a:rPr lang="en-US" sz="1300" dirty="0">
                <a:solidFill>
                  <a:schemeClr val="tx1"/>
                </a:solidFill>
              </a:rPr>
              <a:t>구매 직전 고객만 다시 부르는 전용 광고가 없습니다</a:t>
            </a:r>
            <a:endParaRPr lang="en-US" sz="1400" dirty="0"/>
          </a:p>
        </p:txBody>
      </p:sp>
      <p:sp>
        <p:nvSpPr>
          <p:cNvPr id="11" name="Text 8"/>
          <p:cNvSpPr txBox="1"/>
          <p:nvPr/>
        </p:nvSpPr>
        <p:spPr>
          <a:xfrm>
            <a:off x="5349240" y="1554480"/>
            <a:ext cx="6293815" cy="365760"/>
          </a:xfrm>
          <a:prstGeom prst="rect">
            <a:avLst/>
          </a:prstGeom>
          <a:noFill/>
          <a:ln/>
        </p:spPr>
        <p:txBody>
          <a:bodyPr wrap="square" lIns="0" tIns="0" rIns="0" bIns="0" rtlCol="0" anchor="ctr"/>
          <a:lstStyle/>
          <a:p>
            <a:pPr indent="0" marL="0">
              <a:buNone/>
            </a:pPr>
            <a:r>
              <a:rPr lang="en-US" sz="1600" b="1" dirty="0">
                <a:solidFill>
                  <a:schemeClr val="tx1"/>
                </a:solidFill>
              </a:rPr>
              <a:t>광고별 역할을 나눕니다</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349240" y="2011680"/>
          <a:ext cx="6293815" cy="914400"/>
        </p:xfrm>
        <a:graphic>
          <a:graphicData uri="http://schemas.openxmlformats.org/drawingml/2006/table">
            <a:tbl>
              <a:tblPr/>
              <a:tblGrid>
                <a:gridCol w="1783080"/>
                <a:gridCol w="1691640"/>
                <a:gridCol w="2819095"/>
              </a:tblGrid>
              <a:tr h="457200">
                <a:tc>
                  <a:txBody>
                    <a:bodyPr/>
                    <a:lstStyle/>
                    <a:p>
                      <a:pPr indent="0" marL="0">
                        <a:buNone/>
                      </a:pPr>
                      <a:r>
                        <a:rPr lang="en-US" sz="1400" b="1" dirty="0">
                          <a:solidFill>
                            <a:schemeClr val="bg1"/>
                          </a:solidFill>
                        </a:rPr>
                        <a:t>광고</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역할</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대상</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rgbClr val="000000"/>
                          </a:solidFill>
                        </a:rPr>
                        <a:t>ADVoost</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새 고객 획득</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판매처별 2개로 통합, 연령 분할 해제, 시그널에서 구매자 제외</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685800">
                <a:tc>
                  <a:txBody>
                    <a:bodyPr/>
                    <a:lstStyle/>
                    <a:p>
                      <a:pPr indent="0" marL="0">
                        <a:buNone/>
                      </a:pPr>
                      <a:r>
                        <a:rPr lang="en-US" sz="1400" b="1" dirty="0">
                          <a:solidFill>
                            <a:srgbClr val="000000"/>
                          </a:solidFill>
                        </a:rPr>
                        <a:t>카탈로그 (신규)</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구매 직전 고객 회수</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자사몰 방문 60일, 장바구니 60일</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685800">
                <a:tc>
                  <a:txBody>
                    <a:bodyPr/>
                    <a:lstStyle/>
                    <a:p>
                      <a:pPr indent="0" marL="0">
                        <a:buNone/>
                      </a:pPr>
                      <a:r>
                        <a:rPr lang="en-US" sz="1400" b="1" dirty="0">
                          <a:solidFill>
                            <a:srgbClr val="000000"/>
                          </a:solidFill>
                        </a:rPr>
                        <a:t>재구매 캠페인</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기존 고객 재구매</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400" dirty="0">
                          <a:solidFill>
                            <a:srgbClr val="000000"/>
                          </a:solidFill>
                        </a:rPr>
                        <a:t>구매자 대상, 닭가슴살 재구매 주기에 맞춤</a:t>
                      </a:r>
                      <a:endParaRPr lang="en-US" sz="1400" dirty="0"/>
                    </a:p>
                  </a:txBody>
                  <a:tcPr marL="109728" marR="109728" marT="45720" marB="45720"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bl>
          </a:graphicData>
        </a:graphic>
      </p:graphicFrame>
      <p:sp>
        <p:nvSpPr>
          <p:cNvPr id="13" name="Shape 9"/>
          <p:cNvSpPr/>
          <p:nvPr/>
        </p:nvSpPr>
        <p:spPr>
          <a:xfrm>
            <a:off x="5349240" y="4846320"/>
            <a:ext cx="6293815" cy="1097280"/>
          </a:xfrm>
          <a:prstGeom prst="roundRect">
            <a:avLst>
              <a:gd name="adj" fmla="val 10000"/>
            </a:avLst>
          </a:prstGeom>
          <a:solidFill>
            <a:schemeClr val="tx2">
              <a:alpha val="8000"/>
            </a:schemeClr>
          </a:solidFill>
          <a:ln/>
        </p:spPr>
      </p:sp>
      <p:sp>
        <p:nvSpPr>
          <p:cNvPr id="14" name="Text 10"/>
          <p:cNvSpPr txBox="1"/>
          <p:nvPr/>
        </p:nvSpPr>
        <p:spPr>
          <a:xfrm>
            <a:off x="5623560" y="4846320"/>
            <a:ext cx="5745175" cy="1097280"/>
          </a:xfrm>
          <a:prstGeom prst="rect">
            <a:avLst/>
          </a:prstGeom>
          <a:noFill/>
          <a:ln/>
        </p:spPr>
        <p:txBody>
          <a:bodyPr wrap="square" lIns="0" tIns="0" rIns="0" bIns="0" rtlCol="0" anchor="ctr"/>
          <a:lstStyle/>
          <a:p>
            <a:pPr indent="0" marL="0">
              <a:buNone/>
            </a:pPr>
            <a:r>
              <a:rPr lang="en-US" sz="1500" b="1" dirty="0">
                <a:solidFill>
                  <a:schemeClr val="tx1"/>
                </a:solidFill>
              </a:rPr>
              <a:t>지금은 기존 구매자를 학습 출발점으로 준 상태</a:t>
            </a:r>
            <a:endParaRPr lang="en-US" sz="1500" dirty="0"/>
          </a:p>
          <a:p>
            <a:pPr indent="0" marL="0">
              <a:buNone/>
            </a:pPr>
            <a:r>
              <a:rPr lang="en-US" sz="1300" dirty="0">
                <a:solidFill>
                  <a:schemeClr val="accent2"/>
                </a:solidFill>
              </a:rPr>
              <a:t>ROAS 306% 중 새 고객 매출이 얼마인지 알 수 없습니다. 역할을 나누면 신규 ROAS와 리타겟 ROAS를 따로 볼 수 있습니다</a:t>
            </a:r>
            <a:endParaRPr lang="en-US" sz="15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1188720" y="640080"/>
            <a:ext cx="9601200" cy="731520"/>
          </a:xfrm>
          <a:prstGeom prst="rect">
            <a:avLst/>
          </a:prstGeom>
          <a:noFill/>
          <a:ln/>
        </p:spPr>
        <p:txBody>
          <a:bodyPr wrap="square" lIns="0" tIns="0" rIns="0" bIns="0" rtlCol="0" anchor="ctr"/>
          <a:lstStyle/>
          <a:p>
            <a:pPr algn="l" indent="0" marL="0">
              <a:buNone/>
            </a:pPr>
            <a:r>
              <a:rPr lang="en-US" sz="3600" b="1" dirty="0">
                <a:solidFill>
                  <a:schemeClr val="bg1"/>
                </a:solidFill>
              </a:rPr>
              <a:t>04  개선 제안</a:t>
            </a:r>
            <a:endParaRPr lang="en-US" sz="3600" dirty="0"/>
          </a:p>
        </p:txBody>
      </p:sp>
      <p:sp>
        <p:nvSpPr>
          <p:cNvPr id="3" name="Text 1"/>
          <p:cNvSpPr txBox="1"/>
          <p:nvPr/>
        </p:nvSpPr>
        <p:spPr>
          <a:xfrm>
            <a:off x="1188720" y="1691640"/>
            <a:ext cx="9144000" cy="548640"/>
          </a:xfrm>
          <a:prstGeom prst="rect">
            <a:avLst/>
          </a:prstGeom>
          <a:noFill/>
          <a:ln/>
        </p:spPr>
        <p:txBody>
          <a:bodyPr wrap="square" lIns="0" tIns="0" rIns="0" bIns="0" rtlCol="0" anchor="t"/>
          <a:lstStyle/>
          <a:p>
            <a:pPr indent="0" marL="0">
              <a:buNone/>
            </a:pPr>
            <a:r>
              <a:rPr lang="en-US" sz="2600" dirty="0">
                <a:solidFill>
                  <a:schemeClr val="bg1"/>
                </a:solidFill>
              </a:rPr>
              <a:t>순서대로 실행하는 개선 계획</a:t>
            </a:r>
            <a:endParaRPr lang="en-US" sz="2600" dirty="0"/>
          </a:p>
        </p:txBody>
      </p:sp>
      <p:sp>
        <p:nvSpPr>
          <p:cNvPr id="4" name="Text 2"/>
          <p:cNvSpPr txBox="1"/>
          <p:nvPr/>
        </p:nvSpPr>
        <p:spPr>
          <a:xfrm>
            <a:off x="1188720" y="2514600"/>
            <a:ext cx="9144000" cy="365760"/>
          </a:xfrm>
          <a:prstGeom prst="rect">
            <a:avLst/>
          </a:prstGeom>
          <a:noFill/>
          <a:ln/>
        </p:spPr>
        <p:txBody>
          <a:bodyPr wrap="square" lIns="0" tIns="0" rIns="0" bIns="0" rtlCol="0" anchor="t"/>
          <a:lstStyle/>
          <a:p>
            <a:pPr indent="0" marL="0">
              <a:buNone/>
            </a:pPr>
            <a:r>
              <a:rPr lang="en-US" sz="1600" dirty="0">
                <a:solidFill>
                  <a:schemeClr val="bg1"/>
                </a:solidFill>
              </a:rPr>
              <a:t>실행 방향  ·  실행 계획  ·  성과 지표</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04  개선 제안</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보이게 만들고, 새는 곳을 막고, 키웁니다</a:t>
            </a:r>
            <a:endParaRPr lang="en-US" sz="2800" dirty="0"/>
          </a:p>
        </p:txBody>
      </p:sp>
      <p:sp>
        <p:nvSpPr>
          <p:cNvPr id="4" name="Shape 2"/>
          <p:cNvSpPr/>
          <p:nvPr/>
        </p:nvSpPr>
        <p:spPr>
          <a:xfrm>
            <a:off x="548640" y="1554480"/>
            <a:ext cx="3484778" cy="3611880"/>
          </a:xfrm>
          <a:prstGeom prst="roundRect">
            <a:avLst>
              <a:gd name="adj" fmla="val 3149"/>
            </a:avLst>
          </a:prstGeom>
          <a:solidFill>
            <a:schemeClr val="bg2"/>
          </a:solidFill>
          <a:ln/>
        </p:spPr>
      </p:sp>
      <p:sp>
        <p:nvSpPr>
          <p:cNvPr id="5" name="Shape 3"/>
          <p:cNvSpPr/>
          <p:nvPr/>
        </p:nvSpPr>
        <p:spPr>
          <a:xfrm>
            <a:off x="822960" y="1828800"/>
            <a:ext cx="457200" cy="457200"/>
          </a:xfrm>
          <a:prstGeom prst="ellipse">
            <a:avLst/>
          </a:prstGeom>
          <a:solidFill>
            <a:schemeClr val="tx2"/>
          </a:solidFill>
          <a:ln/>
        </p:spPr>
      </p:sp>
      <p:sp>
        <p:nvSpPr>
          <p:cNvPr id="6" name="Text 4"/>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828800"/>
            <a:ext cx="2478938" cy="457200"/>
          </a:xfrm>
          <a:prstGeom prst="rect">
            <a:avLst/>
          </a:prstGeom>
          <a:noFill/>
          <a:ln/>
        </p:spPr>
        <p:txBody>
          <a:bodyPr wrap="square" lIns="0" tIns="0" rIns="0" bIns="0" rtlCol="0" anchor="ctr"/>
          <a:lstStyle/>
          <a:p>
            <a:pPr indent="0" marL="0">
              <a:buNone/>
            </a:pPr>
            <a:r>
              <a:rPr lang="en-US" sz="2000" b="1" dirty="0">
                <a:solidFill>
                  <a:schemeClr val="tx1"/>
                </a:solidFill>
              </a:rPr>
              <a:t>보이게 만든다</a:t>
            </a:r>
            <a:endParaRPr lang="en-US" sz="2000" dirty="0"/>
          </a:p>
        </p:txBody>
      </p:sp>
      <p:sp>
        <p:nvSpPr>
          <p:cNvPr id="8" name="Text 6"/>
          <p:cNvSpPr txBox="1"/>
          <p:nvPr/>
        </p:nvSpPr>
        <p:spPr>
          <a:xfrm>
            <a:off x="822960" y="2514600"/>
            <a:ext cx="2981858"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올라잇그린·건담닭 자사몰 전환 스크립트 설치</a:t>
            </a:r>
            <a:endParaRPr lang="en-US" sz="1400" dirty="0"/>
          </a:p>
          <a:p>
            <a:pPr marL="177800" indent="-177800">
              <a:spcAft>
                <a:spcPts val="800"/>
              </a:spcAft>
              <a:buSzPct val="100000"/>
              <a:buChar char="•"/>
            </a:pPr>
            <a:r>
              <a:rPr lang="en-US" sz="1400" dirty="0">
                <a:solidFill>
                  <a:schemeClr val="tx1"/>
                </a:solidFill>
              </a:rPr>
              <a:t>계약금을 포함한 실제 SA ROAS로 보고</a:t>
            </a:r>
            <a:endParaRPr lang="en-US" sz="1400" dirty="0"/>
          </a:p>
          <a:p>
            <a:pPr marL="177800" indent="-177800">
              <a:spcAft>
                <a:spcPts val="800"/>
              </a:spcAft>
              <a:buSzPct val="100000"/>
              <a:buChar char="•"/>
            </a:pPr>
            <a:r>
              <a:rPr lang="en-US" sz="1400" dirty="0">
                <a:solidFill>
                  <a:schemeClr val="tx1"/>
                </a:solidFill>
              </a:rPr>
              <a:t>브랜드/비브랜드, 신규/리타겟 매출 분리</a:t>
            </a:r>
            <a:endParaRPr lang="en-US" sz="1400" dirty="0"/>
          </a:p>
        </p:txBody>
      </p:sp>
      <p:sp>
        <p:nvSpPr>
          <p:cNvPr id="9" name="Text 7"/>
          <p:cNvSpPr txBox="1"/>
          <p:nvPr/>
        </p:nvSpPr>
        <p:spPr>
          <a:xfrm>
            <a:off x="4033418" y="3108960"/>
            <a:ext cx="320040"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10" name="Shape 8"/>
          <p:cNvSpPr/>
          <p:nvPr/>
        </p:nvSpPr>
        <p:spPr>
          <a:xfrm>
            <a:off x="4353458" y="1554480"/>
            <a:ext cx="3484778" cy="3611880"/>
          </a:xfrm>
          <a:prstGeom prst="roundRect">
            <a:avLst>
              <a:gd name="adj" fmla="val 3149"/>
            </a:avLst>
          </a:prstGeom>
          <a:solidFill>
            <a:schemeClr val="bg2"/>
          </a:solidFill>
          <a:ln/>
        </p:spPr>
      </p:sp>
      <p:sp>
        <p:nvSpPr>
          <p:cNvPr id="11" name="Shape 9"/>
          <p:cNvSpPr/>
          <p:nvPr/>
        </p:nvSpPr>
        <p:spPr>
          <a:xfrm>
            <a:off x="4627778" y="1828800"/>
            <a:ext cx="457200" cy="457200"/>
          </a:xfrm>
          <a:prstGeom prst="ellipse">
            <a:avLst/>
          </a:prstGeom>
          <a:solidFill>
            <a:schemeClr val="accent1"/>
          </a:solidFill>
          <a:ln/>
        </p:spPr>
      </p:sp>
      <p:sp>
        <p:nvSpPr>
          <p:cNvPr id="12" name="Text 10"/>
          <p:cNvSpPr txBox="1"/>
          <p:nvPr/>
        </p:nvSpPr>
        <p:spPr>
          <a:xfrm>
            <a:off x="4627778"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5222138" y="1828800"/>
            <a:ext cx="2478938" cy="457200"/>
          </a:xfrm>
          <a:prstGeom prst="rect">
            <a:avLst/>
          </a:prstGeom>
          <a:noFill/>
          <a:ln/>
        </p:spPr>
        <p:txBody>
          <a:bodyPr wrap="square" lIns="0" tIns="0" rIns="0" bIns="0" rtlCol="0" anchor="ctr"/>
          <a:lstStyle/>
          <a:p>
            <a:pPr indent="0" marL="0">
              <a:buNone/>
            </a:pPr>
            <a:r>
              <a:rPr lang="en-US" sz="2000" b="1" dirty="0">
                <a:solidFill>
                  <a:schemeClr val="tx1"/>
                </a:solidFill>
              </a:rPr>
              <a:t>새는 곳을 막는다</a:t>
            </a:r>
            <a:endParaRPr lang="en-US" sz="2000" dirty="0"/>
          </a:p>
        </p:txBody>
      </p:sp>
      <p:sp>
        <p:nvSpPr>
          <p:cNvPr id="14" name="Text 12"/>
          <p:cNvSpPr txBox="1"/>
          <p:nvPr/>
        </p:nvSpPr>
        <p:spPr>
          <a:xfrm>
            <a:off x="4627778" y="2514600"/>
            <a:ext cx="2981858"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브랜드검색 노출 정상화</a:t>
            </a:r>
            <a:endParaRPr lang="en-US" sz="1400" dirty="0"/>
          </a:p>
          <a:p>
            <a:pPr marL="177800" indent="-177800">
              <a:spcAft>
                <a:spcPts val="800"/>
              </a:spcAft>
              <a:buSzPct val="100000"/>
              <a:buChar char="•"/>
            </a:pPr>
            <a:r>
              <a:rPr lang="en-US" sz="1400" dirty="0">
                <a:solidFill>
                  <a:schemeClr val="tx1"/>
                </a:solidFill>
              </a:rPr>
              <a:t>브랜드검색 노출 기간엔 파워링크 브랜드 입찰 하향</a:t>
            </a:r>
            <a:endParaRPr lang="en-US" sz="1400" dirty="0"/>
          </a:p>
          <a:p>
            <a:pPr marL="177800" indent="-177800">
              <a:spcAft>
                <a:spcPts val="800"/>
              </a:spcAft>
              <a:buSzPct val="100000"/>
              <a:buChar char="•"/>
            </a:pPr>
            <a:r>
              <a:rPr lang="en-US" sz="1400" dirty="0">
                <a:solidFill>
                  <a:schemeClr val="tx1"/>
                </a:solidFill>
              </a:rPr>
              <a:t>제외키워드 등록, 콘텐츠 매체·저효율 지면·19세 미만 제외</a:t>
            </a:r>
            <a:endParaRPr lang="en-US" sz="1400" dirty="0"/>
          </a:p>
          <a:p>
            <a:pPr marL="177800" indent="-177800">
              <a:spcAft>
                <a:spcPts val="800"/>
              </a:spcAft>
              <a:buSzPct val="100000"/>
              <a:buChar char="•"/>
            </a:pPr>
            <a:r>
              <a:rPr lang="en-US" sz="1400" dirty="0">
                <a:solidFill>
                  <a:schemeClr val="tx1"/>
                </a:solidFill>
              </a:rPr>
              <a:t>올라잇그린: 제품군 키워드 분리, 문구에 제품군과 혜택, '비오틴'·'블루'·'공구' 제외</a:t>
            </a:r>
            <a:endParaRPr lang="en-US" sz="1400" dirty="0"/>
          </a:p>
        </p:txBody>
      </p:sp>
      <p:sp>
        <p:nvSpPr>
          <p:cNvPr id="15" name="Text 13"/>
          <p:cNvSpPr txBox="1"/>
          <p:nvPr/>
        </p:nvSpPr>
        <p:spPr>
          <a:xfrm>
            <a:off x="7838237" y="3108960"/>
            <a:ext cx="320040"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16" name="Shape 14"/>
          <p:cNvSpPr/>
          <p:nvPr/>
        </p:nvSpPr>
        <p:spPr>
          <a:xfrm>
            <a:off x="8158277" y="1554480"/>
            <a:ext cx="3484778" cy="3611880"/>
          </a:xfrm>
          <a:prstGeom prst="roundRect">
            <a:avLst>
              <a:gd name="adj" fmla="val 3149"/>
            </a:avLst>
          </a:prstGeom>
          <a:solidFill>
            <a:schemeClr val="bg2"/>
          </a:solidFill>
          <a:ln/>
        </p:spPr>
      </p:sp>
      <p:sp>
        <p:nvSpPr>
          <p:cNvPr id="17" name="Shape 15"/>
          <p:cNvSpPr/>
          <p:nvPr/>
        </p:nvSpPr>
        <p:spPr>
          <a:xfrm>
            <a:off x="8432597" y="1828800"/>
            <a:ext cx="457200" cy="457200"/>
          </a:xfrm>
          <a:prstGeom prst="ellipse">
            <a:avLst/>
          </a:prstGeom>
          <a:solidFill>
            <a:schemeClr val="accent4"/>
          </a:solidFill>
          <a:ln/>
        </p:spPr>
      </p:sp>
      <p:sp>
        <p:nvSpPr>
          <p:cNvPr id="18" name="Text 16"/>
          <p:cNvSpPr txBox="1"/>
          <p:nvPr/>
        </p:nvSpPr>
        <p:spPr>
          <a:xfrm>
            <a:off x="8432597"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9026957" y="1828800"/>
            <a:ext cx="2478938" cy="457200"/>
          </a:xfrm>
          <a:prstGeom prst="rect">
            <a:avLst/>
          </a:prstGeom>
          <a:noFill/>
          <a:ln/>
        </p:spPr>
        <p:txBody>
          <a:bodyPr wrap="square" lIns="0" tIns="0" rIns="0" bIns="0" rtlCol="0" anchor="ctr"/>
          <a:lstStyle/>
          <a:p>
            <a:pPr indent="0" marL="0">
              <a:buNone/>
            </a:pPr>
            <a:r>
              <a:rPr lang="en-US" sz="2000" b="1" dirty="0">
                <a:solidFill>
                  <a:schemeClr val="tx1"/>
                </a:solidFill>
              </a:rPr>
              <a:t>키운다</a:t>
            </a:r>
            <a:endParaRPr lang="en-US" sz="2000" dirty="0"/>
          </a:p>
        </p:txBody>
      </p:sp>
      <p:sp>
        <p:nvSpPr>
          <p:cNvPr id="20" name="Text 18"/>
          <p:cNvSpPr txBox="1"/>
          <p:nvPr/>
        </p:nvSpPr>
        <p:spPr>
          <a:xfrm>
            <a:off x="8432597" y="2514600"/>
            <a:ext cx="2981858" cy="2560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ADVoost 통합 후 5~6월 효율 구간에서 단계적 증액</a:t>
            </a:r>
            <a:endParaRPr lang="en-US" sz="1400" dirty="0"/>
          </a:p>
          <a:p>
            <a:pPr marL="177800" indent="-177800">
              <a:spcAft>
                <a:spcPts val="800"/>
              </a:spcAft>
              <a:buSzPct val="100000"/>
              <a:buChar char="•"/>
            </a:pPr>
            <a:r>
              <a:rPr lang="en-US" sz="1400" dirty="0">
                <a:solidFill>
                  <a:schemeClr val="tx1"/>
                </a:solidFill>
              </a:rPr>
              <a:t>카탈로그·재구매 캠페인 신설</a:t>
            </a:r>
            <a:endParaRPr lang="en-US" sz="1400" dirty="0"/>
          </a:p>
          <a:p>
            <a:pPr marL="177800" indent="-177800">
              <a:spcAft>
                <a:spcPts val="800"/>
              </a:spcAft>
              <a:buSzPct val="100000"/>
              <a:buChar char="•"/>
            </a:pPr>
            <a:r>
              <a:rPr lang="en-US" sz="1400" dirty="0">
                <a:solidFill>
                  <a:schemeClr val="tx1"/>
                </a:solidFill>
              </a:rPr>
              <a:t>꼬기다 카테고리 키워드, 타사 브랜드 키워드 테스트</a:t>
            </a:r>
            <a:endParaRPr lang="en-US" sz="1400" dirty="0"/>
          </a:p>
          <a:p>
            <a:pPr marL="177800" indent="-177800">
              <a:spcAft>
                <a:spcPts val="800"/>
              </a:spcAft>
              <a:buSzPct val="100000"/>
              <a:buChar char="•"/>
            </a:pPr>
            <a:r>
              <a:rPr lang="en-US" sz="1400" dirty="0">
                <a:solidFill>
                  <a:schemeClr val="tx1"/>
                </a:solidFill>
              </a:rPr>
              <a:t>핵심 타겟 수동 전환 캠페인 (GFA 예산의 20%)</a:t>
            </a:r>
            <a:endParaRPr lang="en-US" sz="1400" dirty="0"/>
          </a:p>
        </p:txBody>
      </p:sp>
      <p:sp>
        <p:nvSpPr>
          <p:cNvPr id="21" name="Shape 19"/>
          <p:cNvSpPr/>
          <p:nvPr/>
        </p:nvSpPr>
        <p:spPr>
          <a:xfrm>
            <a:off x="548640" y="5349240"/>
            <a:ext cx="11094415" cy="640080"/>
          </a:xfrm>
          <a:prstGeom prst="roundRect">
            <a:avLst>
              <a:gd name="adj" fmla="val 17143"/>
            </a:avLst>
          </a:prstGeom>
          <a:solidFill>
            <a:schemeClr val="tx2"/>
          </a:solidFill>
          <a:ln/>
        </p:spPr>
      </p:sp>
      <p:sp>
        <p:nvSpPr>
          <p:cNvPr id="22" name="Text 20"/>
          <p:cNvSpPr txBox="1"/>
          <p:nvPr/>
        </p:nvSpPr>
        <p:spPr>
          <a:xfrm>
            <a:off x="822960" y="5349240"/>
            <a:ext cx="10545775" cy="640080"/>
          </a:xfrm>
          <a:prstGeom prst="rect">
            <a:avLst/>
          </a:prstGeom>
          <a:noFill/>
          <a:ln/>
        </p:spPr>
        <p:txBody>
          <a:bodyPr wrap="square" lIns="0" tIns="0" rIns="0" bIns="0" rtlCol="0" anchor="ctr"/>
          <a:lstStyle/>
          <a:p>
            <a:pPr indent="0" marL="0">
              <a:buNone/>
            </a:pPr>
            <a:r>
              <a:rPr lang="en-US" sz="1600" b="1" dirty="0">
                <a:solidFill>
                  <a:schemeClr val="bg1"/>
                </a:solidFill>
              </a:rPr>
              <a:t>순서가 중요합니다. 보이지 않는 상태에서 키우면 같은 결과가 반복됩니다</a:t>
            </a:r>
            <a:endParaRPr lang="en-US" sz="16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04  개선 제안</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이번 주부터 바로 시작할 수 있습니다</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371600"/>
                <a:gridCol w="5943600"/>
                <a:gridCol w="3776472"/>
              </a:tblGrid>
              <a:tr h="0">
                <a:tc>
                  <a:txBody>
                    <a:bodyPr/>
                    <a:lstStyle/>
                    <a:p>
                      <a:pPr indent="0" marL="0">
                        <a:buNone/>
                      </a:pPr>
                      <a:r>
                        <a:rPr lang="en-US" sz="1400" b="1" dirty="0">
                          <a:solidFill>
                            <a:schemeClr val="bg1"/>
                          </a:solidFill>
                        </a:rPr>
                        <a:t>시기</a:t>
                      </a:r>
                      <a:endParaRPr lang="en-US" sz="1400" dirty="0"/>
                    </a:p>
                  </a:txBody>
                  <a:tcPr marL="137160" marR="137160" marT="73152" marB="73152">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실행 항목</a:t>
                      </a:r>
                      <a:endParaRPr lang="en-US" sz="1400" dirty="0"/>
                    </a:p>
                  </a:txBody>
                  <a:tcPr marL="137160" marR="137160" marT="73152" marB="73152">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확인 기준</a:t>
                      </a:r>
                      <a:endParaRPr lang="en-US" sz="1400" dirty="0"/>
                    </a:p>
                  </a:txBody>
                  <a:tcPr marL="137160" marR="137160" marT="73152" marB="73152">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0">
                <a:tc>
                  <a:txBody>
                    <a:bodyPr/>
                    <a:lstStyle/>
                    <a:p>
                      <a:pPr algn="ctr" indent="0" marL="0">
                        <a:buNone/>
                      </a:pPr>
                      <a:r>
                        <a:rPr lang="en-US" sz="1500" b="1" dirty="0">
                          <a:solidFill>
                            <a:schemeClr val="bg1"/>
                          </a:solidFill>
                        </a:rPr>
                        <a:t>이번 주</a:t>
                      </a:r>
                      <a:endParaRPr lang="en-US" sz="15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13518"/>
                    </a:solidFill>
                  </a:tcPr>
                </a:tc>
                <a:tc>
                  <a:txBody>
                    <a:bodyPr/>
                    <a:lstStyle/>
                    <a:p>
                      <a:pPr marL="152400" indent="-152400">
                        <a:buSzPct val="100000"/>
                        <a:buChar char="•"/>
                      </a:pPr>
                      <a:r>
                        <a:rPr lang="en-US" sz="1300" dirty="0">
                          <a:solidFill>
                            <a:srgbClr val="000000"/>
                          </a:solidFill>
                        </a:rPr>
                        <a:t>브랜드검색 미노출 원인 확인·정상화</a:t>
                      </a:r>
                      <a:endParaRPr lang="en-US" sz="1300" dirty="0"/>
                    </a:p>
                    <a:p>
                      <a:pPr marL="152400" indent="-152400">
                        <a:buSzPct val="100000"/>
                        <a:buChar char="•"/>
                      </a:pPr>
                      <a:r>
                        <a:rPr lang="en-US" sz="1300" dirty="0">
                          <a:solidFill>
                            <a:srgbClr val="000000"/>
                          </a:solidFill>
                        </a:rPr>
                        <a:t>올라잇그린·건담닭 자사몰 전환 스크립트 설치</a:t>
                      </a:r>
                      <a:endParaRPr lang="en-US" sz="1300" dirty="0"/>
                    </a:p>
                    <a:p>
                      <a:pPr marL="152400" indent="-152400">
                        <a:buSzPct val="100000"/>
                        <a:buChar char="•"/>
                      </a:pPr>
                      <a:r>
                        <a:rPr lang="en-US" sz="1300" dirty="0">
                          <a:solidFill>
                            <a:srgbClr val="000000"/>
                          </a:solidFill>
                        </a:rPr>
                        <a:t>전체 제외키워드 등록</a:t>
                      </a:r>
                      <a:endParaRPr lang="en-US" sz="1300" dirty="0"/>
                    </a:p>
                    <a:p>
                      <a:pPr marL="152400" indent="-152400">
                        <a:buSzPct val="100000"/>
                        <a:buChar char="•"/>
                      </a:pPr>
                      <a:r>
                        <a:rPr lang="en-US" sz="1300" dirty="0">
                          <a:solidFill>
                            <a:srgbClr val="000000"/>
                          </a:solidFill>
                        </a:rPr>
                        <a:t>콘텐츠 매체·저효율 지면·19세 미만 제외</a:t>
                      </a:r>
                      <a:endParaRPr lang="en-US" sz="13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marL="152400" indent="-152400">
                        <a:buSzPct val="100000"/>
                        <a:buChar char="•"/>
                      </a:pPr>
                      <a:r>
                        <a:rPr lang="en-US" sz="1300" dirty="0">
                          <a:solidFill>
                            <a:schemeClr val="accent2"/>
                          </a:solidFill>
                        </a:rPr>
                        <a:t>브랜드검색 일 노출 정상화</a:t>
                      </a:r>
                      <a:endParaRPr lang="en-US" sz="1300" dirty="0"/>
                    </a:p>
                    <a:p>
                      <a:pPr marL="152400" indent="-152400">
                        <a:buSzPct val="100000"/>
                        <a:buChar char="•"/>
                      </a:pPr>
                      <a:r>
                        <a:rPr lang="en-US" sz="1300" dirty="0">
                          <a:solidFill>
                            <a:schemeClr val="accent2"/>
                          </a:solidFill>
                        </a:rPr>
                        <a:t>파워링크 구매 집계 시작</a:t>
                      </a:r>
                      <a:endParaRPr lang="en-US" sz="13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0">
                <a:tc>
                  <a:txBody>
                    <a:bodyPr/>
                    <a:lstStyle/>
                    <a:p>
                      <a:pPr algn="ctr" indent="0" marL="0">
                        <a:buNone/>
                      </a:pPr>
                      <a:r>
                        <a:rPr lang="en-US" sz="1500" b="1" dirty="0">
                          <a:solidFill>
                            <a:schemeClr val="bg1"/>
                          </a:solidFill>
                        </a:rPr>
                        <a:t>1개월</a:t>
                      </a:r>
                      <a:endParaRPr lang="en-US" sz="15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100442"/>
                    </a:solidFill>
                  </a:tcPr>
                </a:tc>
                <a:tc>
                  <a:txBody>
                    <a:bodyPr/>
                    <a:lstStyle/>
                    <a:p>
                      <a:pPr marL="152400" indent="-152400">
                        <a:buSzPct val="100000"/>
                        <a:buChar char="•"/>
                      </a:pPr>
                      <a:r>
                        <a:rPr lang="en-US" sz="1300" dirty="0">
                          <a:solidFill>
                            <a:srgbClr val="000000"/>
                          </a:solidFill>
                        </a:rPr>
                        <a:t>ADVoost 9개 → 2개 통합 (2주 비교)</a:t>
                      </a:r>
                      <a:endParaRPr lang="en-US" sz="1300" dirty="0"/>
                    </a:p>
                    <a:p>
                      <a:pPr marL="152400" indent="-152400">
                        <a:buSzPct val="100000"/>
                        <a:buChar char="•"/>
                      </a:pPr>
                      <a:r>
                        <a:rPr lang="en-US" sz="1300" dirty="0">
                          <a:solidFill>
                            <a:srgbClr val="000000"/>
                          </a:solidFill>
                        </a:rPr>
                        <a:t>카탈로그 리타겟 신규 세팅</a:t>
                      </a:r>
                      <a:endParaRPr lang="en-US" sz="1300" dirty="0"/>
                    </a:p>
                    <a:p>
                      <a:pPr marL="152400" indent="-152400">
                        <a:buSzPct val="100000"/>
                        <a:buChar char="•"/>
                      </a:pPr>
                      <a:r>
                        <a:rPr lang="en-US" sz="1300" dirty="0">
                          <a:solidFill>
                            <a:srgbClr val="000000"/>
                          </a:solidFill>
                        </a:rPr>
                        <a:t>올라잇그린 키워드·문구 정비</a:t>
                      </a:r>
                      <a:endParaRPr lang="en-US" sz="1300" dirty="0"/>
                    </a:p>
                    <a:p>
                      <a:pPr marL="152400" indent="-152400">
                        <a:buSzPct val="100000"/>
                        <a:buChar char="•"/>
                      </a:pPr>
                      <a:r>
                        <a:rPr lang="en-US" sz="1300" dirty="0">
                          <a:solidFill>
                            <a:srgbClr val="000000"/>
                          </a:solidFill>
                        </a:rPr>
                        <a:t>카테고리·타사 브랜드 키워드 테스트</a:t>
                      </a:r>
                      <a:endParaRPr lang="en-US" sz="1300" dirty="0"/>
                    </a:p>
                    <a:p>
                      <a:pPr marL="152400" indent="-152400">
                        <a:buSzPct val="100000"/>
                        <a:buChar char="•"/>
                      </a:pPr>
                      <a:r>
                        <a:rPr lang="en-US" sz="1300" dirty="0">
                          <a:solidFill>
                            <a:srgbClr val="000000"/>
                          </a:solidFill>
                        </a:rPr>
                        <a:t>브랜드검색 기간 파워링크 입찰 하향</a:t>
                      </a:r>
                      <a:endParaRPr lang="en-US" sz="1300" dirty="0"/>
                    </a:p>
                    <a:p>
                      <a:pPr marL="152400" indent="-152400">
                        <a:buSzPct val="100000"/>
                        <a:buChar char="•"/>
                      </a:pPr>
                      <a:r>
                        <a:rPr lang="en-US" sz="1300" dirty="0">
                          <a:solidFill>
                            <a:srgbClr val="000000"/>
                          </a:solidFill>
                        </a:rPr>
                        <a:t>트래픽 캠페인은 전환 목적으로 통합, 신규 소재 월 2~3개</a:t>
                      </a:r>
                      <a:endParaRPr lang="en-US" sz="13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marL="152400" indent="-152400">
                        <a:buSzPct val="100000"/>
                        <a:buChar char="•"/>
                      </a:pPr>
                      <a:r>
                        <a:rPr lang="en-US" sz="1300" dirty="0">
                          <a:solidFill>
                            <a:schemeClr val="accent2"/>
                          </a:solidFill>
                        </a:rPr>
                        <a:t>통합 ADVoost ROAS·CPM 유지 또는 개선</a:t>
                      </a:r>
                      <a:endParaRPr lang="en-US" sz="1300" dirty="0"/>
                    </a:p>
                    <a:p>
                      <a:pPr marL="152400" indent="-152400">
                        <a:buSzPct val="100000"/>
                        <a:buChar char="•"/>
                      </a:pPr>
                      <a:r>
                        <a:rPr lang="en-US" sz="1300" dirty="0">
                          <a:solidFill>
                            <a:schemeClr val="accent2"/>
                          </a:solidFill>
                        </a:rPr>
                        <a:t>올라잇그린 클릭당 비용 하락</a:t>
                      </a:r>
                      <a:endParaRPr lang="en-US" sz="1300" dirty="0"/>
                    </a:p>
                    <a:p>
                      <a:pPr marL="152400" indent="-152400">
                        <a:buSzPct val="100000"/>
                        <a:buChar char="•"/>
                      </a:pPr>
                      <a:r>
                        <a:rPr lang="en-US" sz="1300" dirty="0">
                          <a:solidFill>
                            <a:schemeClr val="accent2"/>
                          </a:solidFill>
                        </a:rPr>
                        <a:t>신규 키워드 구매당 비용</a:t>
                      </a:r>
                      <a:endParaRPr lang="en-US" sz="13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0">
                <a:tc>
                  <a:txBody>
                    <a:bodyPr/>
                    <a:lstStyle/>
                    <a:p>
                      <a:pPr algn="ctr" indent="0" marL="0">
                        <a:buNone/>
                      </a:pPr>
                      <a:r>
                        <a:rPr lang="en-US" sz="1500" b="1" dirty="0">
                          <a:solidFill>
                            <a:schemeClr val="bg1"/>
                          </a:solidFill>
                        </a:rPr>
                        <a:t>2~3개월</a:t>
                      </a:r>
                      <a:endParaRPr lang="en-US" sz="15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6F7D97"/>
                    </a:solidFill>
                  </a:tcPr>
                </a:tc>
                <a:tc>
                  <a:txBody>
                    <a:bodyPr/>
                    <a:lstStyle/>
                    <a:p>
                      <a:pPr marL="152400" indent="-152400">
                        <a:buSzPct val="100000"/>
                        <a:buChar char="•"/>
                      </a:pPr>
                      <a:r>
                        <a:rPr lang="en-US" sz="1300" dirty="0">
                          <a:solidFill>
                            <a:srgbClr val="000000"/>
                          </a:solidFill>
                        </a:rPr>
                        <a:t>ADVoost 주간 예산 단계 테스트 (5~6월 수준에서 출발)</a:t>
                      </a:r>
                      <a:endParaRPr lang="en-US" sz="1300" dirty="0"/>
                    </a:p>
                    <a:p>
                      <a:pPr marL="152400" indent="-152400">
                        <a:buSzPct val="100000"/>
                        <a:buChar char="•"/>
                      </a:pPr>
                      <a:r>
                        <a:rPr lang="en-US" sz="1300" dirty="0">
                          <a:solidFill>
                            <a:srgbClr val="000000"/>
                          </a:solidFill>
                        </a:rPr>
                        <a:t>재구매 캠페인, 핵심 타겟 수동 전환 캠페인 20%</a:t>
                      </a:r>
                      <a:endParaRPr lang="en-US" sz="1300" dirty="0"/>
                    </a:p>
                    <a:p>
                      <a:pPr marL="152400" indent="-152400">
                        <a:buSzPct val="100000"/>
                        <a:buChar char="•"/>
                      </a:pPr>
                      <a:r>
                        <a:rPr lang="en-US" sz="1300" dirty="0">
                          <a:solidFill>
                            <a:srgbClr val="000000"/>
                          </a:solidFill>
                        </a:rPr>
                        <a:t>시즌 상품 최소 4주 운영</a:t>
                      </a:r>
                      <a:endParaRPr lang="en-US" sz="1300" dirty="0"/>
                    </a:p>
                    <a:p>
                      <a:pPr marL="152400" indent="-152400">
                        <a:buSzPct val="100000"/>
                        <a:buChar char="•"/>
                      </a:pPr>
                      <a:r>
                        <a:rPr lang="en-US" sz="1300" dirty="0">
                          <a:solidFill>
                            <a:srgbClr val="000000"/>
                          </a:solidFill>
                        </a:rPr>
                        <a:t>분리 리포트 정착</a:t>
                      </a:r>
                      <a:endParaRPr lang="en-US" sz="13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marL="152400" indent="-152400">
                        <a:buSzPct val="100000"/>
                        <a:buChar char="•"/>
                      </a:pPr>
                      <a:r>
                        <a:rPr lang="en-US" sz="1300" dirty="0">
                          <a:solidFill>
                            <a:schemeClr val="accent2"/>
                          </a:solidFill>
                        </a:rPr>
                        <a:t>ROAS가 꺾이는 예산 구간 확인</a:t>
                      </a:r>
                      <a:endParaRPr lang="en-US" sz="1300" dirty="0"/>
                    </a:p>
                    <a:p>
                      <a:pPr marL="152400" indent="-152400">
                        <a:buSzPct val="100000"/>
                        <a:buChar char="•"/>
                      </a:pPr>
                      <a:r>
                        <a:rPr lang="en-US" sz="1300" dirty="0">
                          <a:solidFill>
                            <a:schemeClr val="accent2"/>
                          </a:solidFill>
                        </a:rPr>
                        <a:t>신규 고객 매출 비중 증가</a:t>
                      </a:r>
                      <a:endParaRPr lang="en-US" sz="1300" dirty="0"/>
                    </a:p>
                  </a:txBody>
                  <a:tcPr marL="137160" marR="137160" marT="73152" marB="73152"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04  개선 제안</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하나의 ROAS가 아니라 다섯 개의 숫자로 봅니다</a:t>
            </a:r>
            <a:endParaRPr lang="en-US" sz="2800" dirty="0"/>
          </a:p>
        </p:txBody>
      </p:sp>
      <p:sp>
        <p:nvSpPr>
          <p:cNvPr id="4" name="Shape 2"/>
          <p:cNvSpPr/>
          <p:nvPr/>
        </p:nvSpPr>
        <p:spPr>
          <a:xfrm>
            <a:off x="548640" y="1554480"/>
            <a:ext cx="6172200" cy="777240"/>
          </a:xfrm>
          <a:prstGeom prst="roundRect">
            <a:avLst>
              <a:gd name="adj" fmla="val 14118"/>
            </a:avLst>
          </a:prstGeom>
          <a:solidFill>
            <a:schemeClr val="bg2"/>
          </a:solidFill>
          <a:ln/>
        </p:spPr>
      </p:sp>
      <p:sp>
        <p:nvSpPr>
          <p:cNvPr id="5" name="Shape 3"/>
          <p:cNvSpPr/>
          <p:nvPr/>
        </p:nvSpPr>
        <p:spPr>
          <a:xfrm>
            <a:off x="749808" y="1737360"/>
            <a:ext cx="411480" cy="411480"/>
          </a:xfrm>
          <a:prstGeom prst="ellipse">
            <a:avLst/>
          </a:prstGeom>
          <a:solidFill>
            <a:schemeClr val="tx2"/>
          </a:solidFill>
          <a:ln/>
        </p:spPr>
      </p:sp>
      <p:sp>
        <p:nvSpPr>
          <p:cNvPr id="6" name="Text 4"/>
          <p:cNvSpPr txBox="1"/>
          <p:nvPr/>
        </p:nvSpPr>
        <p:spPr>
          <a:xfrm>
            <a:off x="749808" y="1737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325880" y="1627632"/>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계약금 포함 SA ROAS</a:t>
            </a:r>
            <a:endParaRPr lang="en-US" sz="1600" dirty="0"/>
          </a:p>
        </p:txBody>
      </p:sp>
      <p:sp>
        <p:nvSpPr>
          <p:cNvPr id="8" name="Text 6"/>
          <p:cNvSpPr txBox="1"/>
          <p:nvPr/>
        </p:nvSpPr>
        <p:spPr>
          <a:xfrm>
            <a:off x="1325880" y="1975104"/>
            <a:ext cx="5212080" cy="292608"/>
          </a:xfrm>
          <a:prstGeom prst="rect">
            <a:avLst/>
          </a:prstGeom>
          <a:noFill/>
          <a:ln/>
        </p:spPr>
        <p:txBody>
          <a:bodyPr wrap="square" lIns="0" tIns="0" rIns="0" bIns="0" rtlCol="0" anchor="ctr"/>
          <a:lstStyle/>
          <a:p>
            <a:pPr indent="0" marL="0">
              <a:buNone/>
            </a:pPr>
            <a:r>
              <a:rPr lang="en-US" sz="1300" dirty="0">
                <a:solidFill>
                  <a:schemeClr val="accent2"/>
                </a:solidFill>
              </a:rPr>
              <a:t>브랜드검색 계약금까지 넣은 실제 검색광고 효율</a:t>
            </a:r>
            <a:endParaRPr lang="en-US" sz="1300" dirty="0"/>
          </a:p>
        </p:txBody>
      </p:sp>
      <p:sp>
        <p:nvSpPr>
          <p:cNvPr id="9" name="Shape 7"/>
          <p:cNvSpPr/>
          <p:nvPr/>
        </p:nvSpPr>
        <p:spPr>
          <a:xfrm>
            <a:off x="548640" y="2441448"/>
            <a:ext cx="6172200" cy="777240"/>
          </a:xfrm>
          <a:prstGeom prst="roundRect">
            <a:avLst>
              <a:gd name="adj" fmla="val 14118"/>
            </a:avLst>
          </a:prstGeom>
          <a:solidFill>
            <a:schemeClr val="bg2"/>
          </a:solidFill>
          <a:ln/>
        </p:spPr>
      </p:sp>
      <p:sp>
        <p:nvSpPr>
          <p:cNvPr id="10" name="Shape 8"/>
          <p:cNvSpPr/>
          <p:nvPr/>
        </p:nvSpPr>
        <p:spPr>
          <a:xfrm>
            <a:off x="749808" y="2624328"/>
            <a:ext cx="411480" cy="411480"/>
          </a:xfrm>
          <a:prstGeom prst="ellipse">
            <a:avLst/>
          </a:prstGeom>
          <a:solidFill>
            <a:schemeClr val="tx2"/>
          </a:solidFill>
          <a:ln/>
        </p:spPr>
      </p:sp>
      <p:sp>
        <p:nvSpPr>
          <p:cNvPr id="11" name="Text 9"/>
          <p:cNvSpPr txBox="1"/>
          <p:nvPr/>
        </p:nvSpPr>
        <p:spPr>
          <a:xfrm>
            <a:off x="749808" y="262432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1325880" y="2514600"/>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비브랜드 검색 매출 · 구매당 비용</a:t>
            </a:r>
            <a:endParaRPr lang="en-US" sz="1600" dirty="0"/>
          </a:p>
        </p:txBody>
      </p:sp>
      <p:sp>
        <p:nvSpPr>
          <p:cNvPr id="13" name="Text 11"/>
          <p:cNvSpPr txBox="1"/>
          <p:nvPr/>
        </p:nvSpPr>
        <p:spPr>
          <a:xfrm>
            <a:off x="1325880" y="2862072"/>
            <a:ext cx="5212080" cy="292608"/>
          </a:xfrm>
          <a:prstGeom prst="rect">
            <a:avLst/>
          </a:prstGeom>
          <a:noFill/>
          <a:ln/>
        </p:spPr>
        <p:txBody>
          <a:bodyPr wrap="square" lIns="0" tIns="0" rIns="0" bIns="0" rtlCol="0" anchor="ctr"/>
          <a:lstStyle/>
          <a:p>
            <a:pPr indent="0" marL="0">
              <a:buNone/>
            </a:pPr>
            <a:r>
              <a:rPr lang="en-US" sz="1300" dirty="0">
                <a:solidFill>
                  <a:schemeClr val="accent2"/>
                </a:solidFill>
              </a:rPr>
              <a:t>새 고객을 데려오는 검색의 성과</a:t>
            </a:r>
            <a:endParaRPr lang="en-US" sz="1300" dirty="0"/>
          </a:p>
        </p:txBody>
      </p:sp>
      <p:sp>
        <p:nvSpPr>
          <p:cNvPr id="14" name="Shape 12"/>
          <p:cNvSpPr/>
          <p:nvPr/>
        </p:nvSpPr>
        <p:spPr>
          <a:xfrm>
            <a:off x="548640" y="3328416"/>
            <a:ext cx="6172200" cy="777240"/>
          </a:xfrm>
          <a:prstGeom prst="roundRect">
            <a:avLst>
              <a:gd name="adj" fmla="val 14118"/>
            </a:avLst>
          </a:prstGeom>
          <a:solidFill>
            <a:schemeClr val="bg2"/>
          </a:solidFill>
          <a:ln/>
        </p:spPr>
      </p:sp>
      <p:sp>
        <p:nvSpPr>
          <p:cNvPr id="15" name="Shape 13"/>
          <p:cNvSpPr/>
          <p:nvPr/>
        </p:nvSpPr>
        <p:spPr>
          <a:xfrm>
            <a:off x="749808" y="3511296"/>
            <a:ext cx="411480" cy="411480"/>
          </a:xfrm>
          <a:prstGeom prst="ellipse">
            <a:avLst/>
          </a:prstGeom>
          <a:solidFill>
            <a:schemeClr val="tx2"/>
          </a:solidFill>
          <a:ln/>
        </p:spPr>
      </p:sp>
      <p:sp>
        <p:nvSpPr>
          <p:cNvPr id="16" name="Text 14"/>
          <p:cNvSpPr txBox="1"/>
          <p:nvPr/>
        </p:nvSpPr>
        <p:spPr>
          <a:xfrm>
            <a:off x="749808" y="351129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1325880" y="3401568"/>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GFA 신규 ROAS / 리타겟 ROAS</a:t>
            </a:r>
            <a:endParaRPr lang="en-US" sz="1600" dirty="0"/>
          </a:p>
        </p:txBody>
      </p:sp>
      <p:sp>
        <p:nvSpPr>
          <p:cNvPr id="18" name="Text 16"/>
          <p:cNvSpPr txBox="1"/>
          <p:nvPr/>
        </p:nvSpPr>
        <p:spPr>
          <a:xfrm>
            <a:off x="1325880" y="3749040"/>
            <a:ext cx="5212080" cy="292608"/>
          </a:xfrm>
          <a:prstGeom prst="rect">
            <a:avLst/>
          </a:prstGeom>
          <a:noFill/>
          <a:ln/>
        </p:spPr>
        <p:txBody>
          <a:bodyPr wrap="square" lIns="0" tIns="0" rIns="0" bIns="0" rtlCol="0" anchor="ctr"/>
          <a:lstStyle/>
          <a:p>
            <a:pPr indent="0" marL="0">
              <a:buNone/>
            </a:pPr>
            <a:r>
              <a:rPr lang="en-US" sz="1300" dirty="0">
                <a:solidFill>
                  <a:schemeClr val="accent2"/>
                </a:solidFill>
              </a:rPr>
              <a:t>새 고객과 기존 고객의 효율을 따로</a:t>
            </a:r>
            <a:endParaRPr lang="en-US" sz="1300" dirty="0"/>
          </a:p>
        </p:txBody>
      </p:sp>
      <p:sp>
        <p:nvSpPr>
          <p:cNvPr id="19" name="Shape 17"/>
          <p:cNvSpPr/>
          <p:nvPr/>
        </p:nvSpPr>
        <p:spPr>
          <a:xfrm>
            <a:off x="548640" y="4215384"/>
            <a:ext cx="6172200" cy="777240"/>
          </a:xfrm>
          <a:prstGeom prst="roundRect">
            <a:avLst>
              <a:gd name="adj" fmla="val 14118"/>
            </a:avLst>
          </a:prstGeom>
          <a:solidFill>
            <a:schemeClr val="bg2"/>
          </a:solidFill>
          <a:ln/>
        </p:spPr>
      </p:sp>
      <p:sp>
        <p:nvSpPr>
          <p:cNvPr id="20" name="Shape 18"/>
          <p:cNvSpPr/>
          <p:nvPr/>
        </p:nvSpPr>
        <p:spPr>
          <a:xfrm>
            <a:off x="749808" y="4398264"/>
            <a:ext cx="411480" cy="411480"/>
          </a:xfrm>
          <a:prstGeom prst="ellipse">
            <a:avLst/>
          </a:prstGeom>
          <a:solidFill>
            <a:schemeClr val="tx2"/>
          </a:solidFill>
          <a:ln/>
        </p:spPr>
      </p:sp>
      <p:sp>
        <p:nvSpPr>
          <p:cNvPr id="21" name="Text 19"/>
          <p:cNvSpPr txBox="1"/>
          <p:nvPr/>
        </p:nvSpPr>
        <p:spPr>
          <a:xfrm>
            <a:off x="749808" y="439826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20"/>
          <p:cNvSpPr txBox="1"/>
          <p:nvPr/>
        </p:nvSpPr>
        <p:spPr>
          <a:xfrm>
            <a:off x="1325880" y="4288536"/>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GFA CPM (노출 단가)</a:t>
            </a:r>
            <a:endParaRPr lang="en-US" sz="1600" dirty="0"/>
          </a:p>
        </p:txBody>
      </p:sp>
      <p:sp>
        <p:nvSpPr>
          <p:cNvPr id="23" name="Text 21"/>
          <p:cNvSpPr txBox="1"/>
          <p:nvPr/>
        </p:nvSpPr>
        <p:spPr>
          <a:xfrm>
            <a:off x="1325880" y="4636008"/>
            <a:ext cx="5212080" cy="292608"/>
          </a:xfrm>
          <a:prstGeom prst="rect">
            <a:avLst/>
          </a:prstGeom>
          <a:noFill/>
          <a:ln/>
        </p:spPr>
        <p:txBody>
          <a:bodyPr wrap="square" lIns="0" tIns="0" rIns="0" bIns="0" rtlCol="0" anchor="ctr"/>
          <a:lstStyle/>
          <a:p>
            <a:pPr indent="0" marL="0">
              <a:buNone/>
            </a:pPr>
            <a:r>
              <a:rPr lang="en-US" sz="1300" dirty="0">
                <a:solidFill>
                  <a:schemeClr val="accent2"/>
                </a:solidFill>
              </a:rPr>
              <a:t>늘린 예산이 단가만 올리고 있지 않은지</a:t>
            </a:r>
            <a:endParaRPr lang="en-US" sz="1300" dirty="0"/>
          </a:p>
        </p:txBody>
      </p:sp>
      <p:sp>
        <p:nvSpPr>
          <p:cNvPr id="24" name="Shape 22"/>
          <p:cNvSpPr/>
          <p:nvPr/>
        </p:nvSpPr>
        <p:spPr>
          <a:xfrm>
            <a:off x="548640" y="5102352"/>
            <a:ext cx="6172200" cy="777240"/>
          </a:xfrm>
          <a:prstGeom prst="roundRect">
            <a:avLst>
              <a:gd name="adj" fmla="val 14118"/>
            </a:avLst>
          </a:prstGeom>
          <a:solidFill>
            <a:schemeClr val="bg2"/>
          </a:solidFill>
          <a:ln/>
        </p:spPr>
      </p:sp>
      <p:sp>
        <p:nvSpPr>
          <p:cNvPr id="25" name="Shape 23"/>
          <p:cNvSpPr/>
          <p:nvPr/>
        </p:nvSpPr>
        <p:spPr>
          <a:xfrm>
            <a:off x="749808" y="5285232"/>
            <a:ext cx="411480" cy="411480"/>
          </a:xfrm>
          <a:prstGeom prst="ellipse">
            <a:avLst/>
          </a:prstGeom>
          <a:solidFill>
            <a:schemeClr val="tx2"/>
          </a:solidFill>
          <a:ln/>
        </p:spPr>
      </p:sp>
      <p:sp>
        <p:nvSpPr>
          <p:cNvPr id="26" name="Text 24"/>
          <p:cNvSpPr txBox="1"/>
          <p:nvPr/>
        </p:nvSpPr>
        <p:spPr>
          <a:xfrm>
            <a:off x="749808" y="528523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5"/>
          <p:cNvSpPr txBox="1"/>
          <p:nvPr/>
        </p:nvSpPr>
        <p:spPr>
          <a:xfrm>
            <a:off x="1325880" y="5175504"/>
            <a:ext cx="5212080" cy="347472"/>
          </a:xfrm>
          <a:prstGeom prst="rect">
            <a:avLst/>
          </a:prstGeom>
          <a:noFill/>
          <a:ln/>
        </p:spPr>
        <p:txBody>
          <a:bodyPr wrap="square" lIns="0" tIns="0" rIns="0" bIns="0" rtlCol="0" anchor="ctr"/>
          <a:lstStyle/>
          <a:p>
            <a:pPr indent="0" marL="0">
              <a:buNone/>
            </a:pPr>
            <a:r>
              <a:rPr lang="en-US" sz="1600" b="1" dirty="0">
                <a:solidFill>
                  <a:schemeClr val="tx1"/>
                </a:solidFill>
              </a:rPr>
              <a:t>측정 누락 캠페인 0개</a:t>
            </a:r>
            <a:endParaRPr lang="en-US" sz="1600" dirty="0"/>
          </a:p>
        </p:txBody>
      </p:sp>
      <p:sp>
        <p:nvSpPr>
          <p:cNvPr id="28" name="Text 26"/>
          <p:cNvSpPr txBox="1"/>
          <p:nvPr/>
        </p:nvSpPr>
        <p:spPr>
          <a:xfrm>
            <a:off x="1325880" y="5522976"/>
            <a:ext cx="5212080" cy="292608"/>
          </a:xfrm>
          <a:prstGeom prst="rect">
            <a:avLst/>
          </a:prstGeom>
          <a:noFill/>
          <a:ln/>
        </p:spPr>
        <p:txBody>
          <a:bodyPr wrap="square" lIns="0" tIns="0" rIns="0" bIns="0" rtlCol="0" anchor="ctr"/>
          <a:lstStyle/>
          <a:p>
            <a:pPr indent="0" marL="0">
              <a:buNone/>
            </a:pPr>
            <a:r>
              <a:rPr lang="en-US" sz="1300" dirty="0">
                <a:solidFill>
                  <a:schemeClr val="accent2"/>
                </a:solidFill>
              </a:rPr>
              <a:t>모든 광고비의 성과가 보이는 상태</a:t>
            </a:r>
            <a:endParaRPr lang="en-US" sz="1300" dirty="0"/>
          </a:p>
        </p:txBody>
      </p:sp>
      <p:sp>
        <p:nvSpPr>
          <p:cNvPr id="29" name="Shape 27"/>
          <p:cNvSpPr/>
          <p:nvPr/>
        </p:nvSpPr>
        <p:spPr>
          <a:xfrm>
            <a:off x="6995160" y="1554480"/>
            <a:ext cx="4647895" cy="4325112"/>
          </a:xfrm>
          <a:prstGeom prst="roundRect">
            <a:avLst>
              <a:gd name="adj" fmla="val 2537"/>
            </a:avLst>
          </a:prstGeom>
          <a:solidFill>
            <a:schemeClr val="tx2"/>
          </a:solidFill>
          <a:ln/>
        </p:spPr>
      </p:sp>
      <p:sp>
        <p:nvSpPr>
          <p:cNvPr id="30" name="Text 28"/>
          <p:cNvSpPr txBox="1"/>
          <p:nvPr/>
        </p:nvSpPr>
        <p:spPr>
          <a:xfrm>
            <a:off x="7315200" y="1828800"/>
            <a:ext cx="4007815" cy="320040"/>
          </a:xfrm>
          <a:prstGeom prst="rect">
            <a:avLst/>
          </a:prstGeom>
          <a:noFill/>
          <a:ln/>
        </p:spPr>
        <p:txBody>
          <a:bodyPr wrap="square" lIns="0" tIns="0" rIns="0" bIns="0" rtlCol="0" anchor="t"/>
          <a:lstStyle/>
          <a:p>
            <a:pPr indent="0" marL="0">
              <a:buNone/>
            </a:pPr>
            <a:r>
              <a:rPr lang="en-US" sz="1500" dirty="0">
                <a:solidFill>
                  <a:schemeClr val="bg1"/>
                </a:solidFill>
              </a:rPr>
              <a:t>정리만으로</a:t>
            </a:r>
            <a:endParaRPr lang="en-US" sz="1500" dirty="0"/>
          </a:p>
        </p:txBody>
      </p:sp>
      <p:sp>
        <p:nvSpPr>
          <p:cNvPr id="31" name="Text 29"/>
          <p:cNvSpPr txBox="1"/>
          <p:nvPr/>
        </p:nvSpPr>
        <p:spPr>
          <a:xfrm>
            <a:off x="7315200" y="2148840"/>
            <a:ext cx="4007815" cy="685800"/>
          </a:xfrm>
          <a:prstGeom prst="rect">
            <a:avLst/>
          </a:prstGeom>
          <a:noFill/>
          <a:ln/>
        </p:spPr>
        <p:txBody>
          <a:bodyPr wrap="square" lIns="0" tIns="0" rIns="0" bIns="0" rtlCol="0" anchor="ctr"/>
          <a:lstStyle/>
          <a:p>
            <a:pPr indent="0" marL="0">
              <a:buNone/>
            </a:pPr>
            <a:r>
              <a:rPr lang="en-US" sz="3600" b="1" dirty="0">
                <a:solidFill>
                  <a:schemeClr val="bg1"/>
                </a:solidFill>
              </a:rPr>
              <a:t>월 약 70만 원</a:t>
            </a:r>
            <a:endParaRPr lang="en-US" sz="3600" dirty="0"/>
          </a:p>
        </p:txBody>
      </p:sp>
      <p:sp>
        <p:nvSpPr>
          <p:cNvPr id="32" name="Text 30"/>
          <p:cNvSpPr txBox="1"/>
          <p:nvPr/>
        </p:nvSpPr>
        <p:spPr>
          <a:xfrm>
            <a:off x="7315200" y="2834640"/>
            <a:ext cx="4007815" cy="320040"/>
          </a:xfrm>
          <a:prstGeom prst="rect">
            <a:avLst/>
          </a:prstGeom>
          <a:noFill/>
          <a:ln/>
        </p:spPr>
        <p:txBody>
          <a:bodyPr wrap="square" lIns="0" tIns="0" rIns="0" bIns="0" rtlCol="0" anchor="t"/>
          <a:lstStyle/>
          <a:p>
            <a:pPr indent="0" marL="0">
              <a:buNone/>
            </a:pPr>
            <a:r>
              <a:rPr lang="en-US" sz="1400" dirty="0">
                <a:solidFill>
                  <a:schemeClr val="bg1"/>
                </a:solidFill>
              </a:rPr>
              <a:t>재배치 가능 (3개월 217만 원)</a:t>
            </a:r>
            <a:endParaRPr lang="en-US" sz="1400" dirty="0"/>
          </a:p>
        </p:txBody>
      </p:sp>
      <p:sp>
        <p:nvSpPr>
          <p:cNvPr id="33" name="Text 31"/>
          <p:cNvSpPr txBox="1"/>
          <p:nvPr/>
        </p:nvSpPr>
        <p:spPr>
          <a:xfrm>
            <a:off x="7315200" y="3474720"/>
            <a:ext cx="4007815" cy="21945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남은 브랜드검색 계약(10/25까지) 정상 노출</a:t>
            </a:r>
            <a:endParaRPr lang="en-US" sz="1400" dirty="0"/>
          </a:p>
          <a:p>
            <a:pPr marL="177800" indent="-177800">
              <a:spcAft>
                <a:spcPts val="1000"/>
              </a:spcAft>
              <a:buSzPct val="100000"/>
              <a:buChar char="•"/>
            </a:pPr>
            <a:r>
              <a:rPr lang="en-US" sz="1400" dirty="0">
                <a:solidFill>
                  <a:schemeClr val="bg1"/>
                </a:solidFill>
              </a:rPr>
              <a:t>올라잇그린 클릭당 비용이 내려갈 여지</a:t>
            </a:r>
            <a:endParaRPr lang="en-US" sz="1400" dirty="0"/>
          </a:p>
          <a:p>
            <a:pPr marL="177800" indent="-177800">
              <a:spcAft>
                <a:spcPts val="1000"/>
              </a:spcAft>
              <a:buSzPct val="100000"/>
              <a:buChar char="•"/>
            </a:pPr>
            <a:r>
              <a:rPr lang="en-US" sz="1400" dirty="0">
                <a:solidFill>
                  <a:schemeClr val="bg1"/>
                </a:solidFill>
              </a:rPr>
              <a:t>측정 누락 121만 원의 효과 판단 가능</a:t>
            </a:r>
            <a:endParaRPr lang="en-US" sz="14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title" hasCustomPrompt="1"/>
          </p:nvPr>
        </p:nvSpPr>
        <p:spPr>
          <a:xfrm>
            <a:off x="1188720" y="640080"/>
            <a:ext cx="9601200" cy="731520"/>
          </a:xfrm>
          <a:prstGeom prst="rect">
            <a:avLst/>
          </a:prstGeom>
          <a:noFill/>
          <a:ln/>
        </p:spPr>
        <p:txBody>
          <a:bodyPr wrap="square" lIns="0" tIns="0" rIns="0" bIns="0" rtlCol="0" anchor="ctr"/>
          <a:lstStyle/>
          <a:p>
            <a:pPr algn="l" indent="0" marL="0">
              <a:buNone/>
            </a:pPr>
            <a:r>
              <a:rPr lang="en-US" sz="3600" b="1" dirty="0">
                <a:solidFill>
                  <a:schemeClr val="bg1"/>
                </a:solidFill>
              </a:rPr>
              <a:t>진행을 위해 필요한 것</a:t>
            </a:r>
            <a:endParaRPr lang="en-US" sz="3600" dirty="0"/>
          </a:p>
        </p:txBody>
      </p:sp>
      <p:sp>
        <p:nvSpPr>
          <p:cNvPr id="3" name="Shape 1"/>
          <p:cNvSpPr/>
          <p:nvPr/>
        </p:nvSpPr>
        <p:spPr>
          <a:xfrm>
            <a:off x="1188720" y="1691640"/>
            <a:ext cx="4663440" cy="1325880"/>
          </a:xfrm>
          <a:prstGeom prst="roundRect">
            <a:avLst>
              <a:gd name="adj" fmla="val 8276"/>
            </a:avLst>
          </a:prstGeom>
          <a:solidFill>
            <a:schemeClr val="bg1">
              <a:alpha val="12000"/>
            </a:schemeClr>
          </a:solidFill>
          <a:ln w="9525">
            <a:solidFill>
              <a:schemeClr val="bg1">
                <a:alpha val="40000"/>
              </a:schemeClr>
            </a:solidFill>
            <a:prstDash val="solid"/>
          </a:ln>
        </p:spPr>
      </p:sp>
      <p:sp>
        <p:nvSpPr>
          <p:cNvPr id="4" name="Shape 2"/>
          <p:cNvSpPr/>
          <p:nvPr/>
        </p:nvSpPr>
        <p:spPr>
          <a:xfrm>
            <a:off x="1463040" y="1965960"/>
            <a:ext cx="411480" cy="411480"/>
          </a:xfrm>
          <a:prstGeom prst="ellipse">
            <a:avLst/>
          </a:prstGeom>
          <a:solidFill>
            <a:schemeClr val="accent1"/>
          </a:solidFill>
          <a:ln/>
        </p:spPr>
      </p:sp>
      <p:sp>
        <p:nvSpPr>
          <p:cNvPr id="5" name="Text 3"/>
          <p:cNvSpPr txBox="1"/>
          <p:nvPr/>
        </p:nvSpPr>
        <p:spPr>
          <a:xfrm>
            <a:off x="1463040"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2057400" y="1947672"/>
            <a:ext cx="3611880" cy="457200"/>
          </a:xfrm>
          <a:prstGeom prst="rect">
            <a:avLst/>
          </a:prstGeom>
          <a:noFill/>
          <a:ln/>
        </p:spPr>
        <p:txBody>
          <a:bodyPr wrap="square" lIns="0" tIns="0" rIns="0" bIns="0" rtlCol="0" anchor="ctr"/>
          <a:lstStyle/>
          <a:p>
            <a:pPr indent="0" marL="0">
              <a:buNone/>
            </a:pPr>
            <a:r>
              <a:rPr lang="en-US" sz="1700" b="1" dirty="0">
                <a:solidFill>
                  <a:schemeClr val="bg1"/>
                </a:solidFill>
              </a:rPr>
              <a:t>네이버 광고 계정 열람 권한</a:t>
            </a:r>
            <a:endParaRPr lang="en-US" sz="1700" dirty="0"/>
          </a:p>
        </p:txBody>
      </p:sp>
      <p:sp>
        <p:nvSpPr>
          <p:cNvPr id="7" name="Text 5"/>
          <p:cNvSpPr txBox="1"/>
          <p:nvPr/>
        </p:nvSpPr>
        <p:spPr>
          <a:xfrm>
            <a:off x="2057400" y="2423160"/>
            <a:ext cx="3611880" cy="411480"/>
          </a:xfrm>
          <a:prstGeom prst="rect">
            <a:avLst/>
          </a:prstGeom>
          <a:noFill/>
          <a:ln/>
        </p:spPr>
        <p:txBody>
          <a:bodyPr wrap="square" lIns="0" tIns="0" rIns="0" bIns="0" rtlCol="0" anchor="t"/>
          <a:lstStyle/>
          <a:p>
            <a:pPr indent="0" marL="0">
              <a:buNone/>
            </a:pPr>
            <a:r>
              <a:rPr lang="en-US" sz="1400" dirty="0">
                <a:solidFill>
                  <a:schemeClr val="bg1"/>
                </a:solidFill>
              </a:rPr>
              <a:t>브랜드검색 미노출 원인, ADVoost 전체 시그널 확인</a:t>
            </a:r>
            <a:endParaRPr lang="en-US" sz="1400" dirty="0"/>
          </a:p>
        </p:txBody>
      </p:sp>
      <p:sp>
        <p:nvSpPr>
          <p:cNvPr id="8" name="Shape 6"/>
          <p:cNvSpPr/>
          <p:nvPr/>
        </p:nvSpPr>
        <p:spPr>
          <a:xfrm>
            <a:off x="6126480" y="1691640"/>
            <a:ext cx="4663440" cy="1325880"/>
          </a:xfrm>
          <a:prstGeom prst="roundRect">
            <a:avLst>
              <a:gd name="adj" fmla="val 8276"/>
            </a:avLst>
          </a:prstGeom>
          <a:solidFill>
            <a:schemeClr val="bg1">
              <a:alpha val="12000"/>
            </a:schemeClr>
          </a:solidFill>
          <a:ln w="9525">
            <a:solidFill>
              <a:schemeClr val="bg1">
                <a:alpha val="40000"/>
              </a:schemeClr>
            </a:solidFill>
            <a:prstDash val="solid"/>
          </a:ln>
        </p:spPr>
      </p:sp>
      <p:sp>
        <p:nvSpPr>
          <p:cNvPr id="9" name="Shape 7"/>
          <p:cNvSpPr/>
          <p:nvPr/>
        </p:nvSpPr>
        <p:spPr>
          <a:xfrm>
            <a:off x="6400800" y="1965960"/>
            <a:ext cx="411480" cy="411480"/>
          </a:xfrm>
          <a:prstGeom prst="ellipse">
            <a:avLst/>
          </a:prstGeom>
          <a:solidFill>
            <a:schemeClr val="accent1"/>
          </a:solidFill>
          <a:ln/>
        </p:spPr>
      </p:sp>
      <p:sp>
        <p:nvSpPr>
          <p:cNvPr id="10" name="Text 8"/>
          <p:cNvSpPr txBox="1"/>
          <p:nvPr/>
        </p:nvSpPr>
        <p:spPr>
          <a:xfrm>
            <a:off x="6400800" y="19659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6995160" y="1947672"/>
            <a:ext cx="3611880" cy="457200"/>
          </a:xfrm>
          <a:prstGeom prst="rect">
            <a:avLst/>
          </a:prstGeom>
          <a:noFill/>
          <a:ln/>
        </p:spPr>
        <p:txBody>
          <a:bodyPr wrap="square" lIns="0" tIns="0" rIns="0" bIns="0" rtlCol="0" anchor="ctr"/>
          <a:lstStyle/>
          <a:p>
            <a:pPr indent="0" marL="0">
              <a:buNone/>
            </a:pPr>
            <a:r>
              <a:rPr lang="en-US" sz="1700" b="1" dirty="0">
                <a:solidFill>
                  <a:schemeClr val="bg1"/>
                </a:solidFill>
              </a:rPr>
              <a:t>자사몰 스크립트 설치 담당자 연결</a:t>
            </a:r>
            <a:endParaRPr lang="en-US" sz="1700" dirty="0"/>
          </a:p>
        </p:txBody>
      </p:sp>
      <p:sp>
        <p:nvSpPr>
          <p:cNvPr id="12" name="Text 10"/>
          <p:cNvSpPr txBox="1"/>
          <p:nvPr/>
        </p:nvSpPr>
        <p:spPr>
          <a:xfrm>
            <a:off x="6995160" y="2423160"/>
            <a:ext cx="3611880" cy="411480"/>
          </a:xfrm>
          <a:prstGeom prst="rect">
            <a:avLst/>
          </a:prstGeom>
          <a:noFill/>
          <a:ln/>
        </p:spPr>
        <p:txBody>
          <a:bodyPr wrap="square" lIns="0" tIns="0" rIns="0" bIns="0" rtlCol="0" anchor="t"/>
          <a:lstStyle/>
          <a:p>
            <a:pPr indent="0" marL="0">
              <a:buNone/>
            </a:pPr>
            <a:r>
              <a:rPr lang="en-US" sz="1400" dirty="0">
                <a:solidFill>
                  <a:schemeClr val="bg1"/>
                </a:solidFill>
              </a:rPr>
              <a:t>올라잇그린·건담닭 전환 스크립트 설치</a:t>
            </a:r>
            <a:endParaRPr lang="en-US" sz="1400" dirty="0"/>
          </a:p>
        </p:txBody>
      </p:sp>
      <p:sp>
        <p:nvSpPr>
          <p:cNvPr id="13" name="Shape 11"/>
          <p:cNvSpPr/>
          <p:nvPr/>
        </p:nvSpPr>
        <p:spPr>
          <a:xfrm>
            <a:off x="1188720" y="3291840"/>
            <a:ext cx="4663440" cy="1325880"/>
          </a:xfrm>
          <a:prstGeom prst="roundRect">
            <a:avLst>
              <a:gd name="adj" fmla="val 8276"/>
            </a:avLst>
          </a:prstGeom>
          <a:solidFill>
            <a:schemeClr val="bg1">
              <a:alpha val="12000"/>
            </a:schemeClr>
          </a:solidFill>
          <a:ln w="9525">
            <a:solidFill>
              <a:schemeClr val="bg1">
                <a:alpha val="40000"/>
              </a:schemeClr>
            </a:solidFill>
            <a:prstDash val="solid"/>
          </a:ln>
        </p:spPr>
      </p:sp>
      <p:sp>
        <p:nvSpPr>
          <p:cNvPr id="14" name="Shape 12"/>
          <p:cNvSpPr/>
          <p:nvPr/>
        </p:nvSpPr>
        <p:spPr>
          <a:xfrm>
            <a:off x="1463040" y="3566160"/>
            <a:ext cx="411480" cy="411480"/>
          </a:xfrm>
          <a:prstGeom prst="ellipse">
            <a:avLst/>
          </a:prstGeom>
          <a:solidFill>
            <a:schemeClr val="accent1"/>
          </a:solidFill>
          <a:ln/>
        </p:spPr>
      </p:sp>
      <p:sp>
        <p:nvSpPr>
          <p:cNvPr id="15" name="Text 13"/>
          <p:cNvSpPr txBox="1"/>
          <p:nvPr/>
        </p:nvSpPr>
        <p:spPr>
          <a:xfrm>
            <a:off x="1463040" y="35661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2057400" y="3547872"/>
            <a:ext cx="3611880" cy="457200"/>
          </a:xfrm>
          <a:prstGeom prst="rect">
            <a:avLst/>
          </a:prstGeom>
          <a:noFill/>
          <a:ln/>
        </p:spPr>
        <p:txBody>
          <a:bodyPr wrap="square" lIns="0" tIns="0" rIns="0" bIns="0" rtlCol="0" anchor="ctr"/>
          <a:lstStyle/>
          <a:p>
            <a:pPr indent="0" marL="0">
              <a:buNone/>
            </a:pPr>
            <a:r>
              <a:rPr lang="en-US" sz="1700" b="1" dirty="0">
                <a:solidFill>
                  <a:schemeClr val="bg1"/>
                </a:solidFill>
              </a:rPr>
              <a:t>꼬기다 자사몰 상품 카탈로그</a:t>
            </a:r>
            <a:endParaRPr lang="en-US" sz="1700" dirty="0"/>
          </a:p>
        </p:txBody>
      </p:sp>
      <p:sp>
        <p:nvSpPr>
          <p:cNvPr id="17" name="Text 15"/>
          <p:cNvSpPr txBox="1"/>
          <p:nvPr/>
        </p:nvSpPr>
        <p:spPr>
          <a:xfrm>
            <a:off x="2057400" y="4023360"/>
            <a:ext cx="3611880" cy="411480"/>
          </a:xfrm>
          <a:prstGeom prst="rect">
            <a:avLst/>
          </a:prstGeom>
          <a:noFill/>
          <a:ln/>
        </p:spPr>
        <p:txBody>
          <a:bodyPr wrap="square" lIns="0" tIns="0" rIns="0" bIns="0" rtlCol="0" anchor="t"/>
          <a:lstStyle/>
          <a:p>
            <a:pPr indent="0" marL="0">
              <a:buNone/>
            </a:pPr>
            <a:r>
              <a:rPr lang="en-US" sz="1400" dirty="0">
                <a:solidFill>
                  <a:schemeClr val="bg1"/>
                </a:solidFill>
              </a:rPr>
              <a:t>등록 여부 확인 (카탈로그 리타겟 준비)</a:t>
            </a:r>
            <a:endParaRPr lang="en-US" sz="1400" dirty="0"/>
          </a:p>
        </p:txBody>
      </p:sp>
      <p:sp>
        <p:nvSpPr>
          <p:cNvPr id="18" name="Shape 16"/>
          <p:cNvSpPr/>
          <p:nvPr/>
        </p:nvSpPr>
        <p:spPr>
          <a:xfrm>
            <a:off x="6126480" y="3291840"/>
            <a:ext cx="4663440" cy="1325880"/>
          </a:xfrm>
          <a:prstGeom prst="roundRect">
            <a:avLst>
              <a:gd name="adj" fmla="val 8276"/>
            </a:avLst>
          </a:prstGeom>
          <a:solidFill>
            <a:schemeClr val="bg1">
              <a:alpha val="12000"/>
            </a:schemeClr>
          </a:solidFill>
          <a:ln w="9525">
            <a:solidFill>
              <a:schemeClr val="bg1">
                <a:alpha val="40000"/>
              </a:schemeClr>
            </a:solidFill>
            <a:prstDash val="solid"/>
          </a:ln>
        </p:spPr>
      </p:sp>
      <p:sp>
        <p:nvSpPr>
          <p:cNvPr id="19" name="Shape 17"/>
          <p:cNvSpPr/>
          <p:nvPr/>
        </p:nvSpPr>
        <p:spPr>
          <a:xfrm>
            <a:off x="6400800" y="3566160"/>
            <a:ext cx="411480" cy="411480"/>
          </a:xfrm>
          <a:prstGeom prst="ellipse">
            <a:avLst/>
          </a:prstGeom>
          <a:solidFill>
            <a:schemeClr val="accent1"/>
          </a:solidFill>
          <a:ln/>
        </p:spPr>
      </p:sp>
      <p:sp>
        <p:nvSpPr>
          <p:cNvPr id="20" name="Text 18"/>
          <p:cNvSpPr txBox="1"/>
          <p:nvPr/>
        </p:nvSpPr>
        <p:spPr>
          <a:xfrm>
            <a:off x="6400800" y="35661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6995160" y="3547872"/>
            <a:ext cx="3611880" cy="457200"/>
          </a:xfrm>
          <a:prstGeom prst="rect">
            <a:avLst/>
          </a:prstGeom>
          <a:noFill/>
          <a:ln/>
        </p:spPr>
        <p:txBody>
          <a:bodyPr wrap="square" lIns="0" tIns="0" rIns="0" bIns="0" rtlCol="0" anchor="ctr"/>
          <a:lstStyle/>
          <a:p>
            <a:pPr indent="0" marL="0">
              <a:buNone/>
            </a:pPr>
            <a:r>
              <a:rPr lang="en-US" sz="1700" b="1" dirty="0">
                <a:solidFill>
                  <a:schemeClr val="bg1"/>
                </a:solidFill>
              </a:rPr>
              <a:t>브랜드별 목표 ROAS 또는 마진 기준</a:t>
            </a:r>
            <a:endParaRPr lang="en-US" sz="1700" dirty="0"/>
          </a:p>
        </p:txBody>
      </p:sp>
      <p:sp>
        <p:nvSpPr>
          <p:cNvPr id="22" name="Text 20"/>
          <p:cNvSpPr txBox="1"/>
          <p:nvPr/>
        </p:nvSpPr>
        <p:spPr>
          <a:xfrm>
            <a:off x="6995160" y="4023360"/>
            <a:ext cx="3611880" cy="411480"/>
          </a:xfrm>
          <a:prstGeom prst="rect">
            <a:avLst/>
          </a:prstGeom>
          <a:noFill/>
          <a:ln/>
        </p:spPr>
        <p:txBody>
          <a:bodyPr wrap="square" lIns="0" tIns="0" rIns="0" bIns="0" rtlCol="0" anchor="t"/>
          <a:lstStyle/>
          <a:p>
            <a:pPr indent="0" marL="0">
              <a:buNone/>
            </a:pPr>
            <a:r>
              <a:rPr lang="en-US" sz="1400" dirty="0">
                <a:solidFill>
                  <a:schemeClr val="bg1"/>
                </a:solidFill>
              </a:rPr>
              <a:t>예산 증액 판단의 기준선</a:t>
            </a:r>
            <a:endParaRPr lang="en-US" sz="1400" dirty="0"/>
          </a:p>
        </p:txBody>
      </p:sp>
      <p:sp>
        <p:nvSpPr>
          <p:cNvPr id="23" name="Text 21"/>
          <p:cNvSpPr txBox="1"/>
          <p:nvPr/>
        </p:nvSpPr>
        <p:spPr>
          <a:xfrm>
            <a:off x="1188720" y="4937760"/>
            <a:ext cx="5486400" cy="320040"/>
          </a:xfrm>
          <a:prstGeom prst="rect">
            <a:avLst/>
          </a:prstGeom>
          <a:noFill/>
          <a:ln/>
        </p:spPr>
        <p:txBody>
          <a:bodyPr wrap="square" lIns="0" tIns="0" rIns="0" bIns="0" rtlCol="0" anchor="t"/>
          <a:lstStyle/>
          <a:p>
            <a:pPr indent="0" marL="0">
              <a:buNone/>
            </a:pPr>
            <a:r>
              <a:rPr lang="en-US" sz="1600" b="1" dirty="0">
                <a:solidFill>
                  <a:schemeClr val="bg1"/>
                </a:solidFill>
              </a:rPr>
              <a:t>NICECORE 퍼포먼스마케팅팀</a:t>
            </a:r>
            <a:endParaRPr lang="en-US" sz="1600" dirty="0"/>
          </a:p>
        </p:txBody>
      </p:sp>
      <p:sp>
        <p:nvSpPr>
          <p:cNvPr id="24" name="Text 22"/>
          <p:cNvSpPr txBox="1"/>
          <p:nvPr/>
        </p:nvSpPr>
        <p:spPr>
          <a:xfrm>
            <a:off x="1188720" y="5257800"/>
            <a:ext cx="8229600" cy="274320"/>
          </a:xfrm>
          <a:prstGeom prst="rect">
            <a:avLst/>
          </a:prstGeom>
          <a:noFill/>
          <a:ln/>
        </p:spPr>
        <p:txBody>
          <a:bodyPr wrap="square" lIns="0" tIns="0" rIns="0" bIns="0" rtlCol="0" anchor="t"/>
          <a:lstStyle/>
          <a:p>
            <a:pPr indent="0" marL="0">
              <a:buNone/>
            </a:pPr>
            <a:r>
              <a:rPr lang="en-US" sz="1200" dirty="0">
                <a:solidFill>
                  <a:schemeClr val="bg1"/>
                </a:solidFill>
              </a:rPr>
              <a:t>모든 전환 지표는 총전환이 아닌 구매완료 전환수·구매완료 전환매출액 기준</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부록</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데이터 기준</a:t>
            </a:r>
            <a:endParaRPr lang="en-US" sz="2800" dirty="0"/>
          </a:p>
        </p:txBody>
      </p:sp>
      <p:sp>
        <p:nvSpPr>
          <p:cNvPr id="4" name="Shape 2"/>
          <p:cNvSpPr/>
          <p:nvPr/>
        </p:nvSpPr>
        <p:spPr>
          <a:xfrm>
            <a:off x="548640" y="1554480"/>
            <a:ext cx="5410048" cy="987552"/>
          </a:xfrm>
          <a:prstGeom prst="roundRect">
            <a:avLst>
              <a:gd name="adj" fmla="val 11111"/>
            </a:avLst>
          </a:prstGeom>
          <a:solidFill>
            <a:schemeClr val="bg2"/>
          </a:solidFill>
          <a:ln/>
        </p:spPr>
      </p:sp>
      <p:sp>
        <p:nvSpPr>
          <p:cNvPr id="5" name="Text 3"/>
          <p:cNvSpPr txBox="1"/>
          <p:nvPr/>
        </p:nvSpPr>
        <p:spPr>
          <a:xfrm>
            <a:off x="777240" y="1691640"/>
            <a:ext cx="4952848" cy="292608"/>
          </a:xfrm>
          <a:prstGeom prst="rect">
            <a:avLst/>
          </a:prstGeom>
          <a:noFill/>
          <a:ln/>
        </p:spPr>
        <p:txBody>
          <a:bodyPr wrap="square" lIns="0" tIns="0" rIns="0" bIns="0" rtlCol="0" anchor="t"/>
          <a:lstStyle/>
          <a:p>
            <a:pPr indent="0" marL="0">
              <a:buNone/>
            </a:pPr>
            <a:r>
              <a:rPr lang="en-US" sz="1400" b="1" dirty="0">
                <a:solidFill>
                  <a:schemeClr val="tx2"/>
                </a:solidFill>
              </a:rPr>
              <a:t>전환 지표</a:t>
            </a:r>
            <a:endParaRPr lang="en-US" sz="1400" dirty="0"/>
          </a:p>
        </p:txBody>
      </p:sp>
      <p:sp>
        <p:nvSpPr>
          <p:cNvPr id="6" name="Text 4"/>
          <p:cNvSpPr txBox="1"/>
          <p:nvPr/>
        </p:nvSpPr>
        <p:spPr>
          <a:xfrm>
            <a:off x="777240" y="1993392"/>
            <a:ext cx="4952848" cy="502920"/>
          </a:xfrm>
          <a:prstGeom prst="rect">
            <a:avLst/>
          </a:prstGeom>
          <a:noFill/>
          <a:ln/>
        </p:spPr>
        <p:txBody>
          <a:bodyPr wrap="square" lIns="0" tIns="0" rIns="0" bIns="0" rtlCol="0" anchor="t"/>
          <a:lstStyle/>
          <a:p>
            <a:pPr indent="0" marL="0">
              <a:buNone/>
            </a:pPr>
            <a:r>
              <a:rPr lang="en-US" sz="1300" dirty="0">
                <a:solidFill>
                  <a:schemeClr val="accent2"/>
                </a:solidFill>
              </a:rPr>
              <a:t>모든 전환 지표는 구매완료 전환수·구매완료 전환매출액 기준. 총전환은 쓰지 않음</a:t>
            </a:r>
            <a:endParaRPr lang="en-US" sz="1300" dirty="0"/>
          </a:p>
        </p:txBody>
      </p:sp>
      <p:sp>
        <p:nvSpPr>
          <p:cNvPr id="7" name="Shape 5"/>
          <p:cNvSpPr/>
          <p:nvPr/>
        </p:nvSpPr>
        <p:spPr>
          <a:xfrm>
            <a:off x="6233008" y="1554480"/>
            <a:ext cx="5410048" cy="987552"/>
          </a:xfrm>
          <a:prstGeom prst="roundRect">
            <a:avLst>
              <a:gd name="adj" fmla="val 11111"/>
            </a:avLst>
          </a:prstGeom>
          <a:solidFill>
            <a:schemeClr val="bg2"/>
          </a:solidFill>
          <a:ln/>
        </p:spPr>
      </p:sp>
      <p:sp>
        <p:nvSpPr>
          <p:cNvPr id="8" name="Text 6"/>
          <p:cNvSpPr txBox="1"/>
          <p:nvPr/>
        </p:nvSpPr>
        <p:spPr>
          <a:xfrm>
            <a:off x="6461608" y="1691640"/>
            <a:ext cx="4952848" cy="292608"/>
          </a:xfrm>
          <a:prstGeom prst="rect">
            <a:avLst/>
          </a:prstGeom>
          <a:noFill/>
          <a:ln/>
        </p:spPr>
        <p:txBody>
          <a:bodyPr wrap="square" lIns="0" tIns="0" rIns="0" bIns="0" rtlCol="0" anchor="t"/>
          <a:lstStyle/>
          <a:p>
            <a:pPr indent="0" marL="0">
              <a:buNone/>
            </a:pPr>
            <a:r>
              <a:rPr lang="en-US" sz="1400" b="1" dirty="0">
                <a:solidFill>
                  <a:schemeClr val="tx2"/>
                </a:solidFill>
              </a:rPr>
              <a:t>재계산</a:t>
            </a:r>
            <a:endParaRPr lang="en-US" sz="1400" dirty="0"/>
          </a:p>
        </p:txBody>
      </p:sp>
      <p:sp>
        <p:nvSpPr>
          <p:cNvPr id="9" name="Text 7"/>
          <p:cNvSpPr txBox="1"/>
          <p:nvPr/>
        </p:nvSpPr>
        <p:spPr>
          <a:xfrm>
            <a:off x="6461608" y="1993392"/>
            <a:ext cx="4952848" cy="502920"/>
          </a:xfrm>
          <a:prstGeom prst="rect">
            <a:avLst/>
          </a:prstGeom>
          <a:noFill/>
          <a:ln/>
        </p:spPr>
        <p:txBody>
          <a:bodyPr wrap="square" lIns="0" tIns="0" rIns="0" bIns="0" rtlCol="0" anchor="t"/>
          <a:lstStyle/>
          <a:p>
            <a:pPr indent="0" marL="0">
              <a:buNone/>
            </a:pPr>
            <a:r>
              <a:rPr lang="en-US" sz="1300" dirty="0">
                <a:solidFill>
                  <a:schemeClr val="accent2"/>
                </a:solidFill>
              </a:rPr>
              <a:t>ROAS·CPA·CPC·클릭률·CPM은 비용·노출·클릭·구매·매출 원본으로 다시 계산</a:t>
            </a:r>
            <a:endParaRPr lang="en-US" sz="1300" dirty="0"/>
          </a:p>
        </p:txBody>
      </p:sp>
      <p:sp>
        <p:nvSpPr>
          <p:cNvPr id="10" name="Shape 8"/>
          <p:cNvSpPr/>
          <p:nvPr/>
        </p:nvSpPr>
        <p:spPr>
          <a:xfrm>
            <a:off x="548640" y="2679192"/>
            <a:ext cx="5410048" cy="987552"/>
          </a:xfrm>
          <a:prstGeom prst="roundRect">
            <a:avLst>
              <a:gd name="adj" fmla="val 11111"/>
            </a:avLst>
          </a:prstGeom>
          <a:solidFill>
            <a:schemeClr val="bg2"/>
          </a:solidFill>
          <a:ln/>
        </p:spPr>
      </p:sp>
      <p:sp>
        <p:nvSpPr>
          <p:cNvPr id="11" name="Text 9"/>
          <p:cNvSpPr txBox="1"/>
          <p:nvPr/>
        </p:nvSpPr>
        <p:spPr>
          <a:xfrm>
            <a:off x="777240" y="2816352"/>
            <a:ext cx="4952848" cy="292608"/>
          </a:xfrm>
          <a:prstGeom prst="rect">
            <a:avLst/>
          </a:prstGeom>
          <a:noFill/>
          <a:ln/>
        </p:spPr>
        <p:txBody>
          <a:bodyPr wrap="square" lIns="0" tIns="0" rIns="0" bIns="0" rtlCol="0" anchor="t"/>
          <a:lstStyle/>
          <a:p>
            <a:pPr indent="0" marL="0">
              <a:buNone/>
            </a:pPr>
            <a:r>
              <a:rPr lang="en-US" sz="1400" b="1" dirty="0">
                <a:solidFill>
                  <a:schemeClr val="tx2"/>
                </a:solidFill>
              </a:rPr>
              <a:t>분석 기간</a:t>
            </a:r>
            <a:endParaRPr lang="en-US" sz="1400" dirty="0"/>
          </a:p>
        </p:txBody>
      </p:sp>
      <p:sp>
        <p:nvSpPr>
          <p:cNvPr id="12" name="Text 10"/>
          <p:cNvSpPr txBox="1"/>
          <p:nvPr/>
        </p:nvSpPr>
        <p:spPr>
          <a:xfrm>
            <a:off x="777240" y="3118104"/>
            <a:ext cx="4952848" cy="502920"/>
          </a:xfrm>
          <a:prstGeom prst="rect">
            <a:avLst/>
          </a:prstGeom>
          <a:noFill/>
          <a:ln/>
        </p:spPr>
        <p:txBody>
          <a:bodyPr wrap="square" lIns="0" tIns="0" rIns="0" bIns="0" rtlCol="0" anchor="t"/>
          <a:lstStyle/>
          <a:p>
            <a:pPr indent="0" marL="0">
              <a:buNone/>
            </a:pPr>
            <a:r>
              <a:rPr lang="en-US" sz="1300" dirty="0">
                <a:solidFill>
                  <a:schemeClr val="accent2"/>
                </a:solidFill>
              </a:rPr>
              <a:t>2026.07.01 ~ 09.30. GFA 추이만 5월부터</a:t>
            </a:r>
            <a:endParaRPr lang="en-US" sz="1300" dirty="0"/>
          </a:p>
        </p:txBody>
      </p:sp>
      <p:sp>
        <p:nvSpPr>
          <p:cNvPr id="13" name="Shape 11"/>
          <p:cNvSpPr/>
          <p:nvPr/>
        </p:nvSpPr>
        <p:spPr>
          <a:xfrm>
            <a:off x="6233008" y="2679192"/>
            <a:ext cx="5410048" cy="987552"/>
          </a:xfrm>
          <a:prstGeom prst="roundRect">
            <a:avLst>
              <a:gd name="adj" fmla="val 11111"/>
            </a:avLst>
          </a:prstGeom>
          <a:solidFill>
            <a:schemeClr val="bg2"/>
          </a:solidFill>
          <a:ln/>
        </p:spPr>
      </p:sp>
      <p:sp>
        <p:nvSpPr>
          <p:cNvPr id="14" name="Text 12"/>
          <p:cNvSpPr txBox="1"/>
          <p:nvPr/>
        </p:nvSpPr>
        <p:spPr>
          <a:xfrm>
            <a:off x="6461608" y="2816352"/>
            <a:ext cx="4952848" cy="292608"/>
          </a:xfrm>
          <a:prstGeom prst="rect">
            <a:avLst/>
          </a:prstGeom>
          <a:noFill/>
          <a:ln/>
        </p:spPr>
        <p:txBody>
          <a:bodyPr wrap="square" lIns="0" tIns="0" rIns="0" bIns="0" rtlCol="0" anchor="t"/>
          <a:lstStyle/>
          <a:p>
            <a:pPr indent="0" marL="0">
              <a:buNone/>
            </a:pPr>
            <a:r>
              <a:rPr lang="en-US" sz="1400" b="1" dirty="0">
                <a:solidFill>
                  <a:schemeClr val="tx2"/>
                </a:solidFill>
              </a:rPr>
              <a:t>브랜드검색</a:t>
            </a:r>
            <a:endParaRPr lang="en-US" sz="1400" dirty="0"/>
          </a:p>
        </p:txBody>
      </p:sp>
      <p:sp>
        <p:nvSpPr>
          <p:cNvPr id="15" name="Text 13"/>
          <p:cNvSpPr txBox="1"/>
          <p:nvPr/>
        </p:nvSpPr>
        <p:spPr>
          <a:xfrm>
            <a:off x="6461608" y="3118104"/>
            <a:ext cx="4952848" cy="502920"/>
          </a:xfrm>
          <a:prstGeom prst="rect">
            <a:avLst/>
          </a:prstGeom>
          <a:noFill/>
          <a:ln/>
        </p:spPr>
        <p:txBody>
          <a:bodyPr wrap="square" lIns="0" tIns="0" rIns="0" bIns="0" rtlCol="0" anchor="t"/>
          <a:lstStyle/>
          <a:p>
            <a:pPr indent="0" marL="0">
              <a:buNone/>
            </a:pPr>
            <a:r>
              <a:rPr lang="en-US" sz="1300" dirty="0">
                <a:solidFill>
                  <a:schemeClr val="accent2"/>
                </a:solidFill>
              </a:rPr>
              <a:t>계약금 방식이라 보고서 비용 0원. 계약금을 하루 단위로 나눠 분석 기간 해당분만 반영</a:t>
            </a:r>
            <a:endParaRPr lang="en-US" sz="1300" dirty="0"/>
          </a:p>
        </p:txBody>
      </p:sp>
      <p:sp>
        <p:nvSpPr>
          <p:cNvPr id="16" name="Shape 14"/>
          <p:cNvSpPr/>
          <p:nvPr/>
        </p:nvSpPr>
        <p:spPr>
          <a:xfrm>
            <a:off x="548640" y="3803904"/>
            <a:ext cx="5410048" cy="987552"/>
          </a:xfrm>
          <a:prstGeom prst="roundRect">
            <a:avLst>
              <a:gd name="adj" fmla="val 11111"/>
            </a:avLst>
          </a:prstGeom>
          <a:solidFill>
            <a:schemeClr val="bg2"/>
          </a:solidFill>
          <a:ln/>
        </p:spPr>
      </p:sp>
      <p:sp>
        <p:nvSpPr>
          <p:cNvPr id="17" name="Text 15"/>
          <p:cNvSpPr txBox="1"/>
          <p:nvPr/>
        </p:nvSpPr>
        <p:spPr>
          <a:xfrm>
            <a:off x="777240" y="3941064"/>
            <a:ext cx="4952848" cy="292608"/>
          </a:xfrm>
          <a:prstGeom prst="rect">
            <a:avLst/>
          </a:prstGeom>
          <a:noFill/>
          <a:ln/>
        </p:spPr>
        <p:txBody>
          <a:bodyPr wrap="square" lIns="0" tIns="0" rIns="0" bIns="0" rtlCol="0" anchor="t"/>
          <a:lstStyle/>
          <a:p>
            <a:pPr indent="0" marL="0">
              <a:buNone/>
            </a:pPr>
            <a:r>
              <a:rPr lang="en-US" sz="1400" b="1" dirty="0">
                <a:solidFill>
                  <a:schemeClr val="tx2"/>
                </a:solidFill>
              </a:rPr>
              <a:t>GFA 일별</a:t>
            </a:r>
            <a:endParaRPr lang="en-US" sz="1400" dirty="0"/>
          </a:p>
        </p:txBody>
      </p:sp>
      <p:sp>
        <p:nvSpPr>
          <p:cNvPr id="18" name="Text 16"/>
          <p:cNvSpPr txBox="1"/>
          <p:nvPr/>
        </p:nvSpPr>
        <p:spPr>
          <a:xfrm>
            <a:off x="777240" y="4242816"/>
            <a:ext cx="4952848" cy="502920"/>
          </a:xfrm>
          <a:prstGeom prst="rect">
            <a:avLst/>
          </a:prstGeom>
          <a:noFill/>
          <a:ln/>
        </p:spPr>
        <p:txBody>
          <a:bodyPr wrap="square" lIns="0" tIns="0" rIns="0" bIns="0" rtlCol="0" anchor="t"/>
          <a:lstStyle/>
          <a:p>
            <a:pPr indent="0" marL="0">
              <a:buNone/>
            </a:pPr>
            <a:r>
              <a:rPr lang="en-US" sz="1300" dirty="0">
                <a:solidFill>
                  <a:schemeClr val="accent2"/>
                </a:solidFill>
              </a:rPr>
              <a:t>62일 조회 제한 때문에 7월과 8~9월을 나눠 받아 합침</a:t>
            </a:r>
            <a:endParaRPr lang="en-US" sz="1300" dirty="0"/>
          </a:p>
        </p:txBody>
      </p:sp>
      <p:sp>
        <p:nvSpPr>
          <p:cNvPr id="19" name="Shape 17"/>
          <p:cNvSpPr/>
          <p:nvPr/>
        </p:nvSpPr>
        <p:spPr>
          <a:xfrm>
            <a:off x="6233008" y="3803904"/>
            <a:ext cx="5410048" cy="987552"/>
          </a:xfrm>
          <a:prstGeom prst="roundRect">
            <a:avLst>
              <a:gd name="adj" fmla="val 11111"/>
            </a:avLst>
          </a:prstGeom>
          <a:solidFill>
            <a:schemeClr val="bg2"/>
          </a:solidFill>
          <a:ln/>
        </p:spPr>
      </p:sp>
      <p:sp>
        <p:nvSpPr>
          <p:cNvPr id="20" name="Text 18"/>
          <p:cNvSpPr txBox="1"/>
          <p:nvPr/>
        </p:nvSpPr>
        <p:spPr>
          <a:xfrm>
            <a:off x="6461608" y="3941064"/>
            <a:ext cx="4952848" cy="292608"/>
          </a:xfrm>
          <a:prstGeom prst="rect">
            <a:avLst/>
          </a:prstGeom>
          <a:noFill/>
          <a:ln/>
        </p:spPr>
        <p:txBody>
          <a:bodyPr wrap="square" lIns="0" tIns="0" rIns="0" bIns="0" rtlCol="0" anchor="t"/>
          <a:lstStyle/>
          <a:p>
            <a:pPr indent="0" marL="0">
              <a:buNone/>
            </a:pPr>
            <a:r>
              <a:rPr lang="en-US" sz="1400" b="1" dirty="0">
                <a:solidFill>
                  <a:schemeClr val="tx2"/>
                </a:solidFill>
              </a:rPr>
              <a:t>ADVoost</a:t>
            </a:r>
            <a:endParaRPr lang="en-US" sz="1400" dirty="0"/>
          </a:p>
        </p:txBody>
      </p:sp>
      <p:sp>
        <p:nvSpPr>
          <p:cNvPr id="21" name="Text 19"/>
          <p:cNvSpPr txBox="1"/>
          <p:nvPr/>
        </p:nvSpPr>
        <p:spPr>
          <a:xfrm>
            <a:off x="6461608" y="4242816"/>
            <a:ext cx="4952848" cy="502920"/>
          </a:xfrm>
          <a:prstGeom prst="rect">
            <a:avLst/>
          </a:prstGeom>
          <a:noFill/>
          <a:ln/>
        </p:spPr>
        <p:txBody>
          <a:bodyPr wrap="square" lIns="0" tIns="0" rIns="0" bIns="0" rtlCol="0" anchor="t"/>
          <a:lstStyle/>
          <a:p>
            <a:pPr indent="0" marL="0">
              <a:buNone/>
            </a:pPr>
            <a:r>
              <a:rPr lang="en-US" sz="1300" dirty="0">
                <a:solidFill>
                  <a:schemeClr val="accent2"/>
                </a:solidFill>
              </a:rPr>
              <a:t>애셋 그룹 보고서 기준. 캠페인당 애셋 그룹이 1개라 캠페인 성과와 같고, 소재 단위 성과는 없음</a:t>
            </a:r>
            <a:endParaRPr lang="en-US" sz="1300" dirty="0"/>
          </a:p>
        </p:txBody>
      </p:sp>
      <p:sp>
        <p:nvSpPr>
          <p:cNvPr id="22" name="Shape 20"/>
          <p:cNvSpPr/>
          <p:nvPr/>
        </p:nvSpPr>
        <p:spPr>
          <a:xfrm>
            <a:off x="548640" y="4928616"/>
            <a:ext cx="5410048" cy="987552"/>
          </a:xfrm>
          <a:prstGeom prst="roundRect">
            <a:avLst>
              <a:gd name="adj" fmla="val 11111"/>
            </a:avLst>
          </a:prstGeom>
          <a:solidFill>
            <a:schemeClr val="bg2"/>
          </a:solidFill>
          <a:ln/>
        </p:spPr>
      </p:sp>
      <p:sp>
        <p:nvSpPr>
          <p:cNvPr id="23" name="Text 21"/>
          <p:cNvSpPr txBox="1"/>
          <p:nvPr/>
        </p:nvSpPr>
        <p:spPr>
          <a:xfrm>
            <a:off x="777240" y="5065776"/>
            <a:ext cx="4952848" cy="292608"/>
          </a:xfrm>
          <a:prstGeom prst="rect">
            <a:avLst/>
          </a:prstGeom>
          <a:noFill/>
          <a:ln/>
        </p:spPr>
        <p:txBody>
          <a:bodyPr wrap="square" lIns="0" tIns="0" rIns="0" bIns="0" rtlCol="0" anchor="t"/>
          <a:lstStyle/>
          <a:p>
            <a:pPr indent="0" marL="0">
              <a:buNone/>
            </a:pPr>
            <a:r>
              <a:rPr lang="en-US" sz="1400" b="1" dirty="0">
                <a:solidFill>
                  <a:schemeClr val="tx2"/>
                </a:solidFill>
              </a:rPr>
              <a:t>5~6월 GFA</a:t>
            </a:r>
            <a:endParaRPr lang="en-US" sz="1400" dirty="0"/>
          </a:p>
        </p:txBody>
      </p:sp>
      <p:sp>
        <p:nvSpPr>
          <p:cNvPr id="24" name="Text 22"/>
          <p:cNvSpPr txBox="1"/>
          <p:nvPr/>
        </p:nvSpPr>
        <p:spPr>
          <a:xfrm>
            <a:off x="777240" y="5367528"/>
            <a:ext cx="4952848" cy="502920"/>
          </a:xfrm>
          <a:prstGeom prst="rect">
            <a:avLst/>
          </a:prstGeom>
          <a:noFill/>
          <a:ln/>
        </p:spPr>
        <p:txBody>
          <a:bodyPr wrap="square" lIns="0" tIns="0" rIns="0" bIns="0" rtlCol="0" anchor="t"/>
          <a:lstStyle/>
          <a:p>
            <a:pPr indent="0" marL="0">
              <a:buNone/>
            </a:pPr>
            <a:r>
              <a:rPr lang="en-US" sz="1300" dirty="0">
                <a:solidFill>
                  <a:schemeClr val="accent2"/>
                </a:solidFill>
              </a:rPr>
              <a:t>5/1~9 중단을 반영해 5/10~6/30(52일) 기준으로 월 환산</a:t>
            </a:r>
            <a:endParaRPr lang="en-US" sz="1300" dirty="0"/>
          </a:p>
        </p:txBody>
      </p:sp>
      <p:sp>
        <p:nvSpPr>
          <p:cNvPr id="25" name="Shape 23"/>
          <p:cNvSpPr/>
          <p:nvPr/>
        </p:nvSpPr>
        <p:spPr>
          <a:xfrm>
            <a:off x="6233008" y="4928616"/>
            <a:ext cx="5410048" cy="987552"/>
          </a:xfrm>
          <a:prstGeom prst="roundRect">
            <a:avLst>
              <a:gd name="adj" fmla="val 11111"/>
            </a:avLst>
          </a:prstGeom>
          <a:solidFill>
            <a:schemeClr val="bg2"/>
          </a:solidFill>
          <a:ln/>
        </p:spPr>
      </p:sp>
      <p:sp>
        <p:nvSpPr>
          <p:cNvPr id="26" name="Text 24"/>
          <p:cNvSpPr txBox="1"/>
          <p:nvPr/>
        </p:nvSpPr>
        <p:spPr>
          <a:xfrm>
            <a:off x="6461608" y="5065776"/>
            <a:ext cx="4952848" cy="292608"/>
          </a:xfrm>
          <a:prstGeom prst="rect">
            <a:avLst/>
          </a:prstGeom>
          <a:noFill/>
          <a:ln/>
        </p:spPr>
        <p:txBody>
          <a:bodyPr wrap="square" lIns="0" tIns="0" rIns="0" bIns="0" rtlCol="0" anchor="t"/>
          <a:lstStyle/>
          <a:p>
            <a:pPr indent="0" marL="0">
              <a:buNone/>
            </a:pPr>
            <a:r>
              <a:rPr lang="en-US" sz="1400" b="1" dirty="0">
                <a:solidFill>
                  <a:schemeClr val="tx2"/>
                </a:solidFill>
              </a:rPr>
              <a:t>증액 효율</a:t>
            </a:r>
            <a:endParaRPr lang="en-US" sz="1400" dirty="0"/>
          </a:p>
        </p:txBody>
      </p:sp>
      <p:sp>
        <p:nvSpPr>
          <p:cNvPr id="27" name="Text 25"/>
          <p:cNvSpPr txBox="1"/>
          <p:nvPr/>
        </p:nvSpPr>
        <p:spPr>
          <a:xfrm>
            <a:off x="6461608" y="5367528"/>
            <a:ext cx="4952848" cy="502920"/>
          </a:xfrm>
          <a:prstGeom prst="rect">
            <a:avLst/>
          </a:prstGeom>
          <a:noFill/>
          <a:ln/>
        </p:spPr>
        <p:txBody>
          <a:bodyPr wrap="square" lIns="0" tIns="0" rIns="0" bIns="0" rtlCol="0" anchor="t"/>
          <a:lstStyle/>
          <a:p>
            <a:pPr indent="0" marL="0">
              <a:buNone/>
            </a:pPr>
            <a:r>
              <a:rPr lang="en-US" sz="1300" dirty="0">
                <a:solidFill>
                  <a:schemeClr val="accent2"/>
                </a:solidFill>
              </a:rPr>
              <a:t>7~9월 월 광고비·매출은 3개월 단순 평균. 늘린 돈의 효율(239%)은 추정치</a:t>
            </a:r>
            <a:endParaRPr lang="en-US" sz="13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부록</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제외키워드 후보 상위 20개는 모두 통영숙수 검색어입니다</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394960" cy="914400"/>
        </p:xfrm>
        <a:graphic>
          <a:graphicData uri="http://schemas.openxmlformats.org/drawingml/2006/table">
            <a:tbl>
              <a:tblPr/>
              <a:tblGrid>
                <a:gridCol w="365760"/>
                <a:gridCol w="2103120"/>
                <a:gridCol w="1097280"/>
                <a:gridCol w="914400"/>
                <a:gridCol w="914400"/>
              </a:tblGrid>
              <a:tr h="329184">
                <a:tc>
                  <a:txBody>
                    <a:bodyPr/>
                    <a:lstStyle/>
                    <a:p>
                      <a:pPr indent="0" marL="0">
                        <a:buNone/>
                      </a:pPr>
                      <a:r>
                        <a:rPr lang="en-US" sz="1200" b="1" dirty="0">
                          <a:solidFill>
                            <a:schemeClr val="bg1"/>
                          </a:solidFill>
                        </a:rPr>
                        <a:t>#</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검색어</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캠페인</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비용</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판단</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329184">
                <a:tc>
                  <a:txBody>
                    <a:bodyPr/>
                    <a:lstStyle/>
                    <a:p>
                      <a:pPr algn="ctr" indent="0" marL="0">
                        <a:buNone/>
                      </a:pPr>
                      <a:r>
                        <a:rPr lang="en-US" sz="1200" dirty="0">
                          <a:solidFill>
                            <a:schemeClr val="accent3"/>
                          </a:solidFill>
                        </a:rPr>
                        <a:t>1</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16,661원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2</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냉동죽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5,643원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3</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물회키트</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물회</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3,948원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4</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짜죽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3,734원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5</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냉동전복죽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3,072원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6</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전복죽밀키트</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2,831원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7</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물회주문</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물회</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2,229원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8</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rgbClr val="000000"/>
                          </a:solidFill>
                        </a:rPr>
                        <a:t>김호준전복죽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2,126원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1"/>
                          </a:solidFill>
                        </a:rPr>
                        <a:t>제외 권장</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r h="329184">
                <a:tc>
                  <a:txBody>
                    <a:bodyPr/>
                    <a:lstStyle/>
                    <a:p>
                      <a:pPr algn="ctr" indent="0" marL="0">
                        <a:buNone/>
                      </a:pPr>
                      <a:r>
                        <a:rPr lang="en-US" sz="1200" dirty="0">
                          <a:solidFill>
                            <a:schemeClr val="accent3"/>
                          </a:solidFill>
                        </a:rPr>
                        <a:t>9</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죽냉동</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2,107원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10</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rgbClr val="000000"/>
                          </a:solidFill>
                        </a:rPr>
                        <a:t>전복즉은.어떻게.하나요?</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2,048원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1"/>
                          </a:solidFill>
                        </a:rPr>
                        <a:t>제외 권장</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45352" y="1554480"/>
          <a:ext cx="5394960" cy="914400"/>
        </p:xfrm>
        <a:graphic>
          <a:graphicData uri="http://schemas.openxmlformats.org/drawingml/2006/table">
            <a:tbl>
              <a:tblPr/>
              <a:tblGrid>
                <a:gridCol w="365760"/>
                <a:gridCol w="2103120"/>
                <a:gridCol w="1097280"/>
                <a:gridCol w="914400"/>
                <a:gridCol w="914400"/>
              </a:tblGrid>
              <a:tr h="329184">
                <a:tc>
                  <a:txBody>
                    <a:bodyPr/>
                    <a:lstStyle/>
                    <a:p>
                      <a:pPr indent="0" marL="0">
                        <a:buNone/>
                      </a:pPr>
                      <a:r>
                        <a:rPr lang="en-US" sz="1200" b="1" dirty="0">
                          <a:solidFill>
                            <a:schemeClr val="bg1"/>
                          </a:solidFill>
                        </a:rPr>
                        <a:t>#</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검색어</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캠페인</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비용</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판단</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chemeClr val="tx2"/>
                    </a:solidFill>
                  </a:tcPr>
                </a:tc>
              </a:tr>
              <a:tr h="329184">
                <a:tc>
                  <a:txBody>
                    <a:bodyPr/>
                    <a:lstStyle/>
                    <a:p>
                      <a:pPr algn="ctr" indent="0" marL="0">
                        <a:buNone/>
                      </a:pPr>
                      <a:r>
                        <a:rPr lang="en-US" sz="1200" dirty="0">
                          <a:solidFill>
                            <a:schemeClr val="accent3"/>
                          </a:solidFill>
                        </a:rPr>
                        <a:t>11</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죽추천</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1,969원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12</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rgbClr val="000000"/>
                          </a:solidFill>
                        </a:rPr>
                        <a:t>명품게우전복죽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1,934원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1"/>
                          </a:solidFill>
                        </a:rPr>
                        <a:t>제외 권장</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r h="329184">
                <a:tc>
                  <a:txBody>
                    <a:bodyPr/>
                    <a:lstStyle/>
                    <a:p>
                      <a:pPr algn="ctr" indent="0" marL="0">
                        <a:buNone/>
                      </a:pPr>
                      <a:r>
                        <a:rPr lang="en-US" sz="1200" dirty="0">
                          <a:solidFill>
                            <a:schemeClr val="accent3"/>
                          </a:solidFill>
                        </a:rPr>
                        <a:t>13</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rgbClr val="000000"/>
                          </a:solidFill>
                        </a:rPr>
                        <a:t>전복죽은어떻게하나요?</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1,874원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1"/>
                          </a:solidFill>
                        </a:rPr>
                        <a:t>제외 권장</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r h="329184">
                <a:tc>
                  <a:txBody>
                    <a:bodyPr/>
                    <a:lstStyle/>
                    <a:p>
                      <a:pPr algn="ctr" indent="0" marL="0">
                        <a:buNone/>
                      </a:pPr>
                      <a:r>
                        <a:rPr lang="en-US" sz="1200" dirty="0">
                          <a:solidFill>
                            <a:schemeClr val="accent3"/>
                          </a:solidFill>
                        </a:rPr>
                        <a:t>14</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한끼전복죽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1,834원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15</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간편죽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1,787원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16</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rgbClr val="000000"/>
                          </a:solidFill>
                        </a:rPr>
                        <a:t>장우준전복죽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1,685원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1"/>
                          </a:solidFill>
                        </a:rPr>
                        <a:t>제외 권장</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solidFill>
                      <a:srgbClr val="FDE4DF"/>
                    </a:solidFill>
                  </a:tcPr>
                </a:tc>
              </a:tr>
              <a:tr h="329184">
                <a:tc>
                  <a:txBody>
                    <a:bodyPr/>
                    <a:lstStyle/>
                    <a:p>
                      <a:pPr algn="ctr" indent="0" marL="0">
                        <a:buNone/>
                      </a:pPr>
                      <a:r>
                        <a:rPr lang="en-US" sz="1200" dirty="0">
                          <a:solidFill>
                            <a:schemeClr val="accent3"/>
                          </a:solidFill>
                        </a:rPr>
                        <a:t>17</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게우통전복죽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전복죽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1,607원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18</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참돔물회밀키트</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물회</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1,577원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19</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물회택배</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물회</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1,537원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r h="329184">
                <a:tc>
                  <a:txBody>
                    <a:bodyPr/>
                    <a:lstStyle/>
                    <a:p>
                      <a:pPr algn="ctr" indent="0" marL="0">
                        <a:buNone/>
                      </a:pPr>
                      <a:r>
                        <a:rPr lang="en-US" sz="1200" dirty="0">
                          <a:solidFill>
                            <a:schemeClr val="accent3"/>
                          </a:solidFill>
                        </a:rPr>
                        <a:t>20</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rgbClr val="000000"/>
                          </a:solidFill>
                        </a:rPr>
                        <a:t>죽</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dirty="0">
                          <a:solidFill>
                            <a:schemeClr val="accent2"/>
                          </a:solidFill>
                        </a:rPr>
                        <a:t>브랜드</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algn="r" indent="0" marL="0">
                        <a:buNone/>
                      </a:pPr>
                      <a:r>
                        <a:rPr lang="en-US" sz="1200" dirty="0">
                          <a:solidFill>
                            <a:srgbClr val="000000"/>
                          </a:solidFill>
                        </a:rPr>
                        <a:t>1,527원</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c>
                  <a:txBody>
                    <a:bodyPr/>
                    <a:lstStyle/>
                    <a:p>
                      <a:pPr indent="0" marL="0">
                        <a:buNone/>
                      </a:pPr>
                      <a:r>
                        <a:rPr lang="en-US" sz="1200" b="1" dirty="0">
                          <a:solidFill>
                            <a:schemeClr val="accent2"/>
                          </a:solidFill>
                        </a:rPr>
                        <a:t>검토</a:t>
                      </a:r>
                      <a:endParaRPr lang="en-US" sz="1200" dirty="0"/>
                    </a:p>
                  </a:txBody>
                  <a:tcPr marL="73152" marR="73152" marT="18288" marB="18288" anchor="ctr">
                    <a:lnL w="9525" cap="flat" cmpd="sng" algn="ctr">
                      <a:solidFill>
                        <a:srgbClr val="D1D6DB"/>
                      </a:solidFill>
                      <a:prstDash val="solid"/>
                      <a:round/>
                      <a:headEnd type="none" w="med" len="med"/>
                      <a:tailEnd type="none" w="med" len="med"/>
                    </a:lnL>
                    <a:lnR w="9525" cap="flat" cmpd="sng" algn="ctr">
                      <a:solidFill>
                        <a:srgbClr val="D1D6DB"/>
                      </a:solidFill>
                      <a:prstDash val="solid"/>
                      <a:round/>
                      <a:headEnd type="none" w="med" len="med"/>
                      <a:tailEnd type="none" w="med" len="med"/>
                    </a:lnR>
                    <a:lnT w="9525" cap="flat" cmpd="sng" algn="ctr">
                      <a:solidFill>
                        <a:srgbClr val="D1D6DB"/>
                      </a:solidFill>
                      <a:prstDash val="solid"/>
                      <a:round/>
                      <a:headEnd type="none" w="med" len="med"/>
                      <a:tailEnd type="none" w="med" len="med"/>
                    </a:lnT>
                    <a:lnB w="9525" cap="flat" cmpd="sng" algn="ctr">
                      <a:solidFill>
                        <a:srgbClr val="D1D6DB"/>
                      </a:solidFill>
                      <a:prstDash val="solid"/>
                      <a:round/>
                      <a:headEnd type="none" w="med" len="med"/>
                      <a:tailEnd type="none" w="med" len="med"/>
                    </a:lnB>
                  </a:tcPr>
                </a:tc>
              </a:tr>
            </a:tbl>
          </a:graphicData>
        </a:graphic>
      </p:graphicFrame>
      <p:sp>
        <p:nvSpPr>
          <p:cNvPr id="6" name="Text 2"/>
          <p:cNvSpPr txBox="1"/>
          <p:nvPr/>
        </p:nvSpPr>
        <p:spPr>
          <a:xfrm>
            <a:off x="548640" y="5349240"/>
            <a:ext cx="11094415" cy="274320"/>
          </a:xfrm>
          <a:prstGeom prst="rect">
            <a:avLst/>
          </a:prstGeom>
          <a:noFill/>
          <a:ln/>
        </p:spPr>
        <p:txBody>
          <a:bodyPr wrap="square" lIns="0" tIns="0" rIns="0" bIns="0" rtlCol="0" anchor="t"/>
          <a:lstStyle/>
          <a:p>
            <a:pPr indent="0" marL="0">
              <a:buNone/>
            </a:pPr>
            <a:r>
              <a:rPr lang="en-US" sz="1200" b="1" dirty="0">
                <a:solidFill>
                  <a:schemeClr val="accent1"/>
                </a:solidFill>
              </a:rPr>
              <a:t>제외 권장</a:t>
            </a:r>
            <a:pPr indent="0" marL="0">
              <a:buNone/>
            </a:pPr>
            <a:r>
              <a:rPr lang="en-US" sz="1200" dirty="0">
                <a:solidFill>
                  <a:schemeClr val="accent2"/>
                </a:solidFill>
              </a:rPr>
              <a:t> 타사 브랜드·질문형 검색어   </a:t>
            </a:r>
            <a:pPr indent="0" marL="0">
              <a:buNone/>
            </a:pPr>
            <a:r>
              <a:rPr lang="en-US" sz="1200" b="1" dirty="0">
                <a:solidFill>
                  <a:schemeClr val="accent2"/>
                </a:solidFill>
              </a:rPr>
              <a:t>검토</a:t>
            </a:r>
            <a:pPr indent="0" marL="0">
              <a:buNone/>
            </a:pPr>
            <a:r>
              <a:rPr lang="en-US" sz="1200" dirty="0">
                <a:solidFill>
                  <a:schemeClr val="accent2"/>
                </a:solidFill>
              </a:rPr>
              <a:t> 일반 카테고리어. 구매는 없지만 수요가 있는 말이라 제외보다 입찰·매칭 조정부터</a:t>
            </a:r>
            <a:endParaRPr lang="en-US" sz="1200" dirty="0"/>
          </a:p>
        </p:txBody>
      </p:sp>
      <p:sp>
        <p:nvSpPr>
          <p:cNvPr id="7" name="Text 3"/>
          <p:cNvSpPr txBox="1"/>
          <p:nvPr/>
        </p:nvSpPr>
        <p:spPr>
          <a:xfrm>
            <a:off x="548640" y="5669280"/>
            <a:ext cx="11094415" cy="411480"/>
          </a:xfrm>
          <a:prstGeom prst="rect">
            <a:avLst/>
          </a:prstGeom>
          <a:noFill/>
          <a:ln/>
        </p:spPr>
        <p:txBody>
          <a:bodyPr wrap="square" lIns="0" tIns="0" rIns="0" bIns="0" rtlCol="0" anchor="t"/>
          <a:lstStyle/>
          <a:p>
            <a:pPr indent="0" marL="0">
              <a:buNone/>
            </a:pPr>
            <a:r>
              <a:rPr lang="en-US" sz="1100" dirty="0">
                <a:solidFill>
                  <a:schemeClr val="accent3"/>
                </a:solidFill>
              </a:rPr>
              <a:t>기준: 구매 0건 검색어 395개(14.6만 원, 측정 누락 캠페인 제외) 중 브랜드명 미포함, 비용 순. '꼬끼다'(브랜드 오타)와 '전복죽'(자사 상품명, 전복죽 캠페인 구매 8건)은 목록에서 뺐습니다</a:t>
            </a:r>
            <a:endParaRPr lang="en-US" sz="11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부록</a:t>
            </a:r>
            <a:endParaRPr lang="en-US" sz="1200" dirty="0"/>
          </a:p>
        </p:txBody>
      </p:sp>
      <p:sp>
        <p:nvSpPr>
          <p:cNvPr id="3" name="Text 1"/>
          <p:cNvSpPr/>
          <p:nvPr>
            <p:ph idx="103" type="title" hasCustomPrompt="1"/>
          </p:nvPr>
        </p:nvSpPr>
        <p:spPr>
          <a:xfrm>
            <a:off x="548640" y="658368"/>
            <a:ext cx="11094415" cy="640080"/>
          </a:xfrm>
          <a:prstGeom prst="rect">
            <a:avLst/>
          </a:prstGeom>
          <a:noFill/>
          <a:ln/>
        </p:spPr>
        <p:txBody>
          <a:bodyPr wrap="square" lIns="0" tIns="0" rIns="0" bIns="0" rtlCol="0" anchor="ctr"/>
          <a:lstStyle/>
          <a:p>
            <a:pPr algn="l" indent="0" marL="0">
              <a:buNone/>
            </a:pPr>
            <a:r>
              <a:rPr lang="en-US" sz="2800" b="1" dirty="0">
                <a:solidFill>
                  <a:schemeClr val="tx1"/>
                </a:solidFill>
              </a:rPr>
              <a:t>30대 남성과 45~49세 여성에서 효율이 가장 높습니다</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583680" cy="914400"/>
        </p:xfrm>
        <a:graphic>
          <a:graphicData uri="http://schemas.openxmlformats.org/drawingml/2006/table">
            <a:tbl>
              <a:tblPr/>
              <a:tblGrid>
                <a:gridCol w="1280160"/>
                <a:gridCol w="1325880"/>
                <a:gridCol w="1325880"/>
                <a:gridCol w="1325880"/>
                <a:gridCol w="1325880"/>
              </a:tblGrid>
              <a:tr h="356616">
                <a:tc>
                  <a:txBody>
                    <a:bodyPr/>
                    <a:lstStyle/>
                    <a:p>
                      <a:pPr indent="0" marL="0">
                        <a:buNone/>
                      </a:pPr>
                      <a:r>
                        <a:rPr lang="en-US" sz="1400" b="1" dirty="0">
                          <a:solidFill>
                            <a:schemeClr val="bg1"/>
                          </a:solidFill>
                        </a:rPr>
                        <a:t>연령</a:t>
                      </a:r>
                      <a:endParaRPr lang="en-US" sz="14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여성 광고비</a:t>
                      </a:r>
                      <a:endParaRPr lang="en-US" sz="14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여성 ROAS</a:t>
                      </a:r>
                      <a:endParaRPr lang="en-US" sz="14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남성 광고비</a:t>
                      </a:r>
                      <a:endParaRPr lang="en-US" sz="14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남성 ROAS</a:t>
                      </a:r>
                      <a:endParaRPr lang="en-US" sz="14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r>
              <a:tr h="356616">
                <a:tc>
                  <a:txBody>
                    <a:bodyPr/>
                    <a:lstStyle/>
                    <a:p>
                      <a:pPr indent="0" marL="0">
                        <a:buNone/>
                      </a:pPr>
                      <a:r>
                        <a:rPr lang="en-US" sz="1300" b="1" dirty="0">
                          <a:solidFill>
                            <a:srgbClr val="000000"/>
                          </a:solidFill>
                        </a:rPr>
                        <a:t>18세 이하</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18만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accent1"/>
                          </a:solidFill>
                        </a:rPr>
                        <a:t>82%</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4DF"/>
                    </a:solidFill>
                  </a:tcPr>
                </a:tc>
                <a:tc>
                  <a:txBody>
                    <a:bodyPr/>
                    <a:lstStyle/>
                    <a:p>
                      <a:pPr algn="r" indent="0" marL="0">
                        <a:buNone/>
                      </a:pPr>
                      <a:r>
                        <a:rPr lang="en-US" sz="1300" dirty="0">
                          <a:solidFill>
                            <a:schemeClr val="accent2"/>
                          </a:solidFill>
                        </a:rPr>
                        <a:t>39만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accent1"/>
                          </a:solidFill>
                        </a:rPr>
                        <a:t>172%</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4DF"/>
                    </a:solidFill>
                  </a:tcPr>
                </a:tc>
              </a:tr>
              <a:tr h="356616">
                <a:tc>
                  <a:txBody>
                    <a:bodyPr/>
                    <a:lstStyle/>
                    <a:p>
                      <a:pPr indent="0" marL="0">
                        <a:buNone/>
                      </a:pPr>
                      <a:r>
                        <a:rPr lang="en-US" sz="1300" b="1" dirty="0">
                          <a:solidFill>
                            <a:srgbClr val="000000"/>
                          </a:solidFill>
                        </a:rPr>
                        <a:t>19~24세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91만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accent1"/>
                          </a:solidFill>
                        </a:rPr>
                        <a:t>184%</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4DF"/>
                    </a:solidFill>
                  </a:tcPr>
                </a:tc>
                <a:tc>
                  <a:txBody>
                    <a:bodyPr/>
                    <a:lstStyle/>
                    <a:p>
                      <a:pPr algn="r" indent="0" marL="0">
                        <a:buNone/>
                      </a:pPr>
                      <a:r>
                        <a:rPr lang="en-US" sz="1300" dirty="0">
                          <a:solidFill>
                            <a:schemeClr val="accent2"/>
                          </a:solidFill>
                        </a:rPr>
                        <a:t>139만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250%</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r>
              <a:tr h="356616">
                <a:tc>
                  <a:txBody>
                    <a:bodyPr/>
                    <a:lstStyle/>
                    <a:p>
                      <a:pPr indent="0" marL="0">
                        <a:buNone/>
                      </a:pPr>
                      <a:r>
                        <a:rPr lang="en-US" sz="1300" b="1" dirty="0">
                          <a:solidFill>
                            <a:srgbClr val="000000"/>
                          </a:solidFill>
                        </a:rPr>
                        <a:t>25~29세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172만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tx1"/>
                          </a:solidFill>
                        </a:rPr>
                        <a:t>317%</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D3E6"/>
                    </a:solidFill>
                  </a:tcPr>
                </a:tc>
                <a:tc>
                  <a:txBody>
                    <a:bodyPr/>
                    <a:lstStyle/>
                    <a:p>
                      <a:pPr algn="r" indent="0" marL="0">
                        <a:buNone/>
                      </a:pPr>
                      <a:r>
                        <a:rPr lang="en-US" sz="1300" dirty="0">
                          <a:solidFill>
                            <a:schemeClr val="accent2"/>
                          </a:solidFill>
                        </a:rPr>
                        <a:t>284만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tx1"/>
                          </a:solidFill>
                        </a:rPr>
                        <a:t>328%</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D3E6"/>
                    </a:solidFill>
                  </a:tcPr>
                </a:tc>
              </a:tr>
              <a:tr h="356616">
                <a:tc>
                  <a:txBody>
                    <a:bodyPr/>
                    <a:lstStyle/>
                    <a:p>
                      <a:pPr indent="0" marL="0">
                        <a:buNone/>
                      </a:pPr>
                      <a:r>
                        <a:rPr lang="en-US" sz="1300" b="1" dirty="0">
                          <a:solidFill>
                            <a:srgbClr val="000000"/>
                          </a:solidFill>
                        </a:rPr>
                        <a:t>30~34세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206만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292%</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c>
                  <a:txBody>
                    <a:bodyPr/>
                    <a:lstStyle/>
                    <a:p>
                      <a:pPr algn="r" indent="0" marL="0">
                        <a:buNone/>
                      </a:pPr>
                      <a:r>
                        <a:rPr lang="en-US" sz="1300" dirty="0">
                          <a:solidFill>
                            <a:schemeClr val="accent2"/>
                          </a:solidFill>
                        </a:rPr>
                        <a:t>398만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bg1"/>
                          </a:solidFill>
                        </a:rPr>
                        <a:t>393%</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00442"/>
                    </a:solidFill>
                  </a:tcPr>
                </a:tc>
              </a:tr>
              <a:tr h="356616">
                <a:tc>
                  <a:txBody>
                    <a:bodyPr/>
                    <a:lstStyle/>
                    <a:p>
                      <a:pPr indent="0" marL="0">
                        <a:buNone/>
                      </a:pPr>
                      <a:r>
                        <a:rPr lang="en-US" sz="1300" b="1" dirty="0">
                          <a:solidFill>
                            <a:srgbClr val="000000"/>
                          </a:solidFill>
                        </a:rPr>
                        <a:t>35~39세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163만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tx1"/>
                          </a:solidFill>
                        </a:rPr>
                        <a:t>300%</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D3E6"/>
                    </a:solidFill>
                  </a:tcPr>
                </a:tc>
                <a:tc>
                  <a:txBody>
                    <a:bodyPr/>
                    <a:lstStyle/>
                    <a:p>
                      <a:pPr algn="r" indent="0" marL="0">
                        <a:buNone/>
                      </a:pPr>
                      <a:r>
                        <a:rPr lang="en-US" sz="1300" dirty="0">
                          <a:solidFill>
                            <a:schemeClr val="accent2"/>
                          </a:solidFill>
                        </a:rPr>
                        <a:t>377만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bg1"/>
                          </a:solidFill>
                        </a:rPr>
                        <a:t>356%</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00442"/>
                    </a:solidFill>
                  </a:tcPr>
                </a:tc>
              </a:tr>
              <a:tr h="356616">
                <a:tc>
                  <a:txBody>
                    <a:bodyPr/>
                    <a:lstStyle/>
                    <a:p>
                      <a:pPr indent="0" marL="0">
                        <a:buNone/>
                      </a:pPr>
                      <a:r>
                        <a:rPr lang="en-US" sz="1300" b="1" dirty="0">
                          <a:solidFill>
                            <a:srgbClr val="000000"/>
                          </a:solidFill>
                        </a:rPr>
                        <a:t>40~44세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155만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290%</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c>
                  <a:txBody>
                    <a:bodyPr/>
                    <a:lstStyle/>
                    <a:p>
                      <a:pPr algn="r" indent="0" marL="0">
                        <a:buNone/>
                      </a:pPr>
                      <a:r>
                        <a:rPr lang="en-US" sz="1300" dirty="0">
                          <a:solidFill>
                            <a:schemeClr val="accent2"/>
                          </a:solidFill>
                        </a:rPr>
                        <a:t>292만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tx1"/>
                          </a:solidFill>
                        </a:rPr>
                        <a:t>305%</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D3E6"/>
                    </a:solidFill>
                  </a:tcPr>
                </a:tc>
              </a:tr>
              <a:tr h="356616">
                <a:tc>
                  <a:txBody>
                    <a:bodyPr/>
                    <a:lstStyle/>
                    <a:p>
                      <a:pPr indent="0" marL="0">
                        <a:buNone/>
                      </a:pPr>
                      <a:r>
                        <a:rPr lang="en-US" sz="1300" b="1" dirty="0">
                          <a:solidFill>
                            <a:srgbClr val="000000"/>
                          </a:solidFill>
                        </a:rPr>
                        <a:t>45~49세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175만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bg1"/>
                          </a:solidFill>
                        </a:rPr>
                        <a:t>426%</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00442"/>
                    </a:solidFill>
                  </a:tcPr>
                </a:tc>
                <a:tc>
                  <a:txBody>
                    <a:bodyPr/>
                    <a:lstStyle/>
                    <a:p>
                      <a:pPr algn="r" indent="0" marL="0">
                        <a:buNone/>
                      </a:pPr>
                      <a:r>
                        <a:rPr lang="en-US" sz="1300" dirty="0">
                          <a:solidFill>
                            <a:schemeClr val="accent2"/>
                          </a:solidFill>
                        </a:rPr>
                        <a:t>224만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262%</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r>
              <a:tr h="356616">
                <a:tc>
                  <a:txBody>
                    <a:bodyPr/>
                    <a:lstStyle/>
                    <a:p>
                      <a:pPr indent="0" marL="0">
                        <a:buNone/>
                      </a:pPr>
                      <a:r>
                        <a:rPr lang="en-US" sz="1300" b="1" dirty="0">
                          <a:solidFill>
                            <a:srgbClr val="000000"/>
                          </a:solidFill>
                        </a:rPr>
                        <a:t>50~54세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117만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260%</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c>
                  <a:txBody>
                    <a:bodyPr/>
                    <a:lstStyle/>
                    <a:p>
                      <a:pPr algn="r" indent="0" marL="0">
                        <a:buNone/>
                      </a:pPr>
                      <a:r>
                        <a:rPr lang="en-US" sz="1300" dirty="0">
                          <a:solidFill>
                            <a:schemeClr val="accent2"/>
                          </a:solidFill>
                        </a:rPr>
                        <a:t>115만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218%</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r>
              <a:tr h="356616">
                <a:tc>
                  <a:txBody>
                    <a:bodyPr/>
                    <a:lstStyle/>
                    <a:p>
                      <a:pPr indent="0" marL="0">
                        <a:buNone/>
                      </a:pPr>
                      <a:r>
                        <a:rPr lang="en-US" sz="1300" b="1" dirty="0">
                          <a:solidFill>
                            <a:srgbClr val="000000"/>
                          </a:solidFill>
                        </a:rPr>
                        <a:t>55~59세</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60만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tx1"/>
                          </a:solidFill>
                        </a:rPr>
                        <a:t>307%</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5D3E6"/>
                    </a:solidFill>
                  </a:tcPr>
                </a:tc>
                <a:tc>
                  <a:txBody>
                    <a:bodyPr/>
                    <a:lstStyle/>
                    <a:p>
                      <a:pPr algn="r" indent="0" marL="0">
                        <a:buNone/>
                      </a:pPr>
                      <a:r>
                        <a:rPr lang="en-US" sz="1300" dirty="0">
                          <a:solidFill>
                            <a:schemeClr val="accent2"/>
                          </a:solidFill>
                        </a:rPr>
                        <a:t>70만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248%</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r>
              <a:tr h="356616">
                <a:tc>
                  <a:txBody>
                    <a:bodyPr/>
                    <a:lstStyle/>
                    <a:p>
                      <a:pPr indent="0" marL="0">
                        <a:buNone/>
                      </a:pPr>
                      <a:r>
                        <a:rPr lang="en-US" sz="1300" b="1" dirty="0">
                          <a:solidFill>
                            <a:srgbClr val="000000"/>
                          </a:solidFill>
                        </a:rPr>
                        <a:t>60세 이상</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r" indent="0" marL="0">
                        <a:buNone/>
                      </a:pPr>
                      <a:r>
                        <a:rPr lang="en-US" sz="1300" dirty="0">
                          <a:solidFill>
                            <a:schemeClr val="accent2"/>
                          </a:solidFill>
                        </a:rPr>
                        <a:t>46만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b="1" dirty="0">
                          <a:solidFill>
                            <a:schemeClr val="accent1"/>
                          </a:solidFill>
                        </a:rPr>
                        <a:t>197%</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4DF"/>
                    </a:solidFill>
                  </a:tcPr>
                </a:tc>
                <a:tc>
                  <a:txBody>
                    <a:bodyPr/>
                    <a:lstStyle/>
                    <a:p>
                      <a:pPr algn="r" indent="0" marL="0">
                        <a:buNone/>
                      </a:pPr>
                      <a:r>
                        <a:rPr lang="en-US" sz="1300" dirty="0">
                          <a:solidFill>
                            <a:schemeClr val="accent2"/>
                          </a:solidFill>
                        </a:rPr>
                        <a:t>49만 원</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300" dirty="0">
                          <a:solidFill>
                            <a:schemeClr val="tx1"/>
                          </a:solidFill>
                        </a:rPr>
                        <a:t>262%</a:t>
                      </a:r>
                      <a:endParaRPr lang="en-US" sz="1300" dirty="0"/>
                    </a:p>
                  </a:txBody>
                  <a:tcPr marL="91440" marR="9144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4F6"/>
                    </a:solidFill>
                  </a:tcPr>
                </a:tc>
              </a:tr>
            </a:tbl>
          </a:graphicData>
        </a:graphic>
      </p:graphicFrame>
      <p:sp>
        <p:nvSpPr>
          <p:cNvPr id="5" name="Shape 2"/>
          <p:cNvSpPr/>
          <p:nvPr/>
        </p:nvSpPr>
        <p:spPr>
          <a:xfrm>
            <a:off x="548640" y="5623560"/>
            <a:ext cx="201168" cy="201168"/>
          </a:xfrm>
          <a:prstGeom prst="rect">
            <a:avLst/>
          </a:prstGeom>
          <a:solidFill>
            <a:srgbClr val="100442"/>
          </a:solidFill>
          <a:ln w="6350">
            <a:solidFill>
              <a:srgbClr val="D1D6DB"/>
            </a:solidFill>
            <a:prstDash val="solid"/>
          </a:ln>
        </p:spPr>
      </p:sp>
      <p:sp>
        <p:nvSpPr>
          <p:cNvPr id="6" name="Text 3"/>
          <p:cNvSpPr txBox="1"/>
          <p:nvPr/>
        </p:nvSpPr>
        <p:spPr>
          <a:xfrm>
            <a:off x="822960" y="5596128"/>
            <a:ext cx="1280160" cy="256032"/>
          </a:xfrm>
          <a:prstGeom prst="rect">
            <a:avLst/>
          </a:prstGeom>
          <a:noFill/>
          <a:ln/>
        </p:spPr>
        <p:txBody>
          <a:bodyPr wrap="square" lIns="0" tIns="0" rIns="0" bIns="0" rtlCol="0" anchor="ctr"/>
          <a:lstStyle/>
          <a:p>
            <a:pPr indent="0" marL="0">
              <a:buNone/>
            </a:pPr>
            <a:r>
              <a:rPr lang="en-US" sz="1100" dirty="0">
                <a:solidFill>
                  <a:schemeClr val="accent2"/>
                </a:solidFill>
              </a:rPr>
              <a:t>350% 이상</a:t>
            </a:r>
            <a:endParaRPr lang="en-US" sz="1100" dirty="0"/>
          </a:p>
        </p:txBody>
      </p:sp>
      <p:sp>
        <p:nvSpPr>
          <p:cNvPr id="7" name="Shape 4"/>
          <p:cNvSpPr/>
          <p:nvPr/>
        </p:nvSpPr>
        <p:spPr>
          <a:xfrm>
            <a:off x="2194560" y="5623560"/>
            <a:ext cx="201168" cy="201168"/>
          </a:xfrm>
          <a:prstGeom prst="rect">
            <a:avLst/>
          </a:prstGeom>
          <a:solidFill>
            <a:srgbClr val="D5D3E6"/>
          </a:solidFill>
          <a:ln w="6350">
            <a:solidFill>
              <a:srgbClr val="D1D6DB"/>
            </a:solidFill>
            <a:prstDash val="solid"/>
          </a:ln>
        </p:spPr>
      </p:sp>
      <p:sp>
        <p:nvSpPr>
          <p:cNvPr id="8" name="Text 5"/>
          <p:cNvSpPr txBox="1"/>
          <p:nvPr/>
        </p:nvSpPr>
        <p:spPr>
          <a:xfrm>
            <a:off x="2468880" y="5596128"/>
            <a:ext cx="1280160" cy="256032"/>
          </a:xfrm>
          <a:prstGeom prst="rect">
            <a:avLst/>
          </a:prstGeom>
          <a:noFill/>
          <a:ln/>
        </p:spPr>
        <p:txBody>
          <a:bodyPr wrap="square" lIns="0" tIns="0" rIns="0" bIns="0" rtlCol="0" anchor="ctr"/>
          <a:lstStyle/>
          <a:p>
            <a:pPr indent="0" marL="0">
              <a:buNone/>
            </a:pPr>
            <a:r>
              <a:rPr lang="en-US" sz="1100" dirty="0">
                <a:solidFill>
                  <a:schemeClr val="accent2"/>
                </a:solidFill>
              </a:rPr>
              <a:t>300~349%</a:t>
            </a:r>
            <a:endParaRPr lang="en-US" sz="1100" dirty="0"/>
          </a:p>
        </p:txBody>
      </p:sp>
      <p:sp>
        <p:nvSpPr>
          <p:cNvPr id="9" name="Shape 6"/>
          <p:cNvSpPr/>
          <p:nvPr/>
        </p:nvSpPr>
        <p:spPr>
          <a:xfrm>
            <a:off x="3840480" y="5623560"/>
            <a:ext cx="201168" cy="201168"/>
          </a:xfrm>
          <a:prstGeom prst="rect">
            <a:avLst/>
          </a:prstGeom>
          <a:solidFill>
            <a:srgbClr val="F2F4F6"/>
          </a:solidFill>
          <a:ln w="6350">
            <a:solidFill>
              <a:srgbClr val="D1D6DB"/>
            </a:solidFill>
            <a:prstDash val="solid"/>
          </a:ln>
        </p:spPr>
      </p:sp>
      <p:sp>
        <p:nvSpPr>
          <p:cNvPr id="10" name="Text 7"/>
          <p:cNvSpPr txBox="1"/>
          <p:nvPr/>
        </p:nvSpPr>
        <p:spPr>
          <a:xfrm>
            <a:off x="4114800" y="5596128"/>
            <a:ext cx="1280160" cy="256032"/>
          </a:xfrm>
          <a:prstGeom prst="rect">
            <a:avLst/>
          </a:prstGeom>
          <a:noFill/>
          <a:ln/>
        </p:spPr>
        <p:txBody>
          <a:bodyPr wrap="square" lIns="0" tIns="0" rIns="0" bIns="0" rtlCol="0" anchor="ctr"/>
          <a:lstStyle/>
          <a:p>
            <a:pPr indent="0" marL="0">
              <a:buNone/>
            </a:pPr>
            <a:r>
              <a:rPr lang="en-US" sz="1100" dirty="0">
                <a:solidFill>
                  <a:schemeClr val="accent2"/>
                </a:solidFill>
              </a:rPr>
              <a:t>200~299%</a:t>
            </a:r>
            <a:endParaRPr lang="en-US" sz="1100" dirty="0"/>
          </a:p>
        </p:txBody>
      </p:sp>
      <p:sp>
        <p:nvSpPr>
          <p:cNvPr id="11" name="Shape 8"/>
          <p:cNvSpPr/>
          <p:nvPr/>
        </p:nvSpPr>
        <p:spPr>
          <a:xfrm>
            <a:off x="5486400" y="5623560"/>
            <a:ext cx="201168" cy="201168"/>
          </a:xfrm>
          <a:prstGeom prst="rect">
            <a:avLst/>
          </a:prstGeom>
          <a:solidFill>
            <a:srgbClr val="FDE4DF"/>
          </a:solidFill>
          <a:ln w="6350">
            <a:solidFill>
              <a:srgbClr val="D1D6DB"/>
            </a:solidFill>
            <a:prstDash val="solid"/>
          </a:ln>
        </p:spPr>
      </p:sp>
      <p:sp>
        <p:nvSpPr>
          <p:cNvPr id="12" name="Text 9"/>
          <p:cNvSpPr txBox="1"/>
          <p:nvPr/>
        </p:nvSpPr>
        <p:spPr>
          <a:xfrm>
            <a:off x="5760720" y="5596128"/>
            <a:ext cx="1280160" cy="256032"/>
          </a:xfrm>
          <a:prstGeom prst="rect">
            <a:avLst/>
          </a:prstGeom>
          <a:noFill/>
          <a:ln/>
        </p:spPr>
        <p:txBody>
          <a:bodyPr wrap="square" lIns="0" tIns="0" rIns="0" bIns="0" rtlCol="0" anchor="ctr"/>
          <a:lstStyle/>
          <a:p>
            <a:pPr indent="0" marL="0">
              <a:buNone/>
            </a:pPr>
            <a:r>
              <a:rPr lang="en-US" sz="1100" dirty="0">
                <a:solidFill>
                  <a:schemeClr val="accent2"/>
                </a:solidFill>
              </a:rPr>
              <a:t>200% 미만</a:t>
            </a:r>
            <a:endParaRPr lang="en-US" sz="1100" dirty="0"/>
          </a:p>
        </p:txBody>
      </p:sp>
      <p:sp>
        <p:nvSpPr>
          <p:cNvPr id="13" name="Shape 10"/>
          <p:cNvSpPr/>
          <p:nvPr/>
        </p:nvSpPr>
        <p:spPr>
          <a:xfrm>
            <a:off x="7452360" y="1554480"/>
            <a:ext cx="4190695" cy="1280160"/>
          </a:xfrm>
          <a:prstGeom prst="roundRect">
            <a:avLst>
              <a:gd name="adj" fmla="val 8571"/>
            </a:avLst>
          </a:prstGeom>
          <a:solidFill>
            <a:schemeClr val="bg2"/>
          </a:solidFill>
          <a:ln/>
        </p:spPr>
      </p:sp>
      <p:sp>
        <p:nvSpPr>
          <p:cNvPr id="14" name="Text 11"/>
          <p:cNvSpPr txBox="1"/>
          <p:nvPr/>
        </p:nvSpPr>
        <p:spPr>
          <a:xfrm>
            <a:off x="7680960" y="1664208"/>
            <a:ext cx="3733495" cy="502920"/>
          </a:xfrm>
          <a:prstGeom prst="rect">
            <a:avLst/>
          </a:prstGeom>
          <a:noFill/>
          <a:ln/>
        </p:spPr>
        <p:txBody>
          <a:bodyPr wrap="square" lIns="0" tIns="0" rIns="0" bIns="0" rtlCol="0" anchor="ctr"/>
          <a:lstStyle/>
          <a:p>
            <a:pPr indent="0" marL="0">
              <a:buNone/>
            </a:pPr>
            <a:r>
              <a:rPr lang="en-US" sz="2600" b="1" dirty="0">
                <a:solidFill>
                  <a:schemeClr val="tx2"/>
                </a:solidFill>
              </a:rPr>
              <a:t>22%</a:t>
            </a:r>
            <a:endParaRPr lang="en-US" sz="2600" dirty="0"/>
          </a:p>
        </p:txBody>
      </p:sp>
      <p:sp>
        <p:nvSpPr>
          <p:cNvPr id="15" name="Text 12"/>
          <p:cNvSpPr txBox="1"/>
          <p:nvPr/>
        </p:nvSpPr>
        <p:spPr>
          <a:xfrm>
            <a:off x="7680960" y="2176272"/>
            <a:ext cx="3733495" cy="594360"/>
          </a:xfrm>
          <a:prstGeom prst="rect">
            <a:avLst/>
          </a:prstGeom>
          <a:noFill/>
          <a:ln/>
        </p:spPr>
        <p:txBody>
          <a:bodyPr wrap="square" lIns="0" tIns="0" rIns="0" bIns="0" rtlCol="0" anchor="t"/>
          <a:lstStyle/>
          <a:p>
            <a:pPr indent="0" marL="0">
              <a:buNone/>
            </a:pPr>
            <a:r>
              <a:rPr lang="en-US" sz="1200" dirty="0">
                <a:solidFill>
                  <a:schemeClr val="accent2"/>
                </a:solidFill>
              </a:rPr>
              <a:t>30대 남성 광고비 비중 (774만 원). ROAS 356~393%로 핵심 고객</a:t>
            </a:r>
            <a:endParaRPr lang="en-US" sz="1200" dirty="0"/>
          </a:p>
        </p:txBody>
      </p:sp>
      <p:sp>
        <p:nvSpPr>
          <p:cNvPr id="16" name="Shape 13"/>
          <p:cNvSpPr/>
          <p:nvPr/>
        </p:nvSpPr>
        <p:spPr>
          <a:xfrm>
            <a:off x="7452360" y="2971800"/>
            <a:ext cx="4190695" cy="1280160"/>
          </a:xfrm>
          <a:prstGeom prst="roundRect">
            <a:avLst>
              <a:gd name="adj" fmla="val 8571"/>
            </a:avLst>
          </a:prstGeom>
          <a:solidFill>
            <a:schemeClr val="bg2"/>
          </a:solidFill>
          <a:ln/>
        </p:spPr>
      </p:sp>
      <p:sp>
        <p:nvSpPr>
          <p:cNvPr id="17" name="Text 14"/>
          <p:cNvSpPr txBox="1"/>
          <p:nvPr/>
        </p:nvSpPr>
        <p:spPr>
          <a:xfrm>
            <a:off x="7680960" y="3081528"/>
            <a:ext cx="3733495" cy="502920"/>
          </a:xfrm>
          <a:prstGeom prst="rect">
            <a:avLst/>
          </a:prstGeom>
          <a:noFill/>
          <a:ln/>
        </p:spPr>
        <p:txBody>
          <a:bodyPr wrap="square" lIns="0" tIns="0" rIns="0" bIns="0" rtlCol="0" anchor="ctr"/>
          <a:lstStyle/>
          <a:p>
            <a:pPr indent="0" marL="0">
              <a:buNone/>
            </a:pPr>
            <a:r>
              <a:rPr lang="en-US" sz="2600" b="1" dirty="0">
                <a:solidFill>
                  <a:schemeClr val="tx2"/>
                </a:solidFill>
              </a:rPr>
              <a:t>426%</a:t>
            </a:r>
            <a:endParaRPr lang="en-US" sz="2600" dirty="0"/>
          </a:p>
        </p:txBody>
      </p:sp>
      <p:sp>
        <p:nvSpPr>
          <p:cNvPr id="18" name="Text 15"/>
          <p:cNvSpPr txBox="1"/>
          <p:nvPr/>
        </p:nvSpPr>
        <p:spPr>
          <a:xfrm>
            <a:off x="7680960" y="3593592"/>
            <a:ext cx="3733495" cy="594360"/>
          </a:xfrm>
          <a:prstGeom prst="rect">
            <a:avLst/>
          </a:prstGeom>
          <a:noFill/>
          <a:ln/>
        </p:spPr>
        <p:txBody>
          <a:bodyPr wrap="square" lIns="0" tIns="0" rIns="0" bIns="0" rtlCol="0" anchor="t"/>
          <a:lstStyle/>
          <a:p>
            <a:pPr indent="0" marL="0">
              <a:buNone/>
            </a:pPr>
            <a:r>
              <a:rPr lang="en-US" sz="1200" dirty="0">
                <a:solidFill>
                  <a:schemeClr val="accent2"/>
                </a:solidFill>
              </a:rPr>
              <a:t>45~49세 여성 ROAS. 그런데 효율이 가장 낮은 40~54세 캠페인(265%) 안에 섞여 있음</a:t>
            </a:r>
            <a:endParaRPr lang="en-US" sz="1200" dirty="0"/>
          </a:p>
        </p:txBody>
      </p:sp>
      <p:sp>
        <p:nvSpPr>
          <p:cNvPr id="19" name="Shape 16"/>
          <p:cNvSpPr/>
          <p:nvPr/>
        </p:nvSpPr>
        <p:spPr>
          <a:xfrm>
            <a:off x="7452360" y="4389120"/>
            <a:ext cx="4190695" cy="1280160"/>
          </a:xfrm>
          <a:prstGeom prst="roundRect">
            <a:avLst>
              <a:gd name="adj" fmla="val 8571"/>
            </a:avLst>
          </a:prstGeom>
          <a:solidFill>
            <a:schemeClr val="bg2"/>
          </a:solidFill>
          <a:ln/>
        </p:spPr>
      </p:sp>
      <p:sp>
        <p:nvSpPr>
          <p:cNvPr id="20" name="Text 17"/>
          <p:cNvSpPr txBox="1"/>
          <p:nvPr/>
        </p:nvSpPr>
        <p:spPr>
          <a:xfrm>
            <a:off x="7680960" y="4498848"/>
            <a:ext cx="3733495" cy="502920"/>
          </a:xfrm>
          <a:prstGeom prst="rect">
            <a:avLst/>
          </a:prstGeom>
          <a:noFill/>
          <a:ln/>
        </p:spPr>
        <p:txBody>
          <a:bodyPr wrap="square" lIns="0" tIns="0" rIns="0" bIns="0" rtlCol="0" anchor="ctr"/>
          <a:lstStyle/>
          <a:p>
            <a:pPr indent="0" marL="0">
              <a:buNone/>
            </a:pPr>
            <a:r>
              <a:rPr lang="en-US" sz="2600" b="1" dirty="0">
                <a:solidFill>
                  <a:schemeClr val="accent1"/>
                </a:solidFill>
              </a:rPr>
              <a:t>138%</a:t>
            </a:r>
            <a:endParaRPr lang="en-US" sz="2600" dirty="0"/>
          </a:p>
        </p:txBody>
      </p:sp>
      <p:sp>
        <p:nvSpPr>
          <p:cNvPr id="21" name="Text 18"/>
          <p:cNvSpPr txBox="1"/>
          <p:nvPr/>
        </p:nvSpPr>
        <p:spPr>
          <a:xfrm>
            <a:off x="7680960" y="5010912"/>
            <a:ext cx="3733495" cy="594360"/>
          </a:xfrm>
          <a:prstGeom prst="rect">
            <a:avLst/>
          </a:prstGeom>
          <a:noFill/>
          <a:ln/>
        </p:spPr>
        <p:txBody>
          <a:bodyPr wrap="square" lIns="0" tIns="0" rIns="0" bIns="0" rtlCol="0" anchor="t"/>
          <a:lstStyle/>
          <a:p>
            <a:pPr indent="0" marL="0">
              <a:buNone/>
            </a:pPr>
            <a:r>
              <a:rPr lang="en-US" sz="1200" dirty="0">
                <a:solidFill>
                  <a:schemeClr val="accent2"/>
                </a:solidFill>
              </a:rPr>
              <a:t>연령 알 수 없음 323만 원(GFA 광고비의 9%). 19세 미만 57만 원은 ROAS 143%</a:t>
            </a:r>
            <a:endParaRPr lang="en-US" sz="1200" dirty="0"/>
          </a:p>
        </p:txBody>
      </p:sp>
      <p:sp>
        <p:nvSpPr>
          <p:cNvPr id="22" name="Text 19"/>
          <p:cNvSpPr txBox="1"/>
          <p:nvPr/>
        </p:nvSpPr>
        <p:spPr>
          <a:xfrm>
            <a:off x="7452360" y="5760720"/>
            <a:ext cx="4190695" cy="457200"/>
          </a:xfrm>
          <a:prstGeom prst="rect">
            <a:avLst/>
          </a:prstGeom>
          <a:noFill/>
          <a:ln/>
        </p:spPr>
        <p:txBody>
          <a:bodyPr wrap="square" lIns="0" tIns="0" rIns="0" bIns="0" rtlCol="0" anchor="t"/>
          <a:lstStyle/>
          <a:p>
            <a:pPr indent="0" marL="0">
              <a:buNone/>
            </a:pPr>
            <a:r>
              <a:rPr lang="en-US" sz="1000" dirty="0">
                <a:solidFill>
                  <a:schemeClr val="accent3"/>
                </a:solidFill>
              </a:rPr>
              <a:t>GFA 전체 3,513만 원, ROAS 294% (ADVoost + 수동, 2026.07~09, 구매완료 기준). 성별 알 수 없음은 소액이라 표에서 뺐습니다</a:t>
            </a:r>
            <a:endParaRPr lang="en-US" sz="1000" dirty="0"/>
          </a:p>
        </p:txBody>
      </p:sp>
      <p:sp>
        <p:nvSpPr>
          <p:cNvPr id="25" name="Slide Number Placeholder 0"/>
          <p:cNvSpPr>
            <a:spLocks noGrp="1"/>
          </p:cNvSpPr>
          <p:nvPr>
            <p:ph type="sldNum" sz="quarter" idx="4294967295"/>
          </p:nvPr>
        </p:nvSpPr>
        <p:spPr>
          <a:xfrm>
            <a:off x="9966960" y="6382512"/>
            <a:ext cx="365760" cy="18288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1188720" y="2377440"/>
            <a:ext cx="9784080" cy="822960"/>
          </a:xfrm>
          <a:prstGeom prst="rect">
            <a:avLst/>
          </a:prstGeom>
          <a:noFill/>
          <a:ln/>
        </p:spPr>
        <p:txBody>
          <a:bodyPr wrap="square" lIns="0" tIns="0" rIns="0" bIns="0" rtlCol="0" anchor="ctr"/>
          <a:lstStyle/>
          <a:p>
            <a:pPr algn="ctr" indent="0" marL="0">
              <a:buNone/>
            </a:pPr>
            <a:r>
              <a:rPr lang="en-US" sz="4400" b="1" dirty="0">
                <a:solidFill>
                  <a:schemeClr val="bg1"/>
                </a:solidFill>
              </a:rPr>
              <a:t>THANK YOU</a:t>
            </a:r>
            <a:endParaRPr lang="en-US" sz="4400" dirty="0"/>
          </a:p>
        </p:txBody>
      </p:sp>
      <p:sp>
        <p:nvSpPr>
          <p:cNvPr id="3" name="Text 1"/>
          <p:cNvSpPr txBox="1"/>
          <p:nvPr/>
        </p:nvSpPr>
        <p:spPr>
          <a:xfrm>
            <a:off x="1188720" y="3200400"/>
            <a:ext cx="9784080" cy="365760"/>
          </a:xfrm>
          <a:prstGeom prst="rect">
            <a:avLst/>
          </a:prstGeom>
          <a:noFill/>
          <a:ln/>
        </p:spPr>
        <p:txBody>
          <a:bodyPr wrap="square" lIns="0" tIns="0" rIns="0" bIns="0" rtlCol="0" anchor="t"/>
          <a:lstStyle/>
          <a:p>
            <a:pPr algn="ctr" indent="0" marL="0">
              <a:buNone/>
            </a:pPr>
            <a:r>
              <a:rPr lang="en-US" sz="1400" dirty="0">
                <a:solidFill>
                  <a:schemeClr val="bg1"/>
                </a:solidFill>
              </a:rPr>
              <a:t>언제나 최상의 퍼포먼스로 클라이언트의 성장이라는 목표를 함께 하겠습니다.</a:t>
            </a:r>
            <a:endParaRPr lang="en-US" sz="1400" dirty="0"/>
          </a:p>
        </p:txBody>
      </p:sp>
    </p:spTree>
  </p:cSld>
  <p:clrMapOvr>
    <a:masterClrMapping/>
  </p:clrMapOvr>
</p:sld>
</file>

<file path=ppt/theme/theme1.xml><?xml version="1.0" encoding="utf-8"?>
<a:theme xmlns:a="http://schemas.openxmlformats.org/drawingml/2006/main" name="NICECORE Diagnosis">
  <a:themeElements>
    <a:clrScheme name="NICECORE Diagnosis">
      <a:dk1>
        <a:srgbClr val="191F28"/>
      </a:dk1>
      <a:lt1>
        <a:srgbClr val="FFFFFF"/>
      </a:lt1>
      <a:dk2>
        <a:srgbClr val="100442"/>
      </a:dk2>
      <a:lt2>
        <a:srgbClr val="F2F4F6"/>
      </a:lt2>
      <a:accent1>
        <a:srgbClr val="F13518"/>
      </a:accent1>
      <a:accent2>
        <a:srgbClr val="4E5968"/>
      </a:accent2>
      <a:accent3>
        <a:srgbClr val="8B95A1"/>
      </a:accent3>
      <a:accent4>
        <a:srgbClr val="03B26C"/>
      </a:accent4>
      <a:accent5>
        <a:srgbClr val="F08A00"/>
      </a:accent5>
      <a:accent6>
        <a:srgbClr val="6F7D97"/>
      </a:accent6>
      <a:hlink>
        <a:srgbClr val="3182F6"/>
      </a:hlink>
      <a:folHlink>
        <a:srgbClr val="6F7D97"/>
      </a:folHlink>
    </a:clrScheme>
    <a:fontScheme name="NICECORE Diagnosis">
      <a:majorFont>
        <a:latin typeface="SU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U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NICECORE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브레이브컴퍼니 네이버 광고 개선 방향</dc:title>
  <dc:subject>PptxGenJS Presentation</dc:subject>
  <dc:creator>NICECORE 퍼포먼스마케팅팀</dc:creator>
  <cp:lastModifiedBy>NICECORE 퍼포먼스마케팅팀</cp:lastModifiedBy>
  <cp:revision>1</cp:revision>
  <dcterms:created xsi:type="dcterms:W3CDTF">2026-10-12T01:01:26Z</dcterms:created>
  <dcterms:modified xsi:type="dcterms:W3CDTF">2026-10-12T01:01:26Z</dcterms:modified>
</cp:coreProperties>
</file>