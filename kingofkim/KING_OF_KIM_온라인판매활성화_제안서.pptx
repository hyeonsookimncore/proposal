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118eeb97-86b9-5450-f062-fec93e1de729}">
          <p14:sldIdLst>
            <p14:sldId id="256"/>
          </p14:sldIdLst>
        </p14:section>
        <p14:section name="제안 개요" id="{b3e62b79-c20a-e311-6c8c-b2c14c2e2a3b}">
          <p14:sldIdLst>
            <p14:sldId id="257"/>
            <p14:sldId id="258"/>
          </p14:sldIdLst>
        </p14:section>
        <p14:section name="현황 진단" id="{32454461-220d-7508-db80-5d90d7211ac8}">
          <p14:sldIdLst>
            <p14:sldId id="259"/>
            <p14:sldId id="260"/>
            <p14:sldId id="261"/>
          </p14:sldIdLst>
        </p14:section>
        <p14:section name="전략" id="{c2f67ae3-a483-218f-28bf-cc077ae3c415}">
          <p14:sldIdLst>
            <p14:sldId id="262"/>
            <p14:sldId id="263"/>
            <p14:sldId id="264"/>
            <p14:sldId id="265"/>
          </p14:sldIdLst>
        </p14:section>
        <p14:section name="실행 계획" id="{95fe5a25-c7b9-9fe8-e497-848bbe59ecb5}">
          <p14:sldIdLst>
            <p14:sldId id="266"/>
            <p14:sldId id="267"/>
            <p14:sldId id="268"/>
            <p14:sldId id="269"/>
          </p14:sldIdLst>
        </p14:section>
        <p14:section name="기대 효과" id="{abf60e84-c25c-f84e-b6a5-45ea40b8b701}">
          <p14:sldIdLst>
            <p14:sldId id="270"/>
          </p14:sldIdLst>
        </p14:section>
        <p14:section name="부록" id="{59c032e5-a326-e812-be9c-8affd15a670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91F28"/>
                </a:solidFill>
                <a:latin typeface="+mn-lt"/>
              </a:defRPr>
            </a:pPr>
            <a:r>
              <a:rPr sz="1500" b="1" i="0" u="none" strike="noStrike">
                <a:solidFill>
                  <a:srgbClr val="191F28"/>
                </a:solidFill>
                <a:latin typeface="+mn-lt"/>
              </a:rPr>
              <a:t>온라인 월 매출 구성 (만 원)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온라인 월 매출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182F6"/>
              </a:solidFill>
              <a:ln w="25400" cap="flat">
                <a:solidFill>
                  <a:srgbClr val="F2F4F6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0D4FF"/>
              </a:solidFill>
              <a:ln w="25400" cap="flat">
                <a:solidFill>
                  <a:srgbClr val="F2F4F6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91F28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191F28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네이버 스마트스토어</c:v>
                </c:pt>
                <c:pt idx="1">
                  <c:v>쿠팡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200</c:v>
                </c:pt>
                <c:pt idx="1">
                  <c:v>100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4E59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1" i="0" u="none" strike="noStrike">
                <a:solidFill>
                  <a:srgbClr val="191F28"/>
                </a:solidFill>
                <a:latin typeface="+mn-lt"/>
              </a:defRPr>
            </a:pPr>
            <a:r>
              <a:rPr sz="1500" b="1" i="0" u="none" strike="noStrike">
                <a:solidFill>
                  <a:srgbClr val="191F28"/>
                </a:solidFill>
                <a:latin typeface="+mn-lt"/>
              </a:rPr>
              <a:t>월별 광고비 (만 원, 네이버 + 쿠팡)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A안</c:v>
                </c:pt>
              </c:strCache>
            </c:strRef>
          </c:tx>
          <c:spPr>
            <a:solidFill>
              <a:srgbClr val="B0D4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1개월</c:v>
                  </c:pt>
                  <c:pt idx="1">
                    <c:v>2개월</c:v>
                  </c:pt>
                  <c:pt idx="2">
                    <c:v>3개월</c:v>
                  </c:pt>
                  <c:pt idx="3">
                    <c:v>4개월</c:v>
                  </c:pt>
                  <c:pt idx="4">
                    <c:v>5개월</c:v>
                  </c:pt>
                  <c:pt idx="5">
                    <c:v>6개월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B안 (권장)</c:v>
                </c:pt>
              </c:strCache>
            </c:strRef>
          </c:tx>
          <c:spPr>
            <a:solidFill>
              <a:srgbClr val="31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1개월</c:v>
                  </c:pt>
                  <c:pt idx="1">
                    <c:v>2개월</c:v>
                  </c:pt>
                  <c:pt idx="2">
                    <c:v>3개월</c:v>
                  </c:pt>
                  <c:pt idx="3">
                    <c:v>4개월</c:v>
                  </c:pt>
                  <c:pt idx="4">
                    <c:v>5개월</c:v>
                  </c:pt>
                  <c:pt idx="5">
                    <c:v>6개월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200</c:v>
                </c:pt>
                <c:pt idx="1">
                  <c:v>300</c:v>
                </c:pt>
                <c:pt idx="2">
                  <c:v>450</c:v>
                </c:pt>
                <c:pt idx="3">
                  <c:v>600</c:v>
                </c:pt>
                <c:pt idx="4">
                  <c:v>750</c:v>
                </c:pt>
                <c:pt idx="5">
                  <c:v>750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C안</c:v>
                </c:pt>
              </c:strCache>
            </c:strRef>
          </c:tx>
          <c:spPr>
            <a:solidFill>
              <a:srgbClr val="1B64D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1개월</c:v>
                  </c:pt>
                  <c:pt idx="1">
                    <c:v>2개월</c:v>
                  </c:pt>
                  <c:pt idx="2">
                    <c:v>3개월</c:v>
                  </c:pt>
                  <c:pt idx="3">
                    <c:v>4개월</c:v>
                  </c:pt>
                  <c:pt idx="4">
                    <c:v>5개월</c:v>
                  </c:pt>
                  <c:pt idx="5">
                    <c:v>6개월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250</c:v>
                </c:pt>
                <c:pt idx="1">
                  <c:v>400</c:v>
                </c:pt>
                <c:pt idx="2">
                  <c:v>600</c:v>
                </c:pt>
                <c:pt idx="3">
                  <c:v>800</c:v>
                </c:pt>
                <c:pt idx="4">
                  <c:v>1000</c:v>
                </c:pt>
                <c:pt idx="5">
                  <c:v>1000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8E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E59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9525" cap="flat">
              <a:solidFill>
                <a:srgbClr val="E5E8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B95A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4E59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RFP 중 온라인 판매 활성화(6.5)와 검색광고 기반 인지도 확대(6.4 일부)에 집중한 범위 제안임을 먼저 밝힙니다.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매출 규모에서 예산을 여러 채널로 나누면 어느 채널에서도 검증 가능한 성과가 나오기 어렵다는 점을 먼저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질문 11번(직접 운영 가능 범위) 대응: 온라인은 직접 운영, 조사·오프라인·유통 영업은 범위 외임을 명확히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매출 수치는 광고주 통화 확인 기준(네이버 월 200만 원, 쿠팡 월 100만 원).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ym-kr.com 자사몰 확인 기준.
근거: 사이트 타이틀 '양명 킹오브김 ( 해풀잎 )' / KING OF KIM 도시락김 36봉 22,400원, 72봉 31,400원, 김자반 50g×5봉 18,600원 / 선물세트 사랑둥이 C1호 53,000원 ~ 효자둥이 특품 168,000원 / 첫 쇼핑 3,000원 할인 회원가입 쿠폰 배너 / 메타(페이스북) 픽셀 설치 확인 / 하단 SNS 링크가 instagram.com, youtube.com 등 메인 주소로만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질문 1·2번 대응. 인지도 부족을 단정하지 않고 노출·전환·가격 중 어디서 막히는지 데이터로 구분합니다.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질문 3·4·5번 대응: 브랜드 변경 없이 인지도 확대, 최초 구매 유도, 재구매 전환.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질문 6번 대응: 스마트스토어·쿠팡 판매량 증대 방법.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체험단 운영비는 별도 견적. 제품은 광고주 제공 조건.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기간을 2026년 11월~2027년 4월로 가정. 설 연휴는 2027년 2월 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1~3개월차는 리뷰를 쌓는 투자 구간이라 ROAS는 참고치. 4개월차부터 목표 ROAS 300% 적용. ROAS = 광고 매출 ÷ 광고비(수수료 제외).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질문 10번 대응. 매체별 상세 배분은 부록 참조. 컨설팅·조사·오프라인 비용은 범위 외로 해당 없음.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C안 6개월차 월 광고 매출 3,000만 원은 현재 온라인 매출의 약 10배로 공격적인 목표. 3개월차 점검 결과에 따라 옵션 간 이동 가능함을 함께 설명.
계산: 광고 매출 = 월 광고비 × 해당 월 ROAS. 평균 ROAS = 6개월 광고 매출 합계 ÷ 6개월 광고비 합계 (A 5,250÷2,050, B 7,850÷3,050, C 10,450÷4,050, 반올림).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KPI는 온라인 지표로 한정. 오프라인 판매·신규 입점·조달 매출은 범위 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PT 질문 7·8번 대응: 오프라인 입점 확대의 근거를 온라인 판매 실적으로 먼저 만든다는 논리.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월의 세 매체 합 = 해당 옵션 월 광고비. 쿠팡 수수료 = 쿠팡 광고 합계 × 0.15 (A 690×0.15=103.5, B 1,020×0.15=153, C 1,340×0.15=201).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proposal/4d3e0b65-993e-5bc6-8770-611c2df0debc/scratchpad/build/cover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proposal/4d3e0b65-993e-5bc6-8770-611c2df0debc/scratchpad/build/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6172200"/>
            <a:ext cx="1554480" cy="2286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914400" y="2103120"/>
            <a:ext cx="91440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NICECORE | KING OF KIM 온라인 판매 활성화 제안</a:t>
            </a:r>
            <a:endParaRPr lang="en-US" sz="1000" dirty="0"/>
          </a:p>
        </p:txBody>
      </p:sp>
      <p:pic>
        <p:nvPicPr>
          <p:cNvPr id="5" name="Image 0" descr="/tmp/claude-0/-home-user-proposal/4d3e0b65-993e-5bc6-8770-611c2df0debc/scratchpad/build/logo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6728" y="6446520"/>
            <a:ext cx="1248156" cy="182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91440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accent4"/>
                </a:solidFill>
              </a:rPr>
              <a:t>제안서 · 2026.10</a:t>
            </a:r>
            <a:endParaRPr lang="en-US" sz="16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914400" y="210312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KING OF KIM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온라인 판매 활성화 6개월 Pilot</a:t>
            </a:r>
            <a:endParaRPr lang="en-US" sz="4400" dirty="0"/>
          </a:p>
        </p:txBody>
      </p:sp>
      <p:sp>
        <p:nvSpPr>
          <p:cNvPr id="4" name="text-2"/>
          <p:cNvSpPr txBox="1"/>
          <p:nvPr/>
        </p:nvSpPr>
        <p:spPr>
          <a:xfrm>
            <a:off x="914400" y="38862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네이버 스마트스토어 · 쿠팡 퍼포먼스 마케팅 및 리뷰 기반 구축</a:t>
            </a:r>
            <a:endParaRPr lang="en-US" sz="2000" dirty="0"/>
          </a:p>
        </p:txBody>
      </p:sp>
      <p:sp>
        <p:nvSpPr>
          <p:cNvPr id="5" name="text-3"/>
          <p:cNvSpPr txBox="1"/>
          <p:nvPr/>
        </p:nvSpPr>
        <p:spPr>
          <a:xfrm>
            <a:off x="914400" y="6126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주식회사 양명 귀중 | NICECORE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01 제안 요약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6개월 동안 온라인에서 "팔리는 증거"를 만듭니다</a:t>
            </a:r>
            <a:endParaRPr lang="en-US" sz="2800" dirty="0"/>
          </a:p>
        </p:txBody>
      </p:sp>
      <p:sp>
        <p:nvSpPr>
          <p:cNvPr id="4" name="card-4"/>
          <p:cNvSpPr/>
          <p:nvPr/>
        </p:nvSpPr>
        <p:spPr>
          <a:xfrm>
            <a:off x="54864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5" name="text-5"/>
          <p:cNvSpPr txBox="1"/>
          <p:nvPr/>
        </p:nvSpPr>
        <p:spPr>
          <a:xfrm>
            <a:off x="86868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월 300만 원</a:t>
            </a:r>
            <a:endParaRPr lang="en-US" sz="3600" dirty="0"/>
          </a:p>
        </p:txBody>
      </p:sp>
      <p:sp>
        <p:nvSpPr>
          <p:cNvPr id="6" name="text-6"/>
          <p:cNvSpPr txBox="1"/>
          <p:nvPr/>
        </p:nvSpPr>
        <p:spPr>
          <a:xfrm>
            <a:off x="868680" y="25328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현재 월 온라인 매출</a:t>
            </a:r>
            <a:endParaRPr lang="en-US" sz="1400" dirty="0"/>
          </a:p>
        </p:txBody>
      </p:sp>
      <p:sp>
        <p:nvSpPr>
          <p:cNvPr id="7" name="card-7"/>
          <p:cNvSpPr/>
          <p:nvPr/>
        </p:nvSpPr>
        <p:spPr>
          <a:xfrm>
            <a:off x="434340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8" name="text-8"/>
          <p:cNvSpPr txBox="1"/>
          <p:nvPr/>
        </p:nvSpPr>
        <p:spPr>
          <a:xfrm>
            <a:off x="466344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17개</a:t>
            </a:r>
            <a:endParaRPr lang="en-US" sz="3600" dirty="0"/>
          </a:p>
        </p:txBody>
      </p:sp>
      <p:sp>
        <p:nvSpPr>
          <p:cNvPr id="9" name="text-9"/>
          <p:cNvSpPr txBox="1"/>
          <p:nvPr/>
        </p:nvSpPr>
        <p:spPr>
          <a:xfrm>
            <a:off x="4663440" y="25328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스마트스토어 상품당 최대 리뷰 수</a:t>
            </a:r>
            <a:endParaRPr lang="en-US" sz="1400" dirty="0"/>
          </a:p>
        </p:txBody>
      </p:sp>
      <p:sp>
        <p:nvSpPr>
          <p:cNvPr id="10" name="card-10"/>
          <p:cNvSpPr/>
          <p:nvPr/>
        </p:nvSpPr>
        <p:spPr>
          <a:xfrm>
            <a:off x="8138160" y="1691640"/>
            <a:ext cx="35204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1" name="text-11"/>
          <p:cNvSpPr txBox="1"/>
          <p:nvPr/>
        </p:nvSpPr>
        <p:spPr>
          <a:xfrm>
            <a:off x="845820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300%</a:t>
            </a:r>
            <a:endParaRPr lang="en-US" sz="3600" dirty="0"/>
          </a:p>
        </p:txBody>
      </p:sp>
      <p:sp>
        <p:nvSpPr>
          <p:cNvPr id="12" name="text-12"/>
          <p:cNvSpPr txBox="1"/>
          <p:nvPr/>
        </p:nvSpPr>
        <p:spPr>
          <a:xfrm>
            <a:off x="8458200" y="253288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4개월차 이후 목표 ROAS</a:t>
            </a:r>
            <a:endParaRPr lang="en-US" sz="1400" dirty="0"/>
          </a:p>
        </p:txBody>
      </p:sp>
      <p:sp>
        <p:nvSpPr>
          <p:cNvPr id="13" name="card-13"/>
          <p:cNvSpPr/>
          <p:nvPr/>
        </p:nvSpPr>
        <p:spPr>
          <a:xfrm>
            <a:off x="548640" y="32918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4" name="badge-14"/>
          <p:cNvSpPr/>
          <p:nvPr/>
        </p:nvSpPr>
        <p:spPr>
          <a:xfrm>
            <a:off x="82296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badge-text-14"/>
          <p:cNvSpPr txBox="1"/>
          <p:nvPr/>
        </p:nvSpPr>
        <p:spPr>
          <a:xfrm>
            <a:off x="82296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-15"/>
          <p:cNvSpPr txBox="1"/>
          <p:nvPr/>
        </p:nvSpPr>
        <p:spPr>
          <a:xfrm>
            <a:off x="141732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리뷰 확보</a:t>
            </a:r>
            <a:endParaRPr lang="en-US" sz="1900" dirty="0"/>
          </a:p>
        </p:txBody>
      </p:sp>
      <p:sp>
        <p:nvSpPr>
          <p:cNvPr id="17" name="text-16"/>
          <p:cNvSpPr txBox="1"/>
          <p:nvPr/>
        </p:nvSpPr>
        <p:spPr>
          <a:xfrm>
            <a:off x="822960" y="4206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1~2개월차 체험단 집중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광고는 최소 수준으로 테스트</a:t>
            </a:r>
            <a:endParaRPr lang="en-US" sz="1400" dirty="0"/>
          </a:p>
        </p:txBody>
      </p:sp>
      <p:sp>
        <p:nvSpPr>
          <p:cNvPr id="18" name="card-17"/>
          <p:cNvSpPr/>
          <p:nvPr/>
        </p:nvSpPr>
        <p:spPr>
          <a:xfrm>
            <a:off x="4343400" y="32918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9" name="badge-18"/>
          <p:cNvSpPr/>
          <p:nvPr/>
        </p:nvSpPr>
        <p:spPr>
          <a:xfrm>
            <a:off x="461772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badge-text-18"/>
          <p:cNvSpPr txBox="1"/>
          <p:nvPr/>
        </p:nvSpPr>
        <p:spPr>
          <a:xfrm>
            <a:off x="46177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-19"/>
          <p:cNvSpPr txBox="1"/>
          <p:nvPr/>
        </p:nvSpPr>
        <p:spPr>
          <a:xfrm>
            <a:off x="521208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구매 전환</a:t>
            </a:r>
            <a:endParaRPr lang="en-US" sz="1900" dirty="0"/>
          </a:p>
        </p:txBody>
      </p:sp>
      <p:sp>
        <p:nvSpPr>
          <p:cNvPr id="22" name="text-20"/>
          <p:cNvSpPr txBox="1"/>
          <p:nvPr/>
        </p:nvSpPr>
        <p:spPr>
          <a:xfrm>
            <a:off x="4617720" y="4206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3개월차부터 네이버 쇼핑검색·쿠팡 광고로 구매 확대</a:t>
            </a:r>
            <a:endParaRPr lang="en-US" sz="1400" dirty="0"/>
          </a:p>
        </p:txBody>
      </p:sp>
      <p:sp>
        <p:nvSpPr>
          <p:cNvPr id="23" name="card-21"/>
          <p:cNvSpPr/>
          <p:nvPr/>
        </p:nvSpPr>
        <p:spPr>
          <a:xfrm>
            <a:off x="8138160" y="3291840"/>
            <a:ext cx="352044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24" name="badge-22"/>
          <p:cNvSpPr/>
          <p:nvPr/>
        </p:nvSpPr>
        <p:spPr>
          <a:xfrm>
            <a:off x="841248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badge-text-22"/>
          <p:cNvSpPr txBox="1"/>
          <p:nvPr/>
        </p:nvSpPr>
        <p:spPr>
          <a:xfrm>
            <a:off x="8412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6" name="text-23"/>
          <p:cNvSpPr txBox="1"/>
          <p:nvPr/>
        </p:nvSpPr>
        <p:spPr>
          <a:xfrm>
            <a:off x="9006840" y="35661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chemeClr val="tx1"/>
                </a:solidFill>
              </a:rPr>
              <a:t>단계 증액</a:t>
            </a:r>
            <a:endParaRPr lang="en-US" sz="1900" dirty="0"/>
          </a:p>
        </p:txBody>
      </p:sp>
      <p:sp>
        <p:nvSpPr>
          <p:cNvPr id="27" name="text-24"/>
          <p:cNvSpPr txBox="1"/>
          <p:nvPr/>
        </p:nvSpPr>
        <p:spPr>
          <a:xfrm>
            <a:off x="8412480" y="4206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목표 ROAS 달성 시에만 다음 단계로 광고비 증액</a:t>
            </a:r>
            <a:endParaRPr lang="en-US" sz="1400" dirty="0"/>
          </a:p>
        </p:txBody>
      </p:sp>
      <p:sp>
        <p:nvSpPr>
          <p:cNvPr id="28" name="card-25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29" name="text-26"/>
          <p:cNvSpPr txBox="1"/>
          <p:nvPr/>
        </p:nvSpPr>
        <p:spPr>
          <a:xfrm>
            <a:off x="868680" y="525780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accent2"/>
                </a:solidFill>
              </a:rPr>
              <a:t>6개월 성과(판매량 · 리뷰 · 검색량)는 유통 MD 제안과 조달 홍보에 쓸 수 있는 성과 자료로 정리해 드립니다.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 제안 범위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예산이 성과로 이어지는 온라인 과업에 집중합니다</a:t>
            </a:r>
            <a:endParaRPr lang="en-US" sz="2800" dirty="0"/>
          </a:p>
        </p:txBody>
      </p:sp>
      <p:sp>
        <p:nvSpPr>
          <p:cNvPr id="4" name="card-27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accent3"/>
          </a:solidFill>
          <a:ln/>
        </p:spPr>
      </p:sp>
      <p:sp>
        <p:nvSpPr>
          <p:cNvPr id="5" name="text-28"/>
          <p:cNvSpPr txBox="1"/>
          <p:nvPr/>
        </p:nvSpPr>
        <p:spPr>
          <a:xfrm>
            <a:off x="868680" y="2011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직접 수행</a:t>
            </a:r>
            <a:endParaRPr lang="en-US" sz="2200" dirty="0"/>
          </a:p>
        </p:txBody>
      </p:sp>
      <p:sp>
        <p:nvSpPr>
          <p:cNvPr id="6" name="text-29"/>
          <p:cNvSpPr txBox="1"/>
          <p:nvPr/>
        </p:nvSpPr>
        <p:spPr>
          <a:xfrm>
            <a:off x="868680" y="2468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NICECORE</a:t>
            </a:r>
            <a:endParaRPr lang="en-US" sz="1400" dirty="0"/>
          </a:p>
        </p:txBody>
      </p:sp>
      <p:sp>
        <p:nvSpPr>
          <p:cNvPr id="7" name="text-30"/>
          <p:cNvSpPr txBox="1"/>
          <p:nvPr/>
        </p:nvSpPr>
        <p:spPr>
          <a:xfrm>
            <a:off x="868680" y="29718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네이버 쇼핑검색 · 파워링크 운영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쿠팡 광고 운영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체험단 기획 · 운영 (제품은 양명 제공)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운영 데이터 진단 · 월간 리포트 · 예산 재배분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6개월 성과 자료 정리 (MD · 조달 제안용)</a:t>
            </a:r>
            <a:endParaRPr lang="en-US" sz="1400" dirty="0"/>
          </a:p>
        </p:txBody>
      </p:sp>
      <p:sp>
        <p:nvSpPr>
          <p:cNvPr id="8" name="card-31"/>
          <p:cNvSpPr/>
          <p:nvPr/>
        </p:nvSpPr>
        <p:spPr>
          <a:xfrm>
            <a:off x="434340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9" name="text-32"/>
          <p:cNvSpPr txBox="1"/>
          <p:nvPr/>
        </p:nvSpPr>
        <p:spPr>
          <a:xfrm>
            <a:off x="4663440" y="2011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별도 견적</a:t>
            </a:r>
            <a:endParaRPr lang="en-US" sz="2200" dirty="0"/>
          </a:p>
        </p:txBody>
      </p:sp>
      <p:sp>
        <p:nvSpPr>
          <p:cNvPr id="10" name="text-33"/>
          <p:cNvSpPr txBox="1"/>
          <p:nvPr/>
        </p:nvSpPr>
        <p:spPr>
          <a:xfrm>
            <a:off x="4663440" y="2468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선택 시 협의</a:t>
            </a:r>
            <a:endParaRPr lang="en-US" sz="1400" dirty="0"/>
          </a:p>
        </p:txBody>
      </p:sp>
      <p:sp>
        <p:nvSpPr>
          <p:cNvPr id="11" name="text-34"/>
          <p:cNvSpPr txBox="1"/>
          <p:nvPr/>
        </p:nvSpPr>
        <p:spPr>
          <a:xfrm>
            <a:off x="4663440" y="29718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상세페이지 개선</a:t>
            </a:r>
            <a:endParaRPr lang="en-US" sz="1400" dirty="0"/>
          </a:p>
        </p:txBody>
      </p:sp>
      <p:sp>
        <p:nvSpPr>
          <p:cNvPr id="12" name="card-35"/>
          <p:cNvSpPr/>
          <p:nvPr/>
        </p:nvSpPr>
        <p:spPr>
          <a:xfrm>
            <a:off x="813816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3" name="text-36"/>
          <p:cNvSpPr txBox="1"/>
          <p:nvPr/>
        </p:nvSpPr>
        <p:spPr>
          <a:xfrm>
            <a:off x="8458200" y="20116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tx1"/>
                </a:solidFill>
              </a:rPr>
              <a:t>범위 외</a:t>
            </a:r>
            <a:endParaRPr lang="en-US" sz="2200" dirty="0"/>
          </a:p>
        </p:txBody>
      </p:sp>
      <p:sp>
        <p:nvSpPr>
          <p:cNvPr id="14" name="text-37"/>
          <p:cNvSpPr txBox="1"/>
          <p:nvPr/>
        </p:nvSpPr>
        <p:spPr>
          <a:xfrm>
            <a:off x="8458200" y="2468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전문 업체 또는 양명</a:t>
            </a:r>
            <a:endParaRPr lang="en-US" sz="1400" dirty="0"/>
          </a:p>
        </p:txBody>
      </p:sp>
      <p:sp>
        <p:nvSpPr>
          <p:cNvPr id="15" name="text-38"/>
          <p:cNvSpPr txBox="1"/>
          <p:nvPr/>
        </p:nvSpPr>
        <p:spPr>
          <a:xfrm>
            <a:off x="8458200" y="29718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소비자 조사(설문 · FGI)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→ 리서치 전문사</a:t>
            </a:r>
            <a:endParaRPr lang="en-US" sz="14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시식 · POP · 오프라인 광고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→ 홍보 · 오프라인 대행사</a:t>
            </a:r>
            <a:endParaRPr lang="en-US" sz="1400" dirty="0"/>
          </a:p>
          <a:p>
            <a:pPr marL="177800" indent="-1778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유통 MD 영업 · 조달청 영업</a:t>
            </a:r>
            <a:endParaRPr lang="en-US" sz="1400" dirty="0"/>
          </a:p>
          <a:p>
            <a:pPr lvl="1"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→ 양명 직접</a:t>
            </a:r>
            <a:endParaRPr lang="en-US" sz="1400" dirty="0"/>
          </a:p>
        </p:txBody>
      </p:sp>
      <p:sp>
        <p:nvSpPr>
          <p:cNvPr id="16" name="text-39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RFP 8항 "예산 수준별 우선순위 및 제외 항목 제시" 기준에 따라 범위를 정의했습니다.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 현황 진단 ① 매출과 리뷰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리뷰 부족이 광고 효율을 막는 구조입니다</a:t>
            </a:r>
            <a:endParaRPr lang="en-US" sz="2800" dirty="0"/>
          </a:p>
        </p:txBody>
      </p:sp>
      <p:sp>
        <p:nvSpPr>
          <p:cNvPr id="4" name="card-40"/>
          <p:cNvSpPr/>
          <p:nvPr/>
        </p:nvSpPr>
        <p:spPr>
          <a:xfrm>
            <a:off x="548640" y="1691640"/>
            <a:ext cx="5029200" cy="4160520"/>
          </a:xfrm>
          <a:prstGeom prst="roundRect">
            <a:avLst>
              <a:gd name="adj" fmla="val 2637"/>
            </a:avLst>
          </a:prstGeom>
          <a:solidFill>
            <a:schemeClr val="bg2"/>
          </a:solidFill>
          <a:ln/>
        </p:spPr>
      </p:sp>
      <p:graphicFrame>
        <p:nvGraphicFramePr>
          <p:cNvPr id="5" name="chart-sales-mix" descr=""/>
          <p:cNvGraphicFramePr/>
          <p:nvPr/>
        </p:nvGraphicFramePr>
        <p:xfrm>
          <a:off x="731520" y="1828800"/>
          <a:ext cx="466344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41"/>
          <p:cNvSpPr/>
          <p:nvPr/>
        </p:nvSpPr>
        <p:spPr>
          <a:xfrm>
            <a:off x="5852160" y="1691640"/>
            <a:ext cx="5790895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7" name="text-42"/>
          <p:cNvSpPr txBox="1"/>
          <p:nvPr/>
        </p:nvSpPr>
        <p:spPr>
          <a:xfrm>
            <a:off x="6217920" y="19202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chemeClr val="accent1"/>
                </a:solidFill>
              </a:rPr>
              <a:t>17개</a:t>
            </a:r>
            <a:endParaRPr lang="en-US" sz="4800" dirty="0"/>
          </a:p>
        </p:txBody>
      </p:sp>
      <p:sp>
        <p:nvSpPr>
          <p:cNvPr id="8" name="text-43"/>
          <p:cNvSpPr txBox="1"/>
          <p:nvPr/>
        </p:nvSpPr>
        <p:spPr>
          <a:xfrm>
            <a:off x="6217920" y="2743200"/>
            <a:ext cx="5059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tx1"/>
                </a:solidFill>
              </a:rPr>
              <a:t>스마트스토어 상품당 최대 리뷰 수</a:t>
            </a:r>
            <a:endParaRPr lang="en-US" sz="1500" dirty="0"/>
          </a:p>
        </p:txBody>
      </p:sp>
      <p:sp>
        <p:nvSpPr>
          <p:cNvPr id="9" name="text-44"/>
          <p:cNvSpPr txBox="1"/>
          <p:nvPr/>
        </p:nvSpPr>
        <p:spPr>
          <a:xfrm>
            <a:off x="6217920" y="3063240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경쟁 브랜드는 리뷰 수천~수만 건</a:t>
            </a:r>
            <a:endParaRPr lang="en-US" sz="1400" dirty="0"/>
          </a:p>
        </p:txBody>
      </p:sp>
      <p:sp>
        <p:nvSpPr>
          <p:cNvPr id="10" name="card-45"/>
          <p:cNvSpPr/>
          <p:nvPr/>
        </p:nvSpPr>
        <p:spPr>
          <a:xfrm>
            <a:off x="5852160" y="3794760"/>
            <a:ext cx="5790895" cy="20574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/>
        </p:spPr>
      </p:sp>
      <p:sp>
        <p:nvSpPr>
          <p:cNvPr id="11" name="text-46"/>
          <p:cNvSpPr txBox="1"/>
          <p:nvPr/>
        </p:nvSpPr>
        <p:spPr>
          <a:xfrm>
            <a:off x="621792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4"/>
                </a:solidFill>
              </a:rPr>
              <a:t>시사점</a:t>
            </a:r>
            <a:endParaRPr lang="en-US" sz="1400" dirty="0"/>
          </a:p>
        </p:txBody>
      </p:sp>
      <p:sp>
        <p:nvSpPr>
          <p:cNvPr id="12" name="text-47"/>
          <p:cNvSpPr txBox="1"/>
          <p:nvPr/>
        </p:nvSpPr>
        <p:spPr>
          <a:xfrm>
            <a:off x="6217920" y="4526280"/>
            <a:ext cx="505937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chemeClr val="bg1"/>
                </a:solidFill>
              </a:rPr>
              <a:t>지금 광고비를 크게 늘리면 클릭은 늘지만 구매는 따라오지 않습니다. 광고보다 리뷰 확보가 먼저입니다.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 현황 진단 ② 자사몰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자사몰에서 확인한 세 가지 과제</a:t>
            </a:r>
            <a:endParaRPr lang="en-US" sz="2800" dirty="0"/>
          </a:p>
        </p:txBody>
      </p:sp>
      <p:sp>
        <p:nvSpPr>
          <p:cNvPr id="4" name="card-48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5" name="badge-49"/>
          <p:cNvSpPr/>
          <p:nvPr/>
        </p:nvSpPr>
        <p:spPr>
          <a:xfrm>
            <a:off x="86868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badge-text-49"/>
          <p:cNvSpPr txBox="1"/>
          <p:nvPr/>
        </p:nvSpPr>
        <p:spPr>
          <a:xfrm>
            <a:off x="8686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50"/>
          <p:cNvSpPr txBox="1"/>
          <p:nvPr/>
        </p:nvSpPr>
        <p:spPr>
          <a:xfrm>
            <a:off x="868680" y="2743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브랜드명 혼재</a:t>
            </a:r>
            <a:endParaRPr lang="en-US" sz="2000" dirty="0"/>
          </a:p>
        </p:txBody>
      </p:sp>
      <p:sp>
        <p:nvSpPr>
          <p:cNvPr id="8" name="text-51"/>
          <p:cNvSpPr txBox="1"/>
          <p:nvPr/>
        </p:nvSpPr>
        <p:spPr>
          <a:xfrm>
            <a:off x="868680" y="324612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사이트명이 "양명 킹오브김 (해풀잎)"이고, 상품명에 KING OF KIM · 해풀잎 · 사랑둥이 등이 섞여 있어 브랜드 검색으로 이어지기 어렵습니다.</a:t>
            </a:r>
            <a:endParaRPr lang="en-US" sz="1400" dirty="0"/>
          </a:p>
        </p:txBody>
      </p:sp>
      <p:sp>
        <p:nvSpPr>
          <p:cNvPr id="9" name="card-52"/>
          <p:cNvSpPr/>
          <p:nvPr/>
        </p:nvSpPr>
        <p:spPr>
          <a:xfrm>
            <a:off x="4343400" y="169164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0" name="badge-53"/>
          <p:cNvSpPr/>
          <p:nvPr/>
        </p:nvSpPr>
        <p:spPr>
          <a:xfrm>
            <a:off x="466344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badge-text-53"/>
          <p:cNvSpPr txBox="1"/>
          <p:nvPr/>
        </p:nvSpPr>
        <p:spPr>
          <a:xfrm>
            <a:off x="46634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-54"/>
          <p:cNvSpPr txBox="1"/>
          <p:nvPr/>
        </p:nvSpPr>
        <p:spPr>
          <a:xfrm>
            <a:off x="4663440" y="2743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상품군 이원화</a:t>
            </a:r>
            <a:endParaRPr lang="en-US" sz="2000" dirty="0"/>
          </a:p>
        </p:txBody>
      </p:sp>
      <p:sp>
        <p:nvSpPr>
          <p:cNvPr id="13" name="text-55"/>
          <p:cNvSpPr txBox="1"/>
          <p:nvPr/>
        </p:nvSpPr>
        <p:spPr>
          <a:xfrm>
            <a:off x="4663440" y="324612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일상용(도시락김 · 김자반) 1.8~3.1만 원, 선물세트 5.3~16.8만 원. 객단가 높은 선물세트가 광고 효율에 유리합니다.</a:t>
            </a:r>
            <a:endParaRPr lang="en-US" sz="1400" dirty="0"/>
          </a:p>
        </p:txBody>
      </p:sp>
      <p:sp>
        <p:nvSpPr>
          <p:cNvPr id="14" name="card-56"/>
          <p:cNvSpPr/>
          <p:nvPr/>
        </p:nvSpPr>
        <p:spPr>
          <a:xfrm>
            <a:off x="8138160" y="1691640"/>
            <a:ext cx="352044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5" name="badge-57"/>
          <p:cNvSpPr/>
          <p:nvPr/>
        </p:nvSpPr>
        <p:spPr>
          <a:xfrm>
            <a:off x="8458200" y="20116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badge-text-57"/>
          <p:cNvSpPr txBox="1"/>
          <p:nvPr/>
        </p:nvSpPr>
        <p:spPr>
          <a:xfrm>
            <a:off x="8458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58"/>
          <p:cNvSpPr txBox="1"/>
          <p:nvPr/>
        </p:nvSpPr>
        <p:spPr>
          <a:xfrm>
            <a:off x="8458200" y="27432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리뷰 · 채널 연결 부족</a:t>
            </a:r>
            <a:endParaRPr lang="en-US" sz="2000" dirty="0"/>
          </a:p>
        </p:txBody>
      </p:sp>
      <p:sp>
        <p:nvSpPr>
          <p:cNvPr id="18" name="text-59"/>
          <p:cNvSpPr txBox="1"/>
          <p:nvPr/>
        </p:nvSpPr>
        <p:spPr>
          <a:xfrm>
            <a:off x="8458200" y="3246120"/>
            <a:ext cx="2880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상품 리뷰가 거의 없고, 하단 SNS 링크가 실제 계정과 연결되어 있지 않습니다.</a:t>
            </a:r>
            <a:endParaRPr lang="en-US" sz="1400" dirty="0"/>
          </a:p>
        </p:txBody>
      </p:sp>
      <p:sp>
        <p:nvSpPr>
          <p:cNvPr id="19" name="card-60"/>
          <p:cNvSpPr/>
          <p:nvPr/>
        </p:nvSpPr>
        <p:spPr>
          <a:xfrm>
            <a:off x="548640" y="521208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20" name="text-61"/>
          <p:cNvSpPr txBox="1"/>
          <p:nvPr/>
        </p:nvSpPr>
        <p:spPr>
          <a:xfrm>
            <a:off x="868680" y="521208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</a:rPr>
              <a:t>활용 가능 자산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   첫 구매 3,000원 회원가입 쿠폰 운영 중 · 메타 픽셀 설치 완료 (추후 리타겟팅 기반)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03 원인 확인 방법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"인지도 부족"인지 운영 데이터로 구분합니다</a:t>
            </a:r>
            <a:endParaRPr lang="en-US" sz="2800" dirty="0"/>
          </a:p>
        </p:txBody>
      </p:sp>
      <p:sp>
        <p:nvSpPr>
          <p:cNvPr id="4" name="text-62"/>
          <p:cNvSpPr txBox="1"/>
          <p:nvPr/>
        </p:nvSpPr>
        <p:spPr>
          <a:xfrm>
            <a:off x="160020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확인 질문</a:t>
            </a:r>
            <a:endParaRPr lang="en-US" sz="1200" dirty="0"/>
          </a:p>
        </p:txBody>
      </p:sp>
      <p:sp>
        <p:nvSpPr>
          <p:cNvPr id="5" name="text-63"/>
          <p:cNvSpPr txBox="1"/>
          <p:nvPr/>
        </p:nvSpPr>
        <p:spPr>
          <a:xfrm>
            <a:off x="4251960" y="16916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확인 지표</a:t>
            </a:r>
            <a:endParaRPr lang="en-US" sz="1200" dirty="0"/>
          </a:p>
        </p:txBody>
      </p:sp>
      <p:sp>
        <p:nvSpPr>
          <p:cNvPr id="6" name="text-64"/>
          <p:cNvSpPr txBox="1"/>
          <p:nvPr/>
        </p:nvSpPr>
        <p:spPr>
          <a:xfrm>
            <a:off x="7909560" y="169164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판단</a:t>
            </a:r>
            <a:endParaRPr lang="en-US" sz="1200" dirty="0"/>
          </a:p>
        </p:txBody>
      </p:sp>
      <p:sp>
        <p:nvSpPr>
          <p:cNvPr id="7" name="card-65"/>
          <p:cNvSpPr/>
          <p:nvPr/>
        </p:nvSpPr>
        <p:spPr>
          <a:xfrm>
            <a:off x="548640" y="205740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8" name="badge-66"/>
          <p:cNvSpPr/>
          <p:nvPr/>
        </p:nvSpPr>
        <p:spPr>
          <a:xfrm>
            <a:off x="86868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badge-text-66"/>
          <p:cNvSpPr txBox="1"/>
          <p:nvPr/>
        </p:nvSpPr>
        <p:spPr>
          <a:xfrm>
            <a:off x="8686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-67"/>
          <p:cNvSpPr txBox="1"/>
          <p:nvPr/>
        </p:nvSpPr>
        <p:spPr>
          <a:xfrm>
            <a:off x="1600200" y="20574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노출 문제?</a:t>
            </a:r>
            <a:endParaRPr lang="en-US" sz="1800" dirty="0"/>
          </a:p>
        </p:txBody>
      </p:sp>
      <p:sp>
        <p:nvSpPr>
          <p:cNvPr id="11" name="text-68"/>
          <p:cNvSpPr txBox="1"/>
          <p:nvPr/>
        </p:nvSpPr>
        <p:spPr>
          <a:xfrm>
            <a:off x="4251960" y="205740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브랜드 검색량, 쇼핑검색 노출수</a:t>
            </a:r>
            <a:endParaRPr lang="en-US" sz="1400" dirty="0"/>
          </a:p>
        </p:txBody>
      </p:sp>
      <p:sp>
        <p:nvSpPr>
          <p:cNvPr id="12" name="text-69"/>
          <p:cNvSpPr txBox="1"/>
          <p:nvPr/>
        </p:nvSpPr>
        <p:spPr>
          <a:xfrm>
            <a:off x="7909560" y="205740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검색량이 거의 없으면 인지도 문제</a:t>
            </a:r>
            <a:endParaRPr lang="en-US" sz="1400" dirty="0"/>
          </a:p>
        </p:txBody>
      </p:sp>
      <p:sp>
        <p:nvSpPr>
          <p:cNvPr id="13" name="card-70"/>
          <p:cNvSpPr/>
          <p:nvPr/>
        </p:nvSpPr>
        <p:spPr>
          <a:xfrm>
            <a:off x="548640" y="333756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14" name="badge-71"/>
          <p:cNvSpPr/>
          <p:nvPr/>
        </p:nvSpPr>
        <p:spPr>
          <a:xfrm>
            <a:off x="86868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badge-text-71"/>
          <p:cNvSpPr txBox="1"/>
          <p:nvPr/>
        </p:nvSpPr>
        <p:spPr>
          <a:xfrm>
            <a:off x="8686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-72"/>
          <p:cNvSpPr txBox="1"/>
          <p:nvPr/>
        </p:nvSpPr>
        <p:spPr>
          <a:xfrm>
            <a:off x="1600200" y="333756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전환 문제?</a:t>
            </a:r>
            <a:endParaRPr lang="en-US" sz="1800" dirty="0"/>
          </a:p>
        </p:txBody>
      </p:sp>
      <p:sp>
        <p:nvSpPr>
          <p:cNvPr id="17" name="text-73"/>
          <p:cNvSpPr txBox="1"/>
          <p:nvPr/>
        </p:nvSpPr>
        <p:spPr>
          <a:xfrm>
            <a:off x="4251960" y="33375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유입 대비 구매전환율</a:t>
            </a:r>
            <a:endParaRPr lang="en-US" sz="1400" dirty="0"/>
          </a:p>
        </p:txBody>
      </p:sp>
      <p:sp>
        <p:nvSpPr>
          <p:cNvPr id="18" name="text-74"/>
          <p:cNvSpPr txBox="1"/>
          <p:nvPr/>
        </p:nvSpPr>
        <p:spPr>
          <a:xfrm>
            <a:off x="7909560" y="333756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유입은 있는데 구매가 없으면 리뷰 · 가격 · 상세페이지 문제</a:t>
            </a:r>
            <a:endParaRPr lang="en-US" sz="1400" dirty="0"/>
          </a:p>
        </p:txBody>
      </p:sp>
      <p:sp>
        <p:nvSpPr>
          <p:cNvPr id="19" name="card-75"/>
          <p:cNvSpPr/>
          <p:nvPr/>
        </p:nvSpPr>
        <p:spPr>
          <a:xfrm>
            <a:off x="548640" y="461772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</p:sp>
      <p:sp>
        <p:nvSpPr>
          <p:cNvPr id="20" name="badge-76"/>
          <p:cNvSpPr/>
          <p:nvPr/>
        </p:nvSpPr>
        <p:spPr>
          <a:xfrm>
            <a:off x="86868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badge-text-76"/>
          <p:cNvSpPr txBox="1"/>
          <p:nvPr/>
        </p:nvSpPr>
        <p:spPr>
          <a:xfrm>
            <a:off x="868680" y="4892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text-77"/>
          <p:cNvSpPr txBox="1"/>
          <p:nvPr/>
        </p:nvSpPr>
        <p:spPr>
          <a:xfrm>
            <a:off x="1600200" y="46177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가격 문제?</a:t>
            </a:r>
            <a:endParaRPr lang="en-US" sz="1800" dirty="0"/>
          </a:p>
        </p:txBody>
      </p:sp>
      <p:sp>
        <p:nvSpPr>
          <p:cNvPr id="23" name="text-78"/>
          <p:cNvSpPr txBox="1"/>
          <p:nvPr/>
        </p:nvSpPr>
        <p:spPr>
          <a:xfrm>
            <a:off x="4251960" y="46177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경쟁사 동일 규격 가격 · 리뷰 수, 세트별 전환율</a:t>
            </a:r>
            <a:endParaRPr lang="en-US" sz="1400" dirty="0"/>
          </a:p>
        </p:txBody>
      </p:sp>
      <p:sp>
        <p:nvSpPr>
          <p:cNvPr id="24" name="text-79"/>
          <p:cNvSpPr txBox="1"/>
          <p:nvPr/>
        </p:nvSpPr>
        <p:spPr>
          <a:xfrm>
            <a:off x="7909560" y="4617720"/>
            <a:ext cx="3429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2"/>
                </a:solidFill>
              </a:rPr>
              <a:t>가격 경쟁력과 세트 구성 조정 필요 여부</a:t>
            </a:r>
            <a:endParaRPr lang="en-US" sz="1400" dirty="0"/>
          </a:p>
        </p:txBody>
      </p:sp>
      <p:sp>
        <p:nvSpPr>
          <p:cNvPr id="25" name="text-80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정량 소비자 조사는 범위 외입니다. 위 데이터는 매월 리포트로 제공해 양명의 추가 조사 · 의사결정 근거로 활용할 수 있게 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전략 방향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리뷰 → 검색 → 구매 → 재구매 순서로 갑니다</a:t>
            </a:r>
            <a:endParaRPr lang="en-US" sz="2800" dirty="0"/>
          </a:p>
        </p:txBody>
      </p:sp>
      <p:sp>
        <p:nvSpPr>
          <p:cNvPr id="4" name="badge-81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badge-text-81"/>
          <p:cNvSpPr txBox="1"/>
          <p:nvPr/>
        </p:nvSpPr>
        <p:spPr>
          <a:xfrm>
            <a:off x="548640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리뷰</a:t>
            </a:r>
            <a:endParaRPr lang="en-US" sz="2000" dirty="0"/>
          </a:p>
        </p:txBody>
      </p:sp>
      <p:sp>
        <p:nvSpPr>
          <p:cNvPr id="6" name="text-82"/>
          <p:cNvSpPr txBox="1"/>
          <p:nvPr/>
        </p:nvSpPr>
        <p:spPr>
          <a:xfrm>
            <a:off x="548640" y="33375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체험단으로 구매 결정 근거 확보</a:t>
            </a:r>
            <a:endParaRPr lang="en-US" sz="1500" dirty="0"/>
          </a:p>
        </p:txBody>
      </p:sp>
      <p:sp>
        <p:nvSpPr>
          <p:cNvPr id="7" name="arrow-0"/>
          <p:cNvSpPr/>
          <p:nvPr/>
        </p:nvSpPr>
        <p:spPr>
          <a:xfrm>
            <a:off x="2057400" y="2468880"/>
            <a:ext cx="1104824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badge-83"/>
          <p:cNvSpPr/>
          <p:nvPr/>
        </p:nvSpPr>
        <p:spPr>
          <a:xfrm>
            <a:off x="3390824" y="18288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badge-text-83"/>
          <p:cNvSpPr txBox="1"/>
          <p:nvPr/>
        </p:nvSpPr>
        <p:spPr>
          <a:xfrm>
            <a:off x="3390824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검색</a:t>
            </a:r>
            <a:endParaRPr lang="en-US" sz="2000" dirty="0"/>
          </a:p>
        </p:txBody>
      </p:sp>
      <p:sp>
        <p:nvSpPr>
          <p:cNvPr id="10" name="text-84"/>
          <p:cNvSpPr txBox="1"/>
          <p:nvPr/>
        </p:nvSpPr>
        <p:spPr>
          <a:xfrm>
            <a:off x="3390824" y="33375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쇼핑검색 · 브랜드 키워드 노출</a:t>
            </a:r>
            <a:endParaRPr lang="en-US" sz="1500" dirty="0"/>
          </a:p>
        </p:txBody>
      </p:sp>
      <p:sp>
        <p:nvSpPr>
          <p:cNvPr id="11" name="arrow-1"/>
          <p:cNvSpPr/>
          <p:nvPr/>
        </p:nvSpPr>
        <p:spPr>
          <a:xfrm>
            <a:off x="4899584" y="2468880"/>
            <a:ext cx="1104824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2" name="badge-85"/>
          <p:cNvSpPr/>
          <p:nvPr/>
        </p:nvSpPr>
        <p:spPr>
          <a:xfrm>
            <a:off x="6233008" y="182880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badge-text-85"/>
          <p:cNvSpPr txBox="1"/>
          <p:nvPr/>
        </p:nvSpPr>
        <p:spPr>
          <a:xfrm>
            <a:off x="6233008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구매</a:t>
            </a:r>
            <a:endParaRPr lang="en-US" sz="2000" dirty="0"/>
          </a:p>
        </p:txBody>
      </p:sp>
      <p:sp>
        <p:nvSpPr>
          <p:cNvPr id="14" name="text-86"/>
          <p:cNvSpPr txBox="1"/>
          <p:nvPr/>
        </p:nvSpPr>
        <p:spPr>
          <a:xfrm>
            <a:off x="6233008" y="33375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리뷰 갖춘 대표 상품으로 전환</a:t>
            </a:r>
            <a:endParaRPr lang="en-US" sz="1500" dirty="0"/>
          </a:p>
        </p:txBody>
      </p:sp>
      <p:sp>
        <p:nvSpPr>
          <p:cNvPr id="15" name="arrow-2"/>
          <p:cNvSpPr/>
          <p:nvPr/>
        </p:nvSpPr>
        <p:spPr>
          <a:xfrm>
            <a:off x="7741768" y="2468880"/>
            <a:ext cx="1104824" cy="0"/>
          </a:xfrm>
          <a:prstGeom prst="line">
            <a:avLst/>
          </a:prstGeom>
          <a:noFill/>
          <a:ln w="317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6" name="badge-87"/>
          <p:cNvSpPr/>
          <p:nvPr/>
        </p:nvSpPr>
        <p:spPr>
          <a:xfrm>
            <a:off x="9075191" y="1828800"/>
            <a:ext cx="1280160" cy="12801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adge-text-87"/>
          <p:cNvSpPr txBox="1"/>
          <p:nvPr/>
        </p:nvSpPr>
        <p:spPr>
          <a:xfrm>
            <a:off x="9075191" y="18288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재구매</a:t>
            </a:r>
            <a:endParaRPr lang="en-US" sz="2000" dirty="0"/>
          </a:p>
        </p:txBody>
      </p:sp>
      <p:sp>
        <p:nvSpPr>
          <p:cNvPr id="18" name="text-88"/>
          <p:cNvSpPr txBox="1"/>
          <p:nvPr/>
        </p:nvSpPr>
        <p:spPr>
          <a:xfrm>
            <a:off x="9075191" y="333756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알림받기 · 재구매 쿠폰 권장</a:t>
            </a:r>
            <a:endParaRPr lang="en-US" sz="1500" dirty="0"/>
          </a:p>
        </p:txBody>
      </p:sp>
      <p:sp>
        <p:nvSpPr>
          <p:cNvPr id="19" name="card-89"/>
          <p:cNvSpPr/>
          <p:nvPr/>
        </p:nvSpPr>
        <p:spPr>
          <a:xfrm>
            <a:off x="548640" y="4069080"/>
            <a:ext cx="11094415" cy="1828800"/>
          </a:xfrm>
          <a:prstGeom prst="roundRect">
            <a:avLst>
              <a:gd name="adj" fmla="val 6000"/>
            </a:avLst>
          </a:prstGeom>
          <a:solidFill>
            <a:schemeClr val="accent3"/>
          </a:solidFill>
          <a:ln/>
        </p:spPr>
      </p:sp>
      <p:sp>
        <p:nvSpPr>
          <p:cNvPr id="20" name="text-90"/>
          <p:cNvSpPr txBox="1"/>
          <p:nvPr/>
        </p:nvSpPr>
        <p:spPr>
          <a:xfrm>
            <a:off x="914400" y="438912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chemeClr val="accent2"/>
                </a:solidFill>
              </a:rPr>
              <a:t>브랜드명 · 패키지는 그대로 유지합니다</a:t>
            </a:r>
            <a:endParaRPr lang="en-US" sz="1900" dirty="0"/>
          </a:p>
        </p:txBody>
      </p:sp>
      <p:sp>
        <p:nvSpPr>
          <p:cNvPr id="21" name="text-91"/>
          <p:cNvSpPr txBox="1"/>
          <p:nvPr/>
        </p:nvSpPr>
        <p:spPr>
          <a:xfrm>
            <a:off x="914400" y="48920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대신 상품명 · 광고 문구 · 체험단 콘텐츠에서 "KING OF KIM"을 일관되게 노출해, 구매 경험이 브랜드 검색으로 이어지게 만듭니다. 리뷰가 없는 상태의 광고는 밑 빠진 독에 물 붓기와 같아서, 리뷰부터 채우고 광고를 늘립니다.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채널 전략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네이버 쇼핑검색을 주력으로, 쿠팡은 단계 확대</a:t>
            </a:r>
            <a:endParaRPr lang="en-US" sz="2800" dirty="0"/>
          </a:p>
        </p:txBody>
      </p:sp>
      <p:sp>
        <p:nvSpPr>
          <p:cNvPr id="4" name="card-92"/>
          <p:cNvSpPr/>
          <p:nvPr/>
        </p:nvSpPr>
        <p:spPr>
          <a:xfrm>
            <a:off x="54864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5" name="text-93"/>
          <p:cNvSpPr txBox="1"/>
          <p:nvPr/>
        </p:nvSpPr>
        <p:spPr>
          <a:xfrm>
            <a:off x="86868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50%</a:t>
            </a:r>
            <a:endParaRPr lang="en-US" sz="4000" dirty="0"/>
          </a:p>
        </p:txBody>
      </p:sp>
      <p:sp>
        <p:nvSpPr>
          <p:cNvPr id="6" name="tag-0"/>
          <p:cNvSpPr/>
          <p:nvPr/>
        </p:nvSpPr>
        <p:spPr>
          <a:xfrm>
            <a:off x="3017520" y="212140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7" name="text-94"/>
          <p:cNvSpPr txBox="1"/>
          <p:nvPr/>
        </p:nvSpPr>
        <p:spPr>
          <a:xfrm>
            <a:off x="3017520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주력</a:t>
            </a:r>
            <a:endParaRPr lang="en-US" sz="1300" dirty="0"/>
          </a:p>
        </p:txBody>
      </p:sp>
      <p:sp>
        <p:nvSpPr>
          <p:cNvPr id="8" name="text-95"/>
          <p:cNvSpPr txBox="1"/>
          <p:nvPr/>
        </p:nvSpPr>
        <p:spPr>
          <a:xfrm>
            <a:off x="86868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네이버 쇼핑검색</a:t>
            </a:r>
            <a:endParaRPr lang="en-US" sz="2000" dirty="0"/>
          </a:p>
        </p:txBody>
      </p:sp>
      <p:sp>
        <p:nvSpPr>
          <p:cNvPr id="9" name="text-96"/>
          <p:cNvSpPr txBox="1"/>
          <p:nvPr/>
        </p:nvSpPr>
        <p:spPr>
          <a:xfrm>
            <a:off x="868680" y="3474720"/>
            <a:ext cx="2971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가격 · 리뷰 비교 구매 품목이라 구매와 가장 가까운 지면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도시락김 · 곱창김 · 김자반 + 용도 키워드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경쟁이 덜한 세부 키워드부터 시작</a:t>
            </a:r>
            <a:endParaRPr lang="en-US" sz="1400" dirty="0"/>
          </a:p>
        </p:txBody>
      </p:sp>
      <p:sp>
        <p:nvSpPr>
          <p:cNvPr id="10" name="card-97"/>
          <p:cNvSpPr/>
          <p:nvPr/>
        </p:nvSpPr>
        <p:spPr>
          <a:xfrm>
            <a:off x="434340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1" name="text-98"/>
          <p:cNvSpPr txBox="1"/>
          <p:nvPr/>
        </p:nvSpPr>
        <p:spPr>
          <a:xfrm>
            <a:off x="46634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17%</a:t>
            </a:r>
            <a:endParaRPr lang="en-US" sz="4000" dirty="0"/>
          </a:p>
        </p:txBody>
      </p:sp>
      <p:sp>
        <p:nvSpPr>
          <p:cNvPr id="12" name="tag-1"/>
          <p:cNvSpPr/>
          <p:nvPr/>
        </p:nvSpPr>
        <p:spPr>
          <a:xfrm>
            <a:off x="6812280" y="2121408"/>
            <a:ext cx="73152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3" name="text-99"/>
          <p:cNvSpPr txBox="1"/>
          <p:nvPr/>
        </p:nvSpPr>
        <p:spPr>
          <a:xfrm>
            <a:off x="6812280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보조</a:t>
            </a:r>
            <a:endParaRPr lang="en-US" sz="1300" dirty="0"/>
          </a:p>
        </p:txBody>
      </p:sp>
      <p:sp>
        <p:nvSpPr>
          <p:cNvPr id="14" name="text-100"/>
          <p:cNvSpPr txBox="1"/>
          <p:nvPr/>
        </p:nvSpPr>
        <p:spPr>
          <a:xfrm>
            <a:off x="466344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네이버 파워링크</a:t>
            </a:r>
            <a:endParaRPr lang="en-US" sz="2000" dirty="0"/>
          </a:p>
        </p:txBody>
      </p:sp>
      <p:sp>
        <p:nvSpPr>
          <p:cNvPr id="15" name="text-101"/>
          <p:cNvSpPr txBox="1"/>
          <p:nvPr/>
        </p:nvSpPr>
        <p:spPr>
          <a:xfrm>
            <a:off x="4663440" y="3474720"/>
            <a:ext cx="2971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"킹오브김" 브랜드 키워드 방어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선물세트 키워드는 자사몰 선물세트 페이지로 연결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고단가 상품 판매 담당</a:t>
            </a:r>
            <a:endParaRPr lang="en-US" sz="1400" dirty="0"/>
          </a:p>
        </p:txBody>
      </p:sp>
      <p:sp>
        <p:nvSpPr>
          <p:cNvPr id="16" name="card-102"/>
          <p:cNvSpPr/>
          <p:nvPr/>
        </p:nvSpPr>
        <p:spPr>
          <a:xfrm>
            <a:off x="8138160" y="1691640"/>
            <a:ext cx="3520440" cy="393192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/>
        </p:spPr>
      </p:sp>
      <p:sp>
        <p:nvSpPr>
          <p:cNvPr id="17" name="text-103"/>
          <p:cNvSpPr txBox="1"/>
          <p:nvPr/>
        </p:nvSpPr>
        <p:spPr>
          <a:xfrm>
            <a:off x="845820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chemeClr val="accent1"/>
                </a:solidFill>
              </a:rPr>
              <a:t>33%</a:t>
            </a:r>
            <a:endParaRPr lang="en-US" sz="4000" dirty="0"/>
          </a:p>
        </p:txBody>
      </p:sp>
      <p:sp>
        <p:nvSpPr>
          <p:cNvPr id="18" name="tag-2"/>
          <p:cNvSpPr/>
          <p:nvPr/>
        </p:nvSpPr>
        <p:spPr>
          <a:xfrm>
            <a:off x="10241280" y="2121408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9" name="text-104"/>
          <p:cNvSpPr txBox="1"/>
          <p:nvPr/>
        </p:nvSpPr>
        <p:spPr>
          <a:xfrm>
            <a:off x="10241280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단계 확대</a:t>
            </a:r>
            <a:endParaRPr lang="en-US" sz="1300" dirty="0"/>
          </a:p>
        </p:txBody>
      </p:sp>
      <p:sp>
        <p:nvSpPr>
          <p:cNvPr id="20" name="text-105"/>
          <p:cNvSpPr txBox="1"/>
          <p:nvPr/>
        </p:nvSpPr>
        <p:spPr>
          <a:xfrm>
            <a:off x="8458200" y="288036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tx1"/>
                </a:solidFill>
              </a:rPr>
              <a:t>쿠팡 광고</a:t>
            </a:r>
            <a:endParaRPr lang="en-US" sz="2000" dirty="0"/>
          </a:p>
        </p:txBody>
      </p:sp>
      <p:sp>
        <p:nvSpPr>
          <p:cNvPr id="21" name="text-106"/>
          <p:cNvSpPr txBox="1"/>
          <p:nvPr/>
        </p:nvSpPr>
        <p:spPr>
          <a:xfrm>
            <a:off x="8458200" y="3474720"/>
            <a:ext cx="29718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대표 상품(대용량 도시락김 · 김자반) 중심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리뷰 축적 속도에 맞춰 증액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3개월차 효율 비교 후 비중 조정</a:t>
            </a:r>
            <a:endParaRPr lang="en-US" sz="1400" dirty="0"/>
          </a:p>
        </p:txBody>
      </p:sp>
      <p:sp>
        <p:nvSpPr>
          <p:cNvPr id="22" name="text-10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비중은 전체 광고비 기준 시작값(네이버:쿠팡 = 현재 매출 비중 2:1)이며, 3개월차부터 매체별 ROAS로 재배분합니다.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체험단 · 리뷰 확보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1~2개월차, 체험단으로 리뷰 기반부터 만듭니다</a:t>
            </a:r>
            <a:endParaRPr lang="en-US" sz="2800" dirty="0"/>
          </a:p>
        </p:txBody>
      </p:sp>
      <p:sp>
        <p:nvSpPr>
          <p:cNvPr id="4" name="card-108"/>
          <p:cNvSpPr/>
          <p:nvPr/>
        </p:nvSpPr>
        <p:spPr>
          <a:xfrm>
            <a:off x="548640" y="1691640"/>
            <a:ext cx="3520440" cy="4206240"/>
          </a:xfrm>
          <a:prstGeom prst="roundRect">
            <a:avLst>
              <a:gd name="adj" fmla="val 3117"/>
            </a:avLst>
          </a:prstGeom>
          <a:solidFill>
            <a:schemeClr val="accent1"/>
          </a:solidFill>
          <a:ln/>
        </p:spPr>
      </p:sp>
      <p:sp>
        <p:nvSpPr>
          <p:cNvPr id="5" name="text-109"/>
          <p:cNvSpPr txBox="1"/>
          <p:nvPr/>
        </p:nvSpPr>
        <p:spPr>
          <a:xfrm>
            <a:off x="914400" y="20574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accent4"/>
                </a:solidFill>
              </a:rPr>
              <a:t>대표 상품 리뷰 목표</a:t>
            </a:r>
            <a:endParaRPr lang="en-US" sz="1500" dirty="0"/>
          </a:p>
        </p:txBody>
      </p:sp>
      <p:sp>
        <p:nvSpPr>
          <p:cNvPr id="6" name="text-110"/>
          <p:cNvSpPr txBox="1"/>
          <p:nvPr/>
        </p:nvSpPr>
        <p:spPr>
          <a:xfrm>
            <a:off x="914400" y="265176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50건+</a:t>
            </a:r>
            <a:endParaRPr lang="en-US" sz="4400" dirty="0"/>
          </a:p>
        </p:txBody>
      </p:sp>
      <p:sp>
        <p:nvSpPr>
          <p:cNvPr id="7" name="text-111"/>
          <p:cNvSpPr txBox="1"/>
          <p:nvPr/>
        </p:nvSpPr>
        <p:spPr>
          <a:xfrm>
            <a:off x="914400" y="342900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2개월차까지</a:t>
            </a:r>
            <a:endParaRPr lang="en-US" sz="1500" dirty="0"/>
          </a:p>
        </p:txBody>
      </p:sp>
      <p:sp>
        <p:nvSpPr>
          <p:cNvPr id="8" name="text-112"/>
          <p:cNvSpPr txBox="1"/>
          <p:nvPr/>
        </p:nvSpPr>
        <p:spPr>
          <a:xfrm>
            <a:off x="914400" y="420624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150건+</a:t>
            </a:r>
            <a:endParaRPr lang="en-US" sz="4400" dirty="0"/>
          </a:p>
        </p:txBody>
      </p:sp>
      <p:sp>
        <p:nvSpPr>
          <p:cNvPr id="9" name="text-113"/>
          <p:cNvSpPr txBox="1"/>
          <p:nvPr/>
        </p:nvSpPr>
        <p:spPr>
          <a:xfrm>
            <a:off x="914400" y="4983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bg1"/>
                </a:solidFill>
              </a:rPr>
              <a:t>6개월차까지</a:t>
            </a:r>
            <a:endParaRPr lang="en-US" sz="1500" dirty="0"/>
          </a:p>
        </p:txBody>
      </p:sp>
      <p:sp>
        <p:nvSpPr>
          <p:cNvPr id="10" name="card-114"/>
          <p:cNvSpPr/>
          <p:nvPr/>
        </p:nvSpPr>
        <p:spPr>
          <a:xfrm>
            <a:off x="4343400" y="1691640"/>
            <a:ext cx="7299655" cy="12192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11" name="badge-115"/>
          <p:cNvSpPr/>
          <p:nvPr/>
        </p:nvSpPr>
        <p:spPr>
          <a:xfrm>
            <a:off x="4663440" y="189280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badge-text-115"/>
          <p:cNvSpPr txBox="1"/>
          <p:nvPr/>
        </p:nvSpPr>
        <p:spPr>
          <a:xfrm>
            <a:off x="466344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-116"/>
          <p:cNvSpPr txBox="1"/>
          <p:nvPr/>
        </p:nvSpPr>
        <p:spPr>
          <a:xfrm>
            <a:off x="5303520" y="1874520"/>
            <a:ext cx="6019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역할 분담</a:t>
            </a:r>
            <a:endParaRPr lang="en-US" sz="1800" dirty="0"/>
          </a:p>
        </p:txBody>
      </p:sp>
      <p:sp>
        <p:nvSpPr>
          <p:cNvPr id="14" name="text-117"/>
          <p:cNvSpPr txBox="1"/>
          <p:nvPr/>
        </p:nvSpPr>
        <p:spPr>
          <a:xfrm>
            <a:off x="5303520" y="2350008"/>
            <a:ext cx="60194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제품은 양명이 제공하고, 체험단 모집 · 운영 · 콘텐츠 관리는 NICECORE가 담당합니다.</a:t>
            </a:r>
            <a:endParaRPr lang="en-US" sz="1400" dirty="0"/>
          </a:p>
        </p:txBody>
      </p:sp>
      <p:sp>
        <p:nvSpPr>
          <p:cNvPr id="15" name="card-118"/>
          <p:cNvSpPr/>
          <p:nvPr/>
        </p:nvSpPr>
        <p:spPr>
          <a:xfrm>
            <a:off x="4343400" y="3185160"/>
            <a:ext cx="7299655" cy="12192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16" name="badge-119"/>
          <p:cNvSpPr/>
          <p:nvPr/>
        </p:nvSpPr>
        <p:spPr>
          <a:xfrm>
            <a:off x="4663440" y="338632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badge-text-119"/>
          <p:cNvSpPr txBox="1"/>
          <p:nvPr/>
        </p:nvSpPr>
        <p:spPr>
          <a:xfrm>
            <a:off x="4663440" y="3386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-120"/>
          <p:cNvSpPr txBox="1"/>
          <p:nvPr/>
        </p:nvSpPr>
        <p:spPr>
          <a:xfrm>
            <a:off x="5303520" y="3368040"/>
            <a:ext cx="6019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확보 채널</a:t>
            </a:r>
            <a:endParaRPr lang="en-US" sz="1800" dirty="0"/>
          </a:p>
        </p:txBody>
      </p:sp>
      <p:sp>
        <p:nvSpPr>
          <p:cNvPr id="19" name="text-121"/>
          <p:cNvSpPr txBox="1"/>
          <p:nvPr/>
        </p:nvSpPr>
        <p:spPr>
          <a:xfrm>
            <a:off x="5303520" y="3843528"/>
            <a:ext cx="60194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스마트스토어 리뷰와 네이버 블로그 후기 중심. 블로그 후기는 "킹오브김" 검색 결과에도 노출됩니다.</a:t>
            </a:r>
            <a:endParaRPr lang="en-US" sz="1400" dirty="0"/>
          </a:p>
        </p:txBody>
      </p:sp>
      <p:sp>
        <p:nvSpPr>
          <p:cNvPr id="20" name="card-122"/>
          <p:cNvSpPr/>
          <p:nvPr/>
        </p:nvSpPr>
        <p:spPr>
          <a:xfrm>
            <a:off x="4343400" y="4678680"/>
            <a:ext cx="7299655" cy="1219200"/>
          </a:xfrm>
          <a:prstGeom prst="roundRect">
            <a:avLst>
              <a:gd name="adj" fmla="val 9000"/>
            </a:avLst>
          </a:prstGeom>
          <a:solidFill>
            <a:schemeClr val="bg2"/>
          </a:solidFill>
          <a:ln/>
        </p:spPr>
      </p:sp>
      <p:sp>
        <p:nvSpPr>
          <p:cNvPr id="21" name="badge-123"/>
          <p:cNvSpPr/>
          <p:nvPr/>
        </p:nvSpPr>
        <p:spPr>
          <a:xfrm>
            <a:off x="4663440" y="4879848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badge-text-123"/>
          <p:cNvSpPr txBox="1"/>
          <p:nvPr/>
        </p:nvSpPr>
        <p:spPr>
          <a:xfrm>
            <a:off x="4663440" y="4879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-124"/>
          <p:cNvSpPr txBox="1"/>
          <p:nvPr/>
        </p:nvSpPr>
        <p:spPr>
          <a:xfrm>
            <a:off x="5303520" y="4861560"/>
            <a:ext cx="6019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쿠팡 운영</a:t>
            </a:r>
            <a:endParaRPr lang="en-US" sz="1800" dirty="0"/>
          </a:p>
        </p:txBody>
      </p:sp>
      <p:sp>
        <p:nvSpPr>
          <p:cNvPr id="24" name="text-125"/>
          <p:cNvSpPr txBox="1"/>
          <p:nvPr/>
        </p:nvSpPr>
        <p:spPr>
          <a:xfrm>
            <a:off x="5303520" y="5337048"/>
            <a:ext cx="6019495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쿠팡은 외부 체험단 리뷰에 제한이 있어, 플랫폼 정책에 맞는 방식(쿠팡 체험단 프로그램 등)을 별도 검토합니다.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04 시즌 전략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2027년 설, 선물세트로 첫 성공사례를 만듭니다</a:t>
            </a:r>
            <a:endParaRPr lang="en-US" sz="2800" dirty="0"/>
          </a:p>
        </p:txBody>
      </p:sp>
      <p:sp>
        <p:nvSpPr>
          <p:cNvPr id="4" name="card-126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5" name="text-127"/>
          <p:cNvSpPr txBox="1"/>
          <p:nvPr/>
        </p:nvSpPr>
        <p:spPr>
          <a:xfrm>
            <a:off x="86868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accent1"/>
                </a:solidFill>
              </a:rPr>
              <a:t>12월</a:t>
            </a:r>
            <a:endParaRPr lang="en-US" sz="2600" dirty="0"/>
          </a:p>
        </p:txBody>
      </p:sp>
      <p:sp>
        <p:nvSpPr>
          <p:cNvPr id="6" name="text-128"/>
          <p:cNvSpPr txBox="1"/>
          <p:nvPr/>
        </p:nvSpPr>
        <p:spPr>
          <a:xfrm>
            <a:off x="868680" y="2496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준비</a:t>
            </a:r>
            <a:endParaRPr lang="en-US" sz="1700" dirty="0"/>
          </a:p>
        </p:txBody>
      </p:sp>
      <p:sp>
        <p:nvSpPr>
          <p:cNvPr id="7" name="text-129"/>
          <p:cNvSpPr txBox="1"/>
          <p:nvPr/>
        </p:nvSpPr>
        <p:spPr>
          <a:xfrm>
            <a:off x="86868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선물세트 키워드 · 광고 소재 세팅, 자사몰 선물세트 페이지 점검</a:t>
            </a:r>
            <a:endParaRPr lang="en-US" sz="1400" dirty="0"/>
          </a:p>
        </p:txBody>
      </p:sp>
      <p:sp>
        <p:nvSpPr>
          <p:cNvPr id="8" name="tl-arrow-0"/>
          <p:cNvSpPr/>
          <p:nvPr/>
        </p:nvSpPr>
        <p:spPr>
          <a:xfrm>
            <a:off x="4005072" y="2564892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9" name="text-130"/>
          <p:cNvSpPr txBox="1"/>
          <p:nvPr/>
        </p:nvSpPr>
        <p:spPr>
          <a:xfrm>
            <a:off x="4005072" y="25374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card-131"/>
          <p:cNvSpPr/>
          <p:nvPr/>
        </p:nvSpPr>
        <p:spPr>
          <a:xfrm>
            <a:off x="4343400" y="1691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1" name="text-132"/>
          <p:cNvSpPr txBox="1"/>
          <p:nvPr/>
        </p:nvSpPr>
        <p:spPr>
          <a:xfrm>
            <a:off x="466344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accent1"/>
                </a:solidFill>
              </a:rPr>
              <a:t>1월</a:t>
            </a:r>
            <a:endParaRPr lang="en-US" sz="2600" dirty="0"/>
          </a:p>
        </p:txBody>
      </p:sp>
      <p:sp>
        <p:nvSpPr>
          <p:cNvPr id="12" name="text-133"/>
          <p:cNvSpPr txBox="1"/>
          <p:nvPr/>
        </p:nvSpPr>
        <p:spPr>
          <a:xfrm>
            <a:off x="4663440" y="2496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집중</a:t>
            </a:r>
            <a:endParaRPr lang="en-US" sz="1700" dirty="0"/>
          </a:p>
        </p:txBody>
      </p:sp>
      <p:sp>
        <p:nvSpPr>
          <p:cNvPr id="13" name="text-134"/>
          <p:cNvSpPr txBox="1"/>
          <p:nvPr/>
        </p:nvSpPr>
        <p:spPr>
          <a:xfrm>
            <a:off x="466344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파워링크 · 쇼핑검색으로 선물세트 집중 노출, 광고비 증액 구간</a:t>
            </a:r>
            <a:endParaRPr lang="en-US" sz="1400" dirty="0"/>
          </a:p>
        </p:txBody>
      </p:sp>
      <p:sp>
        <p:nvSpPr>
          <p:cNvPr id="14" name="tl-arrow-1"/>
          <p:cNvSpPr/>
          <p:nvPr/>
        </p:nvSpPr>
        <p:spPr>
          <a:xfrm>
            <a:off x="7799832" y="2564892"/>
            <a:ext cx="402336" cy="402336"/>
          </a:xfrm>
          <a:prstGeom prst="ellipse">
            <a:avLst/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15" name="text-135"/>
          <p:cNvSpPr txBox="1"/>
          <p:nvPr/>
        </p:nvSpPr>
        <p:spPr>
          <a:xfrm>
            <a:off x="7799832" y="25374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›</a:t>
            </a:r>
            <a:endParaRPr lang="en-US" sz="2000" dirty="0"/>
          </a:p>
        </p:txBody>
      </p:sp>
      <p:sp>
        <p:nvSpPr>
          <p:cNvPr id="16" name="card-136"/>
          <p:cNvSpPr/>
          <p:nvPr/>
        </p:nvSpPr>
        <p:spPr>
          <a:xfrm>
            <a:off x="8138160" y="16916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7" name="text-137"/>
          <p:cNvSpPr txBox="1"/>
          <p:nvPr/>
        </p:nvSpPr>
        <p:spPr>
          <a:xfrm>
            <a:off x="8458200" y="1965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chemeClr val="accent1"/>
                </a:solidFill>
              </a:rPr>
              <a:t>2월 초</a:t>
            </a:r>
            <a:endParaRPr lang="en-US" sz="2600" dirty="0"/>
          </a:p>
        </p:txBody>
      </p:sp>
      <p:sp>
        <p:nvSpPr>
          <p:cNvPr id="18" name="text-138"/>
          <p:cNvSpPr txBox="1"/>
          <p:nvPr/>
        </p:nvSpPr>
        <p:spPr>
          <a:xfrm>
            <a:off x="8458200" y="24963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피크 · 분석</a:t>
            </a:r>
            <a:endParaRPr lang="en-US" sz="1700" dirty="0"/>
          </a:p>
        </p:txBody>
      </p:sp>
      <p:sp>
        <p:nvSpPr>
          <p:cNvPr id="19" name="text-139"/>
          <p:cNvSpPr txBox="1"/>
          <p:nvPr/>
        </p:nvSpPr>
        <p:spPr>
          <a:xfrm>
            <a:off x="8458200" y="2926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명절 직전 피크 운영, 종료 후 상품 · 키워드별 성과 분석</a:t>
            </a:r>
            <a:endParaRPr lang="en-US" sz="1400" dirty="0"/>
          </a:p>
        </p:txBody>
      </p:sp>
      <p:sp>
        <p:nvSpPr>
          <p:cNvPr id="20" name="card-140"/>
          <p:cNvSpPr/>
          <p:nvPr/>
        </p:nvSpPr>
        <p:spPr>
          <a:xfrm>
            <a:off x="548640" y="4114800"/>
            <a:ext cx="5410048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/>
        </p:spPr>
      </p:sp>
      <p:sp>
        <p:nvSpPr>
          <p:cNvPr id="21" name="text-141"/>
          <p:cNvSpPr txBox="1"/>
          <p:nvPr/>
        </p:nvSpPr>
        <p:spPr>
          <a:xfrm>
            <a:off x="914400" y="443484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5~16만 원대</a:t>
            </a:r>
            <a:endParaRPr lang="en-US" sz="3600" dirty="0"/>
          </a:p>
        </p:txBody>
      </p:sp>
      <p:sp>
        <p:nvSpPr>
          <p:cNvPr id="22" name="text-142"/>
          <p:cNvSpPr txBox="1"/>
          <p:nvPr/>
        </p:nvSpPr>
        <p:spPr>
          <a:xfrm>
            <a:off x="914400" y="521208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선물세트 가격대. 같은 광고비로 일상용 상품보다 큰 매출을 기대할 수 있습니다.</a:t>
            </a:r>
            <a:endParaRPr lang="en-US" sz="1500" dirty="0"/>
          </a:p>
        </p:txBody>
      </p:sp>
      <p:sp>
        <p:nvSpPr>
          <p:cNvPr id="23" name="card-143"/>
          <p:cNvSpPr/>
          <p:nvPr/>
        </p:nvSpPr>
        <p:spPr>
          <a:xfrm>
            <a:off x="6233008" y="4114800"/>
            <a:ext cx="5410048" cy="1783080"/>
          </a:xfrm>
          <a:prstGeom prst="roundRect">
            <a:avLst>
              <a:gd name="adj" fmla="val 6154"/>
            </a:avLst>
          </a:prstGeom>
          <a:solidFill>
            <a:schemeClr val="accent3"/>
          </a:solidFill>
          <a:ln/>
        </p:spPr>
      </p:sp>
      <p:sp>
        <p:nvSpPr>
          <p:cNvPr id="24" name="text-144"/>
          <p:cNvSpPr txBox="1"/>
          <p:nvPr/>
        </p:nvSpPr>
        <p:spPr>
          <a:xfrm>
            <a:off x="6598768" y="4434840"/>
            <a:ext cx="467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Sales Case</a:t>
            </a:r>
            <a:endParaRPr lang="en-US" sz="3600" dirty="0"/>
          </a:p>
        </p:txBody>
      </p:sp>
      <p:sp>
        <p:nvSpPr>
          <p:cNvPr id="25" name="text-145"/>
          <p:cNvSpPr txBox="1"/>
          <p:nvPr/>
        </p:nvSpPr>
        <p:spPr>
          <a:xfrm>
            <a:off x="6598768" y="5212080"/>
            <a:ext cx="467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명절 실적은 6개월 성과 자료의 핵심 사례로, 유통 MD · 기업 특판 제안에 활용됩니다.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 6개월 로드맵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매출 반응을 보며 단계적으로 증액합니다</a:t>
            </a:r>
            <a:endParaRPr lang="en-US" sz="2800" dirty="0"/>
          </a:p>
        </p:txBody>
      </p:sp>
      <p:sp>
        <p:nvSpPr>
          <p:cNvPr id="4" name="card-146"/>
          <p:cNvSpPr/>
          <p:nvPr/>
        </p:nvSpPr>
        <p:spPr>
          <a:xfrm>
            <a:off x="548640" y="1691640"/>
            <a:ext cx="1620469" cy="2606040"/>
          </a:xfrm>
          <a:prstGeom prst="roundRect">
            <a:avLst>
              <a:gd name="adj" fmla="val 6771"/>
            </a:avLst>
          </a:prstGeom>
          <a:solidFill>
            <a:schemeClr val="bg2"/>
          </a:solidFill>
          <a:ln/>
        </p:spPr>
      </p:sp>
      <p:sp>
        <p:nvSpPr>
          <p:cNvPr id="5" name="text-147"/>
          <p:cNvSpPr txBox="1"/>
          <p:nvPr/>
        </p:nvSpPr>
        <p:spPr>
          <a:xfrm>
            <a:off x="749808" y="1920240"/>
            <a:ext cx="12181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11월</a:t>
            </a:r>
            <a:endParaRPr lang="en-US" sz="2200" dirty="0"/>
          </a:p>
        </p:txBody>
      </p:sp>
      <p:sp>
        <p:nvSpPr>
          <p:cNvPr id="6" name="text-148"/>
          <p:cNvSpPr txBox="1"/>
          <p:nvPr/>
        </p:nvSpPr>
        <p:spPr>
          <a:xfrm>
            <a:off x="749808" y="2423160"/>
            <a:ext cx="1218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기반 구축</a:t>
            </a:r>
            <a:endParaRPr lang="en-US" sz="1700" dirty="0"/>
          </a:p>
        </p:txBody>
      </p:sp>
      <p:sp>
        <p:nvSpPr>
          <p:cNvPr id="7" name="text-149"/>
          <p:cNvSpPr txBox="1"/>
          <p:nvPr/>
        </p:nvSpPr>
        <p:spPr>
          <a:xfrm>
            <a:off x="731520" y="2880360"/>
            <a:ext cx="1346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계정 세팅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Baseline 측정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체험단 1차</a:t>
            </a:r>
            <a:endParaRPr lang="en-US" sz="1400" dirty="0"/>
          </a:p>
        </p:txBody>
      </p:sp>
      <p:sp>
        <p:nvSpPr>
          <p:cNvPr id="8" name="roas-chip-0"/>
          <p:cNvSpPr/>
          <p:nvPr/>
        </p:nvSpPr>
        <p:spPr>
          <a:xfrm>
            <a:off x="548640" y="4480560"/>
            <a:ext cx="1620469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9" name="text-150"/>
          <p:cNvSpPr txBox="1"/>
          <p:nvPr/>
        </p:nvSpPr>
        <p:spPr>
          <a:xfrm>
            <a:off x="548640" y="44805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참고 ROAS 100%</a:t>
            </a:r>
            <a:endParaRPr lang="en-US" sz="1400" dirty="0"/>
          </a:p>
        </p:txBody>
      </p:sp>
      <p:sp>
        <p:nvSpPr>
          <p:cNvPr id="10" name="card-151"/>
          <p:cNvSpPr/>
          <p:nvPr/>
        </p:nvSpPr>
        <p:spPr>
          <a:xfrm>
            <a:off x="2443429" y="1691640"/>
            <a:ext cx="1620469" cy="2606040"/>
          </a:xfrm>
          <a:prstGeom prst="roundRect">
            <a:avLst>
              <a:gd name="adj" fmla="val 6771"/>
            </a:avLst>
          </a:prstGeom>
          <a:solidFill>
            <a:schemeClr val="bg2"/>
          </a:solidFill>
          <a:ln/>
        </p:spPr>
      </p:sp>
      <p:sp>
        <p:nvSpPr>
          <p:cNvPr id="11" name="text-152"/>
          <p:cNvSpPr txBox="1"/>
          <p:nvPr/>
        </p:nvSpPr>
        <p:spPr>
          <a:xfrm>
            <a:off x="2644597" y="1920240"/>
            <a:ext cx="12181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12월</a:t>
            </a:r>
            <a:endParaRPr lang="en-US" sz="2200" dirty="0"/>
          </a:p>
        </p:txBody>
      </p:sp>
      <p:sp>
        <p:nvSpPr>
          <p:cNvPr id="12" name="text-153"/>
          <p:cNvSpPr txBox="1"/>
          <p:nvPr/>
        </p:nvSpPr>
        <p:spPr>
          <a:xfrm>
            <a:off x="2644597" y="2423160"/>
            <a:ext cx="1218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리뷰 확보</a:t>
            </a:r>
            <a:endParaRPr lang="en-US" sz="1700" dirty="0"/>
          </a:p>
        </p:txBody>
      </p:sp>
      <p:sp>
        <p:nvSpPr>
          <p:cNvPr id="13" name="text-154"/>
          <p:cNvSpPr txBox="1"/>
          <p:nvPr/>
        </p:nvSpPr>
        <p:spPr>
          <a:xfrm>
            <a:off x="2626309" y="2880360"/>
            <a:ext cx="1346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체험단 2차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광고 소재 테스트</a:t>
            </a:r>
            <a:endParaRPr lang="en-US" sz="1400" dirty="0"/>
          </a:p>
        </p:txBody>
      </p:sp>
      <p:sp>
        <p:nvSpPr>
          <p:cNvPr id="14" name="roas-chip-1"/>
          <p:cNvSpPr/>
          <p:nvPr/>
        </p:nvSpPr>
        <p:spPr>
          <a:xfrm>
            <a:off x="2443429" y="4480560"/>
            <a:ext cx="1620469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15" name="text-155"/>
          <p:cNvSpPr txBox="1"/>
          <p:nvPr/>
        </p:nvSpPr>
        <p:spPr>
          <a:xfrm>
            <a:off x="2443429" y="44805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참고 ROAS 150%</a:t>
            </a:r>
            <a:endParaRPr lang="en-US" sz="1400" dirty="0"/>
          </a:p>
        </p:txBody>
      </p:sp>
      <p:sp>
        <p:nvSpPr>
          <p:cNvPr id="16" name="card-156"/>
          <p:cNvSpPr/>
          <p:nvPr/>
        </p:nvSpPr>
        <p:spPr>
          <a:xfrm>
            <a:off x="4338218" y="1691640"/>
            <a:ext cx="1620469" cy="2606040"/>
          </a:xfrm>
          <a:prstGeom prst="roundRect">
            <a:avLst>
              <a:gd name="adj" fmla="val 6771"/>
            </a:avLst>
          </a:prstGeom>
          <a:solidFill>
            <a:schemeClr val="bg2"/>
          </a:solidFill>
          <a:ln/>
        </p:spPr>
      </p:sp>
      <p:sp>
        <p:nvSpPr>
          <p:cNvPr id="17" name="text-157"/>
          <p:cNvSpPr txBox="1"/>
          <p:nvPr/>
        </p:nvSpPr>
        <p:spPr>
          <a:xfrm>
            <a:off x="4539386" y="1920240"/>
            <a:ext cx="12181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1월</a:t>
            </a:r>
            <a:endParaRPr lang="en-US" sz="2200" dirty="0"/>
          </a:p>
        </p:txBody>
      </p:sp>
      <p:sp>
        <p:nvSpPr>
          <p:cNvPr id="18" name="text-158"/>
          <p:cNvSpPr txBox="1"/>
          <p:nvPr/>
        </p:nvSpPr>
        <p:spPr>
          <a:xfrm>
            <a:off x="4539386" y="2423160"/>
            <a:ext cx="1218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확대 ①</a:t>
            </a:r>
            <a:endParaRPr lang="en-US" sz="1700" dirty="0"/>
          </a:p>
        </p:txBody>
      </p:sp>
      <p:sp>
        <p:nvSpPr>
          <p:cNvPr id="19" name="text-159"/>
          <p:cNvSpPr txBox="1"/>
          <p:nvPr/>
        </p:nvSpPr>
        <p:spPr>
          <a:xfrm>
            <a:off x="4521098" y="2880360"/>
            <a:ext cx="1346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설 선물세트 집중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광고 증액</a:t>
            </a:r>
            <a:endParaRPr lang="en-US" sz="1400" dirty="0"/>
          </a:p>
        </p:txBody>
      </p:sp>
      <p:sp>
        <p:nvSpPr>
          <p:cNvPr id="20" name="roas-chip-2"/>
          <p:cNvSpPr/>
          <p:nvPr/>
        </p:nvSpPr>
        <p:spPr>
          <a:xfrm>
            <a:off x="4338218" y="4480560"/>
            <a:ext cx="1620469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</p:sp>
      <p:sp>
        <p:nvSpPr>
          <p:cNvPr id="21" name="text-160"/>
          <p:cNvSpPr txBox="1"/>
          <p:nvPr/>
        </p:nvSpPr>
        <p:spPr>
          <a:xfrm>
            <a:off x="4338218" y="44805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참고 ROAS 200%</a:t>
            </a:r>
            <a:endParaRPr lang="en-US" sz="1400" dirty="0"/>
          </a:p>
        </p:txBody>
      </p:sp>
      <p:sp>
        <p:nvSpPr>
          <p:cNvPr id="22" name="card-161"/>
          <p:cNvSpPr/>
          <p:nvPr/>
        </p:nvSpPr>
        <p:spPr>
          <a:xfrm>
            <a:off x="6233008" y="1691640"/>
            <a:ext cx="1620469" cy="2606040"/>
          </a:xfrm>
          <a:prstGeom prst="roundRect">
            <a:avLst>
              <a:gd name="adj" fmla="val 6771"/>
            </a:avLst>
          </a:prstGeom>
          <a:solidFill>
            <a:schemeClr val="bg2"/>
          </a:solidFill>
          <a:ln/>
        </p:spPr>
      </p:sp>
      <p:sp>
        <p:nvSpPr>
          <p:cNvPr id="23" name="text-162"/>
          <p:cNvSpPr txBox="1"/>
          <p:nvPr/>
        </p:nvSpPr>
        <p:spPr>
          <a:xfrm>
            <a:off x="6434176" y="1920240"/>
            <a:ext cx="12181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2월</a:t>
            </a:r>
            <a:endParaRPr lang="en-US" sz="2200" dirty="0"/>
          </a:p>
        </p:txBody>
      </p:sp>
      <p:sp>
        <p:nvSpPr>
          <p:cNvPr id="24" name="text-163"/>
          <p:cNvSpPr txBox="1"/>
          <p:nvPr/>
        </p:nvSpPr>
        <p:spPr>
          <a:xfrm>
            <a:off x="6434176" y="2423160"/>
            <a:ext cx="1218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확대 ②</a:t>
            </a:r>
            <a:endParaRPr lang="en-US" sz="1700" dirty="0"/>
          </a:p>
        </p:txBody>
      </p:sp>
      <p:sp>
        <p:nvSpPr>
          <p:cNvPr id="25" name="text-164"/>
          <p:cNvSpPr txBox="1"/>
          <p:nvPr/>
        </p:nvSpPr>
        <p:spPr>
          <a:xfrm>
            <a:off x="6415888" y="2880360"/>
            <a:ext cx="1346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명절 성과 분석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효율 채널 재배분</a:t>
            </a:r>
            <a:endParaRPr lang="en-US" sz="1400" dirty="0"/>
          </a:p>
        </p:txBody>
      </p:sp>
      <p:sp>
        <p:nvSpPr>
          <p:cNvPr id="26" name="roas-chip-3"/>
          <p:cNvSpPr/>
          <p:nvPr/>
        </p:nvSpPr>
        <p:spPr>
          <a:xfrm>
            <a:off x="6233008" y="4480560"/>
            <a:ext cx="1620469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7" name="text-165"/>
          <p:cNvSpPr txBox="1"/>
          <p:nvPr/>
        </p:nvSpPr>
        <p:spPr>
          <a:xfrm>
            <a:off x="6233008" y="44805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목표 ROAS 300%</a:t>
            </a:r>
            <a:endParaRPr lang="en-US" sz="1400" dirty="0"/>
          </a:p>
        </p:txBody>
      </p:sp>
      <p:sp>
        <p:nvSpPr>
          <p:cNvPr id="28" name="card-166"/>
          <p:cNvSpPr/>
          <p:nvPr/>
        </p:nvSpPr>
        <p:spPr>
          <a:xfrm>
            <a:off x="8127797" y="1691640"/>
            <a:ext cx="1620469" cy="2606040"/>
          </a:xfrm>
          <a:prstGeom prst="roundRect">
            <a:avLst>
              <a:gd name="adj" fmla="val 6771"/>
            </a:avLst>
          </a:prstGeom>
          <a:solidFill>
            <a:schemeClr val="bg2"/>
          </a:solidFill>
          <a:ln/>
        </p:spPr>
      </p:sp>
      <p:sp>
        <p:nvSpPr>
          <p:cNvPr id="29" name="text-167"/>
          <p:cNvSpPr txBox="1"/>
          <p:nvPr/>
        </p:nvSpPr>
        <p:spPr>
          <a:xfrm>
            <a:off x="8328965" y="1920240"/>
            <a:ext cx="12181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3월</a:t>
            </a:r>
            <a:endParaRPr lang="en-US" sz="2200" dirty="0"/>
          </a:p>
        </p:txBody>
      </p:sp>
      <p:sp>
        <p:nvSpPr>
          <p:cNvPr id="30" name="text-168"/>
          <p:cNvSpPr txBox="1"/>
          <p:nvPr/>
        </p:nvSpPr>
        <p:spPr>
          <a:xfrm>
            <a:off x="8328965" y="2423160"/>
            <a:ext cx="1218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집중</a:t>
            </a:r>
            <a:endParaRPr lang="en-US" sz="1700" dirty="0"/>
          </a:p>
        </p:txBody>
      </p:sp>
      <p:sp>
        <p:nvSpPr>
          <p:cNvPr id="31" name="text-169"/>
          <p:cNvSpPr txBox="1"/>
          <p:nvPr/>
        </p:nvSpPr>
        <p:spPr>
          <a:xfrm>
            <a:off x="8310677" y="2880360"/>
            <a:ext cx="1346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효율 상품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채널에 예산 집중</a:t>
            </a:r>
            <a:endParaRPr lang="en-US" sz="1400" dirty="0"/>
          </a:p>
        </p:txBody>
      </p:sp>
      <p:sp>
        <p:nvSpPr>
          <p:cNvPr id="32" name="roas-chip-4"/>
          <p:cNvSpPr/>
          <p:nvPr/>
        </p:nvSpPr>
        <p:spPr>
          <a:xfrm>
            <a:off x="8127797" y="4480560"/>
            <a:ext cx="1620469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3" name="text-170"/>
          <p:cNvSpPr txBox="1"/>
          <p:nvPr/>
        </p:nvSpPr>
        <p:spPr>
          <a:xfrm>
            <a:off x="8127797" y="44805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목표 ROAS 300%</a:t>
            </a:r>
            <a:endParaRPr lang="en-US" sz="1400" dirty="0"/>
          </a:p>
        </p:txBody>
      </p:sp>
      <p:sp>
        <p:nvSpPr>
          <p:cNvPr id="34" name="card-171"/>
          <p:cNvSpPr/>
          <p:nvPr/>
        </p:nvSpPr>
        <p:spPr>
          <a:xfrm>
            <a:off x="10022586" y="1691640"/>
            <a:ext cx="1620469" cy="2606040"/>
          </a:xfrm>
          <a:prstGeom prst="roundRect">
            <a:avLst>
              <a:gd name="adj" fmla="val 6771"/>
            </a:avLst>
          </a:prstGeom>
          <a:solidFill>
            <a:schemeClr val="bg2"/>
          </a:solidFill>
          <a:ln/>
        </p:spPr>
      </p:sp>
      <p:sp>
        <p:nvSpPr>
          <p:cNvPr id="35" name="text-172"/>
          <p:cNvSpPr txBox="1"/>
          <p:nvPr/>
        </p:nvSpPr>
        <p:spPr>
          <a:xfrm>
            <a:off x="10223754" y="1920240"/>
            <a:ext cx="121813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</a:rPr>
              <a:t>4월</a:t>
            </a:r>
            <a:endParaRPr lang="en-US" sz="2200" dirty="0"/>
          </a:p>
        </p:txBody>
      </p:sp>
      <p:sp>
        <p:nvSpPr>
          <p:cNvPr id="36" name="text-173"/>
          <p:cNvSpPr txBox="1"/>
          <p:nvPr/>
        </p:nvSpPr>
        <p:spPr>
          <a:xfrm>
            <a:off x="10223754" y="2423160"/>
            <a:ext cx="12181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chemeClr val="tx1"/>
                </a:solidFill>
              </a:rPr>
              <a:t>정리</a:t>
            </a:r>
            <a:endParaRPr lang="en-US" sz="1700" dirty="0"/>
          </a:p>
        </p:txBody>
      </p:sp>
      <p:sp>
        <p:nvSpPr>
          <p:cNvPr id="37" name="text-174"/>
          <p:cNvSpPr txBox="1"/>
          <p:nvPr/>
        </p:nvSpPr>
        <p:spPr>
          <a:xfrm>
            <a:off x="10205466" y="2880360"/>
            <a:ext cx="134614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성과 유지</a:t>
            </a:r>
            <a:endParaRPr lang="en-US" sz="1400" dirty="0"/>
          </a:p>
          <a:p>
            <a:pPr marL="127000" indent="-1270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6개월 성과 자료 작성</a:t>
            </a:r>
            <a:endParaRPr lang="en-US" sz="1400" dirty="0"/>
          </a:p>
        </p:txBody>
      </p:sp>
      <p:sp>
        <p:nvSpPr>
          <p:cNvPr id="38" name="roas-chip-5"/>
          <p:cNvSpPr/>
          <p:nvPr/>
        </p:nvSpPr>
        <p:spPr>
          <a:xfrm>
            <a:off x="10022586" y="4480560"/>
            <a:ext cx="1620469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9" name="text-175"/>
          <p:cNvSpPr txBox="1"/>
          <p:nvPr/>
        </p:nvSpPr>
        <p:spPr>
          <a:xfrm>
            <a:off x="10022586" y="4480560"/>
            <a:ext cx="16204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목표 ROAS 300%</a:t>
            </a:r>
            <a:endParaRPr lang="en-US" sz="1400" dirty="0"/>
          </a:p>
        </p:txBody>
      </p:sp>
      <p:sp>
        <p:nvSpPr>
          <p:cNvPr id="40" name="card-176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sp>
        <p:nvSpPr>
          <p:cNvPr id="41" name="text-177"/>
          <p:cNvSpPr txBox="1"/>
          <p:nvPr/>
        </p:nvSpPr>
        <p:spPr>
          <a:xfrm>
            <a:off x="868680" y="525780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증액 조건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    1~2개월차는 리뷰 목표 달성 시 다음 단계로. 3개월차부터는 전월 ROAS 기준 달성 시 증액, 미달 시 동결 후 키워드 · 상품 정리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 예산 옵션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최대 도달 예산에 따라 3가지 안을 제안합니다</a:t>
            </a:r>
            <a:endParaRPr lang="en-US" sz="2800" dirty="0"/>
          </a:p>
        </p:txBody>
      </p:sp>
      <p:sp>
        <p:nvSpPr>
          <p:cNvPr id="4" name="card-178"/>
          <p:cNvSpPr/>
          <p:nvPr/>
        </p:nvSpPr>
        <p:spPr>
          <a:xfrm>
            <a:off x="548640" y="1691640"/>
            <a:ext cx="7086600" cy="3931920"/>
          </a:xfrm>
          <a:prstGeom prst="roundRect">
            <a:avLst>
              <a:gd name="adj" fmla="val 2791"/>
            </a:avLst>
          </a:prstGeom>
          <a:solidFill>
            <a:schemeClr val="bg1"/>
          </a:solidFill>
          <a:ln w="12700">
            <a:solidFill>
              <a:srgbClr val="E5E8EB"/>
            </a:solidFill>
            <a:prstDash val="solid"/>
          </a:ln>
        </p:spPr>
      </p:sp>
      <p:graphicFrame>
        <p:nvGraphicFramePr>
          <p:cNvPr id="5" name="chart-budget-options" descr=""/>
          <p:cNvGraphicFramePr/>
          <p:nvPr/>
        </p:nvGraphicFramePr>
        <p:xfrm>
          <a:off x="685800" y="1783080"/>
          <a:ext cx="681228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179"/>
          <p:cNvSpPr/>
          <p:nvPr/>
        </p:nvSpPr>
        <p:spPr>
          <a:xfrm>
            <a:off x="7909560" y="1691640"/>
            <a:ext cx="3733495" cy="1127760"/>
          </a:xfrm>
          <a:prstGeom prst="roundRect">
            <a:avLst>
              <a:gd name="adj" fmla="val 9730"/>
            </a:avLst>
          </a:prstGeom>
          <a:solidFill>
            <a:schemeClr val="bg2"/>
          </a:solidFill>
          <a:ln/>
        </p:spPr>
      </p:sp>
      <p:sp>
        <p:nvSpPr>
          <p:cNvPr id="7" name="text-180"/>
          <p:cNvSpPr txBox="1"/>
          <p:nvPr/>
        </p:nvSpPr>
        <p:spPr>
          <a:xfrm>
            <a:off x="8229600" y="1947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A안</a:t>
            </a:r>
            <a:endParaRPr lang="en-US" sz="1800" dirty="0"/>
          </a:p>
        </p:txBody>
      </p:sp>
      <p:sp>
        <p:nvSpPr>
          <p:cNvPr id="8" name="text-181"/>
          <p:cNvSpPr txBox="1"/>
          <p:nvPr/>
        </p:nvSpPr>
        <p:spPr>
          <a:xfrm>
            <a:off x="822960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최대 월 500만 원</a:t>
            </a:r>
            <a:endParaRPr lang="en-US" sz="1400" dirty="0"/>
          </a:p>
        </p:txBody>
      </p:sp>
      <p:sp>
        <p:nvSpPr>
          <p:cNvPr id="9" name="text-182"/>
          <p:cNvSpPr txBox="1"/>
          <p:nvPr/>
        </p:nvSpPr>
        <p:spPr>
          <a:xfrm>
            <a:off x="9585655" y="1892808"/>
            <a:ext cx="1737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6개월 합계</a:t>
            </a:r>
            <a:endParaRPr lang="en-US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2,050만 원</a:t>
            </a:r>
            <a:endParaRPr lang="en-US" sz="2000" dirty="0"/>
          </a:p>
        </p:txBody>
      </p:sp>
      <p:sp>
        <p:nvSpPr>
          <p:cNvPr id="10" name="card-183"/>
          <p:cNvSpPr/>
          <p:nvPr/>
        </p:nvSpPr>
        <p:spPr>
          <a:xfrm>
            <a:off x="7909560" y="3093720"/>
            <a:ext cx="3733495" cy="1127760"/>
          </a:xfrm>
          <a:prstGeom prst="roundRect">
            <a:avLst>
              <a:gd name="adj" fmla="val 9730"/>
            </a:avLst>
          </a:prstGeom>
          <a:solidFill>
            <a:schemeClr val="accent1"/>
          </a:solidFill>
          <a:ln/>
        </p:spPr>
      </p:sp>
      <p:sp>
        <p:nvSpPr>
          <p:cNvPr id="11" name="text-184"/>
          <p:cNvSpPr txBox="1"/>
          <p:nvPr/>
        </p:nvSpPr>
        <p:spPr>
          <a:xfrm>
            <a:off x="8229600" y="33497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bg1"/>
                </a:solidFill>
              </a:rPr>
              <a:t>B안 · 권장</a:t>
            </a:r>
            <a:endParaRPr lang="en-US" sz="1800" dirty="0"/>
          </a:p>
        </p:txBody>
      </p:sp>
      <p:sp>
        <p:nvSpPr>
          <p:cNvPr id="12" name="text-185"/>
          <p:cNvSpPr txBox="1"/>
          <p:nvPr/>
        </p:nvSpPr>
        <p:spPr>
          <a:xfrm>
            <a:off x="8229600" y="3733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최대 월 750만 원</a:t>
            </a:r>
            <a:endParaRPr lang="en-US" sz="1400" dirty="0"/>
          </a:p>
        </p:txBody>
      </p:sp>
      <p:sp>
        <p:nvSpPr>
          <p:cNvPr id="13" name="text-186"/>
          <p:cNvSpPr txBox="1"/>
          <p:nvPr/>
        </p:nvSpPr>
        <p:spPr>
          <a:xfrm>
            <a:off x="9585655" y="3294888"/>
            <a:ext cx="1737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accent3"/>
                </a:solidFill>
              </a:rPr>
              <a:t>6개월 합계</a:t>
            </a:r>
            <a:endParaRPr lang="en-US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3,050만 원</a:t>
            </a:r>
            <a:endParaRPr lang="en-US" sz="2000" dirty="0"/>
          </a:p>
        </p:txBody>
      </p:sp>
      <p:sp>
        <p:nvSpPr>
          <p:cNvPr id="14" name="card-187"/>
          <p:cNvSpPr/>
          <p:nvPr/>
        </p:nvSpPr>
        <p:spPr>
          <a:xfrm>
            <a:off x="7909560" y="4495800"/>
            <a:ext cx="3733495" cy="1127760"/>
          </a:xfrm>
          <a:prstGeom prst="roundRect">
            <a:avLst>
              <a:gd name="adj" fmla="val 9730"/>
            </a:avLst>
          </a:prstGeom>
          <a:solidFill>
            <a:schemeClr val="bg2"/>
          </a:solidFill>
          <a:ln/>
        </p:spPr>
      </p:sp>
      <p:sp>
        <p:nvSpPr>
          <p:cNvPr id="15" name="text-188"/>
          <p:cNvSpPr txBox="1"/>
          <p:nvPr/>
        </p:nvSpPr>
        <p:spPr>
          <a:xfrm>
            <a:off x="8229600" y="47518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chemeClr val="tx1"/>
                </a:solidFill>
              </a:rPr>
              <a:t>C안</a:t>
            </a:r>
            <a:endParaRPr lang="en-US" sz="1800" dirty="0"/>
          </a:p>
        </p:txBody>
      </p:sp>
      <p:sp>
        <p:nvSpPr>
          <p:cNvPr id="16" name="text-189"/>
          <p:cNvSpPr txBox="1"/>
          <p:nvPr/>
        </p:nvSpPr>
        <p:spPr>
          <a:xfrm>
            <a:off x="8229600" y="5135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최대 월 1,000만 원</a:t>
            </a:r>
            <a:endParaRPr lang="en-US" sz="1400" dirty="0"/>
          </a:p>
        </p:txBody>
      </p:sp>
      <p:sp>
        <p:nvSpPr>
          <p:cNvPr id="17" name="text-190"/>
          <p:cNvSpPr txBox="1"/>
          <p:nvPr/>
        </p:nvSpPr>
        <p:spPr>
          <a:xfrm>
            <a:off x="9585655" y="4696968"/>
            <a:ext cx="1737360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chemeClr val="accent5"/>
                </a:solidFill>
              </a:rPr>
              <a:t>6개월 합계</a:t>
            </a:r>
            <a:endParaRPr lang="en-US" sz="20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accent1"/>
                </a:solidFill>
              </a:rPr>
              <a:t>4,050만 원</a:t>
            </a:r>
            <a:endParaRPr lang="en-US" sz="2000" dirty="0"/>
          </a:p>
        </p:txBody>
      </p:sp>
      <p:sp>
        <p:nvSpPr>
          <p:cNvPr id="18" name="text-191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6개월 광고비 합계 기준 · VAT 별도 | 대행수수료: 쿠팡 광고비의 15% (네이버 없음) | 체험단 운영비 별도 견적 | 상세페이지 개선 선택 시 별도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 목표 ROAS 300% 기준 예상 매출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4개월차부터 광고비의 3배 매출을 목표로 합니다</a:t>
            </a:r>
            <a:endParaRPr lang="en-US" sz="2800" dirty="0"/>
          </a:p>
        </p:txBody>
      </p:sp>
      <p:sp>
        <p:nvSpPr>
          <p:cNvPr id="4" name="card-192"/>
          <p:cNvSpPr/>
          <p:nvPr/>
        </p:nvSpPr>
        <p:spPr>
          <a:xfrm>
            <a:off x="54864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text-193"/>
          <p:cNvSpPr txBox="1"/>
          <p:nvPr/>
        </p:nvSpPr>
        <p:spPr>
          <a:xfrm>
            <a:off x="868680" y="1947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A안 · 6개월차 월 광고 매출</a:t>
            </a:r>
            <a:endParaRPr lang="en-US" sz="1400" dirty="0"/>
          </a:p>
        </p:txBody>
      </p:sp>
      <p:sp>
        <p:nvSpPr>
          <p:cNvPr id="6" name="text-194"/>
          <p:cNvSpPr txBox="1"/>
          <p:nvPr/>
        </p:nvSpPr>
        <p:spPr>
          <a:xfrm>
            <a:off x="868680" y="23134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1,500만 원</a:t>
            </a:r>
            <a:endParaRPr lang="en-US" sz="3600" dirty="0"/>
          </a:p>
        </p:txBody>
      </p:sp>
      <p:sp>
        <p:nvSpPr>
          <p:cNvPr id="7" name="card-195"/>
          <p:cNvSpPr/>
          <p:nvPr/>
        </p:nvSpPr>
        <p:spPr>
          <a:xfrm>
            <a:off x="434340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</p:sp>
      <p:sp>
        <p:nvSpPr>
          <p:cNvPr id="8" name="text-196"/>
          <p:cNvSpPr txBox="1"/>
          <p:nvPr/>
        </p:nvSpPr>
        <p:spPr>
          <a:xfrm>
            <a:off x="4663440" y="1947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chemeClr val="bg1"/>
                </a:solidFill>
              </a:rPr>
              <a:t>B안 · 권장 · 6개월차 월 광고 매출</a:t>
            </a:r>
            <a:endParaRPr lang="en-US" sz="1400" dirty="0"/>
          </a:p>
        </p:txBody>
      </p:sp>
      <p:sp>
        <p:nvSpPr>
          <p:cNvPr id="9" name="text-197"/>
          <p:cNvSpPr txBox="1"/>
          <p:nvPr/>
        </p:nvSpPr>
        <p:spPr>
          <a:xfrm>
            <a:off x="4663440" y="23134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bg1"/>
                </a:solidFill>
              </a:rPr>
              <a:t>2,250만 원</a:t>
            </a:r>
            <a:endParaRPr lang="en-US" sz="3600" dirty="0"/>
          </a:p>
        </p:txBody>
      </p:sp>
      <p:sp>
        <p:nvSpPr>
          <p:cNvPr id="10" name="card-198"/>
          <p:cNvSpPr/>
          <p:nvPr/>
        </p:nvSpPr>
        <p:spPr>
          <a:xfrm>
            <a:off x="8138160" y="1691640"/>
            <a:ext cx="35204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text-199"/>
          <p:cNvSpPr txBox="1"/>
          <p:nvPr/>
        </p:nvSpPr>
        <p:spPr>
          <a:xfrm>
            <a:off x="8458200" y="19476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C안 · 6개월차 월 광고 매출</a:t>
            </a:r>
            <a:endParaRPr lang="en-US" sz="1400" dirty="0"/>
          </a:p>
        </p:txBody>
      </p:sp>
      <p:sp>
        <p:nvSpPr>
          <p:cNvPr id="12" name="text-200"/>
          <p:cNvSpPr txBox="1"/>
          <p:nvPr/>
        </p:nvSpPr>
        <p:spPr>
          <a:xfrm>
            <a:off x="8458200" y="231343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</a:rPr>
              <a:t>3,000만 원</a:t>
            </a:r>
            <a:endParaRPr lang="en-US" sz="3600" dirty="0"/>
          </a:p>
        </p:txBody>
      </p:sp>
      <p:graphicFrame>
        <p:nvGraphicFramePr>
          <p:cNvPr id="14" name="table-roa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63269"/>
                <a:gridCol w="1163269"/>
                <a:gridCol w="1163269"/>
                <a:gridCol w="1163269"/>
                <a:gridCol w="1163269"/>
                <a:gridCol w="1163269"/>
                <a:gridCol w="1371600"/>
                <a:gridCol w="137160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1개월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2개월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3개월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4개월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5개월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6개월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6개월 합계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평균 ROAS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목표 ROAS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150%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200%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300%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300%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300%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-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A안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600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1,500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1,500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5,250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256%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B안 (권장)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900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1,800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2,250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2,250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7,850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257%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C안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600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2,400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3,000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3,000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10,450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258%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4" name="text-201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단위: 만 원. 광고 기여 매출 = 광고비 × 목표 ROAS. 현재 자연 매출(월 약 300만 원)은 별도이며, ROAS는 대행수수료를 제외한 광고비 기준입니다. 1~3개월차 ROAS는 리뷰 확보 단계의 참고치입니다.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05 KPI와 성과 측정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온라인 지표로 매월 측정하고 보고합니다</a:t>
            </a:r>
            <a:endParaRPr lang="en-US" sz="2800" dirty="0"/>
          </a:p>
        </p:txBody>
      </p:sp>
      <p:graphicFrame>
        <p:nvGraphicFramePr>
          <p:cNvPr id="15" name="table-kpi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023360"/>
                <a:gridCol w="524225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영역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목표 · 측정 방법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리뷰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대표 상품 리뷰 수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2개월차 50건+, 6개월차 150건+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브랜드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"킹오브김" 브랜드 검색량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Baseline 대비 월별 증가율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유입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스토어 방문자 수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월별 추이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전환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구매전환율 · 신규 구매자 수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월별 추이, 매체별 비교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매출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온라인 매출 · 광고 ROAS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Baseline 월 300만 원 대비, 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4개월차 이후 ROAS 300%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재구매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재구매 고객 비율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4개월차 이후 측정</a:t>
                      </a:r>
                      <a:endParaRPr lang="en-US" sz="1400" dirty="0"/>
                    </a:p>
                  </a:txBody>
                  <a:tcPr marL="228600" marR="228600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card-202"/>
          <p:cNvSpPr/>
          <p:nvPr/>
        </p:nvSpPr>
        <p:spPr>
          <a:xfrm>
            <a:off x="548640" y="516636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/>
        </p:spPr>
      </p:sp>
      <p:sp>
        <p:nvSpPr>
          <p:cNvPr id="6" name="text-203"/>
          <p:cNvSpPr txBox="1"/>
          <p:nvPr/>
        </p:nvSpPr>
        <p:spPr>
          <a:xfrm>
            <a:off x="868680" y="5166360"/>
            <a:ext cx="104543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chemeClr val="accent1"/>
                </a:solidFill>
              </a:rPr>
              <a:t>월간 리포트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    지표 추이, 매체별 효율, 예산 재배분 내역과 다음 달 운영 계획을 함께 공유합니다.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06 기대 효과와 리스크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온라인 성과가 유통 확대의 근거가 됩니다</a:t>
            </a:r>
            <a:endParaRPr lang="en-US" sz="2800" dirty="0"/>
          </a:p>
        </p:txBody>
      </p:sp>
      <p:sp>
        <p:nvSpPr>
          <p:cNvPr id="4" name="card-204"/>
          <p:cNvSpPr/>
          <p:nvPr/>
        </p:nvSpPr>
        <p:spPr>
          <a:xfrm>
            <a:off x="548640" y="1691640"/>
            <a:ext cx="4480560" cy="3931920"/>
          </a:xfrm>
          <a:prstGeom prst="roundRect">
            <a:avLst>
              <a:gd name="adj" fmla="val 2791"/>
            </a:avLst>
          </a:prstGeom>
          <a:solidFill>
            <a:schemeClr val="accent1"/>
          </a:solidFill>
          <a:ln/>
        </p:spPr>
      </p:sp>
      <p:sp>
        <p:nvSpPr>
          <p:cNvPr id="5" name="text-205"/>
          <p:cNvSpPr txBox="1"/>
          <p:nvPr/>
        </p:nvSpPr>
        <p:spPr>
          <a:xfrm>
            <a:off x="914400" y="2057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chemeClr val="bg1"/>
                </a:solidFill>
              </a:rPr>
              <a:t>6개월 후 결과물</a:t>
            </a:r>
            <a:endParaRPr lang="en-US" sz="2200" dirty="0"/>
          </a:p>
        </p:txBody>
      </p:sp>
      <p:sp>
        <p:nvSpPr>
          <p:cNvPr id="6" name="badge-206"/>
          <p:cNvSpPr/>
          <p:nvPr/>
        </p:nvSpPr>
        <p:spPr>
          <a:xfrm>
            <a:off x="914400" y="278892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badge-text-206"/>
          <p:cNvSpPr txBox="1"/>
          <p:nvPr/>
        </p:nvSpPr>
        <p:spPr>
          <a:xfrm>
            <a:off x="914400" y="2788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✓</a:t>
            </a:r>
            <a:endParaRPr lang="en-US" sz="1600" dirty="0"/>
          </a:p>
        </p:txBody>
      </p:sp>
      <p:sp>
        <p:nvSpPr>
          <p:cNvPr id="8" name="text-207"/>
          <p:cNvSpPr txBox="1"/>
          <p:nvPr/>
        </p:nvSpPr>
        <p:spPr>
          <a:xfrm>
            <a:off x="1508760" y="2743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리뷰가 갖춰진 대표 상품</a:t>
            </a:r>
            <a:endParaRPr lang="en-US" sz="1600" dirty="0"/>
          </a:p>
        </p:txBody>
      </p:sp>
      <p:sp>
        <p:nvSpPr>
          <p:cNvPr id="9" name="badge-208"/>
          <p:cNvSpPr/>
          <p:nvPr/>
        </p:nvSpPr>
        <p:spPr>
          <a:xfrm>
            <a:off x="914400" y="365760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0" name="badge-text-208"/>
          <p:cNvSpPr txBox="1"/>
          <p:nvPr/>
        </p:nvSpPr>
        <p:spPr>
          <a:xfrm>
            <a:off x="9144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-209"/>
          <p:cNvSpPr txBox="1"/>
          <p:nvPr/>
        </p:nvSpPr>
        <p:spPr>
          <a:xfrm>
            <a:off x="1508760" y="36118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측정 가능한 브랜드 검색량</a:t>
            </a:r>
            <a:endParaRPr lang="en-US" sz="1600" dirty="0"/>
          </a:p>
        </p:txBody>
      </p:sp>
      <p:sp>
        <p:nvSpPr>
          <p:cNvPr id="12" name="badge-210"/>
          <p:cNvSpPr/>
          <p:nvPr/>
        </p:nvSpPr>
        <p:spPr>
          <a:xfrm>
            <a:off x="914400" y="452628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13" name="badge-text-210"/>
          <p:cNvSpPr txBox="1"/>
          <p:nvPr/>
        </p:nvSpPr>
        <p:spPr>
          <a:xfrm>
            <a:off x="91440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✓</a:t>
            </a:r>
            <a:endParaRPr lang="en-US" sz="1600" dirty="0"/>
          </a:p>
        </p:txBody>
      </p:sp>
      <p:sp>
        <p:nvSpPr>
          <p:cNvPr id="14" name="text-211"/>
          <p:cNvSpPr txBox="1"/>
          <p:nvPr/>
        </p:nvSpPr>
        <p:spPr>
          <a:xfrm>
            <a:off x="1508760" y="44805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bg1"/>
                </a:solidFill>
              </a:rPr>
              <a:t>MD · 조달 담당자에게 보여줄 온라인 판매 성과 자료</a:t>
            </a:r>
            <a:endParaRPr lang="en-US" sz="1600" dirty="0"/>
          </a:p>
        </p:txBody>
      </p:sp>
      <p:sp>
        <p:nvSpPr>
          <p:cNvPr id="15" name="card-212"/>
          <p:cNvSpPr/>
          <p:nvPr/>
        </p:nvSpPr>
        <p:spPr>
          <a:xfrm>
            <a:off x="5303520" y="1691640"/>
            <a:ext cx="6339535" cy="1127760"/>
          </a:xfrm>
          <a:prstGeom prst="roundRect">
            <a:avLst>
              <a:gd name="adj" fmla="val 9730"/>
            </a:avLst>
          </a:prstGeom>
          <a:solidFill>
            <a:schemeClr val="bg2"/>
          </a:solidFill>
          <a:ln/>
        </p:spPr>
      </p:sp>
      <p:sp>
        <p:nvSpPr>
          <p:cNvPr id="16" name="text-213"/>
          <p:cNvSpPr txBox="1"/>
          <p:nvPr/>
        </p:nvSpPr>
        <p:spPr>
          <a:xfrm>
            <a:off x="5623560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</a:rPr>
              <a:t>리스크</a:t>
            </a:r>
            <a:endParaRPr lang="en-US" sz="1300" dirty="0"/>
          </a:p>
        </p:txBody>
      </p:sp>
      <p:sp>
        <p:nvSpPr>
          <p:cNvPr id="17" name="text-214"/>
          <p:cNvSpPr txBox="1"/>
          <p:nvPr/>
        </p:nvSpPr>
        <p:spPr>
          <a:xfrm>
            <a:off x="5623560" y="2221992"/>
            <a:ext cx="2666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리뷰 확보 지연</a:t>
            </a:r>
            <a:endParaRPr lang="en-US" sz="1600" dirty="0"/>
          </a:p>
        </p:txBody>
      </p:sp>
      <p:sp>
        <p:nvSpPr>
          <p:cNvPr id="18" name="text-215"/>
          <p:cNvSpPr txBox="1"/>
          <p:nvPr/>
        </p:nvSpPr>
        <p:spPr>
          <a:xfrm>
            <a:off x="8656168" y="19202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대응</a:t>
            </a:r>
            <a:endParaRPr lang="en-US" sz="1300" dirty="0"/>
          </a:p>
        </p:txBody>
      </p:sp>
      <p:sp>
        <p:nvSpPr>
          <p:cNvPr id="19" name="text-216"/>
          <p:cNvSpPr txBox="1"/>
          <p:nvPr/>
        </p:nvSpPr>
        <p:spPr>
          <a:xfrm>
            <a:off x="8656168" y="2221992"/>
            <a:ext cx="2666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증액 시점을 늦추고 체험단 추가 운영</a:t>
            </a:r>
            <a:endParaRPr lang="en-US" sz="1500" dirty="0"/>
          </a:p>
        </p:txBody>
      </p:sp>
      <p:sp>
        <p:nvSpPr>
          <p:cNvPr id="20" name="card-217"/>
          <p:cNvSpPr/>
          <p:nvPr/>
        </p:nvSpPr>
        <p:spPr>
          <a:xfrm>
            <a:off x="5303520" y="3093720"/>
            <a:ext cx="6339535" cy="1127760"/>
          </a:xfrm>
          <a:prstGeom prst="roundRect">
            <a:avLst>
              <a:gd name="adj" fmla="val 9730"/>
            </a:avLst>
          </a:prstGeom>
          <a:solidFill>
            <a:schemeClr val="bg2"/>
          </a:solidFill>
          <a:ln/>
        </p:spPr>
      </p:sp>
      <p:sp>
        <p:nvSpPr>
          <p:cNvPr id="21" name="text-218"/>
          <p:cNvSpPr txBox="1"/>
          <p:nvPr/>
        </p:nvSpPr>
        <p:spPr>
          <a:xfrm>
            <a:off x="5623560" y="3322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</a:rPr>
              <a:t>리스크</a:t>
            </a:r>
            <a:endParaRPr lang="en-US" sz="1300" dirty="0"/>
          </a:p>
        </p:txBody>
      </p:sp>
      <p:sp>
        <p:nvSpPr>
          <p:cNvPr id="22" name="text-219"/>
          <p:cNvSpPr txBox="1"/>
          <p:nvPr/>
        </p:nvSpPr>
        <p:spPr>
          <a:xfrm>
            <a:off x="5623560" y="3624072"/>
            <a:ext cx="2666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낮은 객단가로 효율 저조</a:t>
            </a:r>
            <a:endParaRPr lang="en-US" sz="1600" dirty="0"/>
          </a:p>
        </p:txBody>
      </p:sp>
      <p:sp>
        <p:nvSpPr>
          <p:cNvPr id="23" name="text-220"/>
          <p:cNvSpPr txBox="1"/>
          <p:nvPr/>
        </p:nvSpPr>
        <p:spPr>
          <a:xfrm>
            <a:off x="8656168" y="3322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대응</a:t>
            </a:r>
            <a:endParaRPr lang="en-US" sz="1300" dirty="0"/>
          </a:p>
        </p:txBody>
      </p:sp>
      <p:sp>
        <p:nvSpPr>
          <p:cNvPr id="24" name="text-221"/>
          <p:cNvSpPr txBox="1"/>
          <p:nvPr/>
        </p:nvSpPr>
        <p:spPr>
          <a:xfrm>
            <a:off x="8656168" y="3624072"/>
            <a:ext cx="2666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세트 · 대용량 위주로 전환, 묶음 구성 제안</a:t>
            </a:r>
            <a:endParaRPr lang="en-US" sz="1500" dirty="0"/>
          </a:p>
        </p:txBody>
      </p:sp>
      <p:sp>
        <p:nvSpPr>
          <p:cNvPr id="25" name="card-222"/>
          <p:cNvSpPr/>
          <p:nvPr/>
        </p:nvSpPr>
        <p:spPr>
          <a:xfrm>
            <a:off x="5303520" y="4495800"/>
            <a:ext cx="6339535" cy="1127760"/>
          </a:xfrm>
          <a:prstGeom prst="roundRect">
            <a:avLst>
              <a:gd name="adj" fmla="val 9730"/>
            </a:avLst>
          </a:prstGeom>
          <a:solidFill>
            <a:schemeClr val="bg2"/>
          </a:solidFill>
          <a:ln/>
        </p:spPr>
      </p:sp>
      <p:sp>
        <p:nvSpPr>
          <p:cNvPr id="26" name="text-223"/>
          <p:cNvSpPr txBox="1"/>
          <p:nvPr/>
        </p:nvSpPr>
        <p:spPr>
          <a:xfrm>
            <a:off x="5623560" y="4724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6"/>
                </a:solidFill>
              </a:rPr>
              <a:t>리스크</a:t>
            </a:r>
            <a:endParaRPr lang="en-US" sz="1300" dirty="0"/>
          </a:p>
        </p:txBody>
      </p:sp>
      <p:sp>
        <p:nvSpPr>
          <p:cNvPr id="27" name="text-224"/>
          <p:cNvSpPr txBox="1"/>
          <p:nvPr/>
        </p:nvSpPr>
        <p:spPr>
          <a:xfrm>
            <a:off x="5623560" y="5026152"/>
            <a:ext cx="2666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쿠팡 효율 저조</a:t>
            </a:r>
            <a:endParaRPr lang="en-US" sz="1600" dirty="0"/>
          </a:p>
        </p:txBody>
      </p:sp>
      <p:sp>
        <p:nvSpPr>
          <p:cNvPr id="28" name="text-225"/>
          <p:cNvSpPr txBox="1"/>
          <p:nvPr/>
        </p:nvSpPr>
        <p:spPr>
          <a:xfrm>
            <a:off x="8656168" y="4724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chemeClr val="accent1"/>
                </a:solidFill>
              </a:rPr>
              <a:t>대응</a:t>
            </a:r>
            <a:endParaRPr lang="en-US" sz="1300" dirty="0"/>
          </a:p>
        </p:txBody>
      </p:sp>
      <p:sp>
        <p:nvSpPr>
          <p:cNvPr id="29" name="text-226"/>
          <p:cNvSpPr txBox="1"/>
          <p:nvPr/>
        </p:nvSpPr>
        <p:spPr>
          <a:xfrm>
            <a:off x="8656168" y="5026152"/>
            <a:ext cx="2666848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2"/>
                </a:solidFill>
              </a:rPr>
              <a:t>네이버로 예산 이동</a:t>
            </a:r>
            <a:endParaRPr lang="en-US" sz="1500" dirty="0"/>
          </a:p>
        </p:txBody>
      </p:sp>
      <p:sp>
        <p:nvSpPr>
          <p:cNvPr id="30" name="text-227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본 제안의 KPI는 온라인 지표에 한정되며, 오프라인 판매 · 신규 입점 · 조달 매출은 범위 외입니다.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부록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49808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옵션별 · 매체별 월 광고비 상세</a:t>
            </a:r>
            <a:endParaRPr lang="en-US" sz="2800" dirty="0"/>
          </a:p>
        </p:txBody>
      </p:sp>
      <p:graphicFrame>
        <p:nvGraphicFramePr>
          <p:cNvPr id="17" name="table-append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011680"/>
                <a:gridCol w="1125169"/>
                <a:gridCol w="1125169"/>
                <a:gridCol w="1125169"/>
                <a:gridCol w="1125169"/>
                <a:gridCol w="1125169"/>
                <a:gridCol w="1125169"/>
                <a:gridCol w="132588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옵션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매체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1개월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2개월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3개월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4개월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5개월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6개월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29260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A안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네이버 쇼핑검색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1,030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네이버 파워링크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쿠팡 광고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690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광고비 합계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2,050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B안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(권장)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네이버 쇼핑검색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1,540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네이버 파워링크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120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120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490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쿠팡 광고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</a:rPr>
                        <a:t>1,020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광고비 합계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750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3,050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292608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C안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네이버 쇼핑검색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2,030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네이버 파워링크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680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쿠팡 광고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80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270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330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1,340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2608">
                <a:tc vMerge="1">
                  <a:tcPr/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광고비 합계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800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1,000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4,050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-228"/>
          <p:cNvSpPr txBox="1"/>
          <p:nvPr/>
        </p:nvSpPr>
        <p:spPr>
          <a:xfrm>
            <a:off x="548640" y="576072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5"/>
                </a:solidFill>
              </a:rPr>
              <a:t>단위: 만 원, VAT 별도. 쿠팡 대행수수료(광고비의 15%) 6개월 합계: A안 103.5 · B안 153 · C안 201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6469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B95A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CECORE KING OF KIM">
  <a:themeElements>
    <a:clrScheme name="NICECORE KING OF KIM">
      <a:dk1>
        <a:srgbClr val="191F28"/>
      </a:dk1>
      <a:lt1>
        <a:srgbClr val="FFFFFF"/>
      </a:lt1>
      <a:dk2>
        <a:srgbClr val="4E5968"/>
      </a:dk2>
      <a:lt2>
        <a:srgbClr val="F2F4F6"/>
      </a:lt2>
      <a:accent1>
        <a:srgbClr val="3182F6"/>
      </a:accent1>
      <a:accent2>
        <a:srgbClr val="1B64DA"/>
      </a:accent2>
      <a:accent3>
        <a:srgbClr val="E8F3FF"/>
      </a:accent3>
      <a:accent4>
        <a:srgbClr val="B0D4FF"/>
      </a:accent4>
      <a:accent5>
        <a:srgbClr val="8B95A1"/>
      </a:accent5>
      <a:accent6>
        <a:srgbClr val="F04452"/>
      </a:accent6>
      <a:hlink>
        <a:srgbClr val="3182F6"/>
      </a:hlink>
      <a:folHlink>
        <a:srgbClr val="1B64DA"/>
      </a:folHlink>
    </a:clrScheme>
    <a:fontScheme name="NICECORE KING OF KIM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NICECORE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KING OF KIM 온라인 판매 활성화 제안서</dc:title>
  <dc:subject>PptxGenJS Presentation</dc:subject>
  <dc:creator>NICECORE</dc:creator>
  <cp:lastModifiedBy>NICECORE</cp:lastModifiedBy>
  <cp:revision>1</cp:revision>
  <dcterms:created xsi:type="dcterms:W3CDTF">2026-10-12T01:30:24Z</dcterms:created>
  <dcterms:modified xsi:type="dcterms:W3CDTF">2026-10-12T01:30:24Z</dcterms:modified>
</cp:coreProperties>
</file>