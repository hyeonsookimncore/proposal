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9" r:id="rId40"/>
    <p:sldId id="290" r:id="rId41"/>
    <p:sldId id="291" r:id="rId42"/>
    <p:sldId id="276" r:id="rId22"/>
    <p:sldId id="277" r:id="rId23"/>
    <p:sldId id="292" r:id="rId43"/>
    <p:sldId id="293" r:id="rId44"/>
    <p:sldId id="294" r:id="rId45"/>
    <p:sldId id="278" r:id="rId24"/>
    <p:sldId id="279" r:id="rId25"/>
    <p:sldId id="280" r:id="rId26"/>
    <p:sldId id="295" r:id="rId4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F8F4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2" autoAdjust="0"/>
    <p:restoredTop sz="94660"/>
  </p:normalViewPr>
  <p:slideViewPr>
    <p:cSldViewPr snapToGrid="0">
      <p:cViewPr>
        <p:scale>
          <a:sx n="75" d="100"/>
          <a:sy n="75" d="100"/>
        </p:scale>
        <p:origin x="1584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기기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기기</c:v>
                </c:pt>
              </c:strCache>
            </c:strRef>
          </c:tx>
          <c:dPt>
            <c:idx val="0"/>
            <c:bubble3D val="0"/>
            <c:spPr>
              <a:solidFill>
                <a:srgbClr val="7B2FB5"/>
              </a:solidFill>
            </c:spPr>
            <c:extLst>
              <c:ext xmlns:c16="http://schemas.microsoft.com/office/drawing/2014/chart" uri="{C3380CC4-5D6E-409C-BE32-E72D297353CC}">
                <c16:uniqueId val="{00000001-458D-4CE5-B870-3CC888A334B4}"/>
              </c:ext>
            </c:extLst>
          </c:dPt>
          <c:dPt>
            <c:idx val="1"/>
            <c:bubble3D val="0"/>
            <c:spPr>
              <a:solidFill>
                <a:srgbClr val="F6D2A8"/>
              </a:solidFill>
            </c:spPr>
            <c:extLst>
              <c:ext xmlns:c16="http://schemas.microsoft.com/office/drawing/2014/chart" uri="{C3380CC4-5D6E-409C-BE32-E72D297353CC}">
                <c16:uniqueId val="{00000003-458D-4CE5-B870-3CC888A334B4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58D-4CE5-B870-3CC888A334B4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211D1E"/>
                      </a:solidFill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58D-4CE5-B870-3CC888A334B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모바일</c:v>
                </c:pt>
                <c:pt idx="1">
                  <c:v>PC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58D-4CE5-B870-3CC888A334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5E5759"/>
          </a:solidFill>
          <a:latin typeface="Pretendard"/>
        </a:defRPr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성별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성별</c:v>
                </c:pt>
              </c:strCache>
            </c:strRef>
          </c:tx>
          <c:dPt>
            <c:idx val="0"/>
            <c:bubble3D val="0"/>
            <c:spPr>
              <a:solidFill>
                <a:srgbClr val="7B2FB5"/>
              </a:solidFill>
            </c:spPr>
            <c:extLst>
              <c:ext xmlns:c16="http://schemas.microsoft.com/office/drawing/2014/chart" uri="{C3380CC4-5D6E-409C-BE32-E72D297353CC}">
                <c16:uniqueId val="{00000001-4472-44B0-A4FC-19056D4F45CE}"/>
              </c:ext>
            </c:extLst>
          </c:dPt>
          <c:dPt>
            <c:idx val="1"/>
            <c:bubble3D val="0"/>
            <c:spPr>
              <a:solidFill>
                <a:srgbClr val="F6D2A8"/>
              </a:solidFill>
            </c:spPr>
            <c:extLst>
              <c:ext xmlns:c16="http://schemas.microsoft.com/office/drawing/2014/chart" uri="{C3380CC4-5D6E-409C-BE32-E72D297353CC}">
                <c16:uniqueId val="{00000003-4472-44B0-A4FC-19056D4F45CE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472-44B0-A4FC-19056D4F45CE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211D1E"/>
                      </a:solidFill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472-44B0-A4FC-19056D4F45C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여성</c:v>
                </c:pt>
                <c:pt idx="1">
                  <c:v>남성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472-44B0-A4FC-19056D4F45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5E5759"/>
          </a:solidFill>
          <a:latin typeface="Pretendard"/>
        </a:defRPr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10대</c:v>
                </c:pt>
                <c:pt idx="1">
                  <c:v>20대</c:v>
                </c:pt>
                <c:pt idx="2">
                  <c:v>30대</c:v>
                </c:pt>
                <c:pt idx="3">
                  <c:v>40대</c:v>
                </c:pt>
                <c:pt idx="4">
                  <c:v>50대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4.4999999999999998E-2</c:v>
                </c:pt>
                <c:pt idx="1">
                  <c:v>9.2999999999999999E-2</c:v>
                </c:pt>
                <c:pt idx="2">
                  <c:v>0.19900000000000001</c:v>
                </c:pt>
                <c:pt idx="3">
                  <c:v>0.33300000000000002</c:v>
                </c:pt>
                <c:pt idx="4" formatCode="0%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B3-4A1B-9BBB-F5C4BD2AEF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71649247"/>
        <c:axId val="2111060176"/>
      </c:barChart>
      <c:catAx>
        <c:axId val="1171649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pPr>
            <a:endParaRPr lang="ko-KR"/>
          </a:p>
        </c:txPr>
        <c:crossAx val="2111060176"/>
        <c:crosses val="autoZero"/>
        <c:auto val="1"/>
        <c:lblAlgn val="ctr"/>
        <c:lblOffset val="100"/>
        <c:noMultiLvlLbl val="0"/>
      </c:catAx>
      <c:valAx>
        <c:axId val="2111060176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pPr>
            <a:endParaRPr lang="ko-KR"/>
          </a:p>
        </c:txPr>
        <c:crossAx val="11716492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latin typeface="Pretendard Light" panose="02000403000000020004" pitchFamily="50" charset="-127"/>
          <a:ea typeface="Pretendard Light" panose="02000403000000020004" pitchFamily="50" charset="-127"/>
          <a:cs typeface="Pretendard Light" panose="02000403000000020004" pitchFamily="50" charset="-127"/>
        </a:defRPr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 algn="l" eaLnBrk="1" latinLnBrk="0">
              <a:lnSpc>
                <a:spcPct val="115000"/>
              </a:lnSpc>
              <a:defRPr/>
            </a:pPr>
            <a:r>
              <a:rPr lang="en-US" altLang="ko-KR" sz="13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1</a:t>
            </a:r>
            <a:r>
              <a:rPr lang="ko-KR" altLang="en-US" sz="13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년 합계 상대지수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1년 합계 상대지수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B2FB5"/>
              </a:solidFill>
            </c:spPr>
            <c:extLst>
              <c:ext xmlns:c16="http://schemas.microsoft.com/office/drawing/2014/chart" uri="{C3380CC4-5D6E-409C-BE32-E72D297353CC}">
                <c16:uniqueId val="{00000001-99D3-4B77-A76C-60A4C0760AA1}"/>
              </c:ext>
            </c:extLst>
          </c:dPt>
          <c:dPt>
            <c:idx val="1"/>
            <c:invertIfNegative val="1"/>
            <c:bubble3D val="0"/>
            <c:spPr>
              <a:solidFill>
                <a:srgbClr val="C9A3E3"/>
              </a:solidFill>
            </c:spPr>
            <c:extLst>
              <c:ext xmlns:c16="http://schemas.microsoft.com/office/drawing/2014/chart" uri="{C3380CC4-5D6E-409C-BE32-E72D297353CC}">
                <c16:uniqueId val="{00000003-99D3-4B77-A76C-60A4C0760AA1}"/>
              </c:ext>
            </c:extLst>
          </c:dPt>
          <c:dPt>
            <c:idx val="2"/>
            <c:invertIfNegative val="1"/>
            <c:bubble3D val="0"/>
            <c:spPr>
              <a:solidFill>
                <a:srgbClr val="F6D2A8"/>
              </a:solidFill>
            </c:spPr>
            <c:extLst>
              <c:ext xmlns:c16="http://schemas.microsoft.com/office/drawing/2014/chart" uri="{C3380CC4-5D6E-409C-BE32-E72D297353CC}">
                <c16:uniqueId val="{00000005-99D3-4B77-A76C-60A4C0760AA1}"/>
              </c:ext>
            </c:extLst>
          </c:dPt>
          <c:dPt>
            <c:idx val="3"/>
            <c:invertIfNegative val="1"/>
            <c:bubble3D val="0"/>
            <c:spPr>
              <a:solidFill>
                <a:srgbClr val="C9A3E3"/>
              </a:solidFill>
            </c:spPr>
            <c:extLst>
              <c:ext xmlns:c16="http://schemas.microsoft.com/office/drawing/2014/chart" uri="{C3380CC4-5D6E-409C-BE32-E72D297353CC}">
                <c16:uniqueId val="{00000007-99D3-4B77-A76C-60A4C0760AA1}"/>
              </c:ext>
            </c:extLst>
          </c:dPt>
          <c:dPt>
            <c:idx val="4"/>
            <c:invertIfNegative val="1"/>
            <c:bubble3D val="0"/>
            <c:spPr>
              <a:solidFill>
                <a:srgbClr val="C9A3E3"/>
              </a:solidFill>
            </c:spPr>
            <c:extLst>
              <c:ext xmlns:c16="http://schemas.microsoft.com/office/drawing/2014/chart" uri="{C3380CC4-5D6E-409C-BE32-E72D297353CC}">
                <c16:uniqueId val="{00000009-99D3-4B77-A76C-60A4C0760AA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워터프루프 아이라이너</c:v>
                </c:pt>
                <c:pt idx="1">
                  <c:v>펜 아이라이너</c:v>
                </c:pt>
                <c:pt idx="2">
                  <c:v>나어릴때 아이라이너</c:v>
                </c:pt>
                <c:pt idx="3">
                  <c:v>브러쉬 아이라이너</c:v>
                </c:pt>
                <c:pt idx="4">
                  <c:v>엣지홀릭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7974</c:v>
                </c:pt>
                <c:pt idx="1">
                  <c:v>2159</c:v>
                </c:pt>
                <c:pt idx="2">
                  <c:v>1076</c:v>
                </c:pt>
                <c:pt idx="3">
                  <c:v>454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9D3-4B77-A76C-60A4C0760AA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50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5E5759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 algn="l" eaLnBrk="1" latinLnBrk="0">
              <a:lnSpc>
                <a:spcPct val="115000"/>
              </a:lnSpc>
              <a:defRPr/>
            </a:pPr>
            <a:r>
              <a:rPr lang="ko-KR" altLang="en-US" sz="13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월별 </a:t>
            </a:r>
            <a:r>
              <a:rPr lang="en-US" altLang="ko-KR" sz="13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'</a:t>
            </a:r>
            <a:r>
              <a:rPr lang="ko-KR" altLang="en-US" sz="13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나어릴때 아이라이너</a:t>
            </a:r>
            <a:r>
              <a:rPr lang="en-US" altLang="ko-KR" sz="13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' </a:t>
            </a:r>
            <a:r>
              <a:rPr lang="ko-KR" altLang="en-US" sz="13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상대지수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나어릴때 아이라이너</c:v>
                </c:pt>
              </c:strCache>
            </c:strRef>
          </c:tx>
          <c:spPr>
            <a:ln w="28575">
              <a:solidFill>
                <a:srgbClr val="7B2FB5"/>
              </a:solidFill>
            </a:ln>
          </c:spPr>
          <c:marker>
            <c:spPr>
              <a:solidFill>
                <a:srgbClr val="7B2FB5"/>
              </a:solidFill>
              <a:ln>
                <a:solidFill>
                  <a:srgbClr val="7B2FB5"/>
                </a:solidFill>
              </a:ln>
            </c:spPr>
          </c:marker>
          <c:dLbls>
            <c:dLbl>
              <c:idx val="0"/>
              <c:layout>
                <c:manualLayout>
                  <c:x val="1.0469847375016442E-17"/>
                  <c:y val="-9.8290598290598274E-2"/>
                </c:manualLayout>
              </c:layout>
              <c:spPr/>
              <c:txPr>
                <a:bodyPr/>
                <a:lstStyle/>
                <a:p>
                  <a:pPr>
                    <a:defRPr sz="1200" b="1">
                      <a:solidFill>
                        <a:srgbClr val="7B2FB5"/>
                      </a:solidFill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C35-4737-80C8-773ABA6C8514}"/>
                </c:ext>
              </c:extLst>
            </c:dLbl>
            <c:dLbl>
              <c:idx val="1"/>
              <c:layout>
                <c:manualLayout>
                  <c:x val="2.0939694750032884E-17"/>
                  <c:y val="-9.8290598290598288E-2"/>
                </c:manualLayout>
              </c:layout>
              <c:spPr/>
              <c:txPr>
                <a:bodyPr/>
                <a:lstStyle/>
                <a:p>
                  <a:pPr>
                    <a:defRPr sz="1200" b="1">
                      <a:solidFill>
                        <a:srgbClr val="7B2FB5"/>
                      </a:solidFill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C35-4737-80C8-773ABA6C851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25.11</c:v>
                </c:pt>
                <c:pt idx="1">
                  <c:v>25.12</c:v>
                </c:pt>
                <c:pt idx="2">
                  <c:v>26.01</c:v>
                </c:pt>
                <c:pt idx="3">
                  <c:v>26.02</c:v>
                </c:pt>
                <c:pt idx="4">
                  <c:v>26.03</c:v>
                </c:pt>
                <c:pt idx="5">
                  <c:v>26.04</c:v>
                </c:pt>
                <c:pt idx="6">
                  <c:v>26.05</c:v>
                </c:pt>
                <c:pt idx="7">
                  <c:v>26.06</c:v>
                </c:pt>
                <c:pt idx="8">
                  <c:v>26.07</c:v>
                </c:pt>
                <c:pt idx="9">
                  <c:v>26.08</c:v>
                </c:pt>
                <c:pt idx="10">
                  <c:v>26.09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212</c:v>
                </c:pt>
                <c:pt idx="1">
                  <c:v>213</c:v>
                </c:pt>
                <c:pt idx="2">
                  <c:v>59</c:v>
                </c:pt>
                <c:pt idx="3">
                  <c:v>80</c:v>
                </c:pt>
                <c:pt idx="4">
                  <c:v>63</c:v>
                </c:pt>
                <c:pt idx="5">
                  <c:v>29</c:v>
                </c:pt>
                <c:pt idx="6">
                  <c:v>115</c:v>
                </c:pt>
                <c:pt idx="7">
                  <c:v>44</c:v>
                </c:pt>
                <c:pt idx="8">
                  <c:v>40</c:v>
                </c:pt>
                <c:pt idx="9">
                  <c:v>49</c:v>
                </c:pt>
                <c:pt idx="10">
                  <c:v>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C35-4737-80C8-773ABA6C851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6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5E5759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48DC30-1CDF-4A27-8080-509C13749451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C1D95-4B46-40D5-A594-E233A104F9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802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C1D95-4B46-40D5-A594-E233A104F93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391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한 장만 보셔도 제안 전체가 이해되도록 구성했습니다.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색조 브랜드 전체가 아니라, 아이라이너 1위 상품을 중심으로 광고를 설계하겠다는 출발점입니다.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S25~S30에서 다섯 가지에 하나씩 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카테고리 전체 데이터라는 점을 같이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C1D95-4B46-40D5-A594-E233A104F93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013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비중의</a:t>
            </a:r>
            <a:r>
              <a:rPr dirty="0"/>
              <a:t> 91%가 </a:t>
            </a:r>
            <a:r>
              <a:rPr dirty="0" err="1"/>
              <a:t>모바일이라</a:t>
            </a:r>
            <a:r>
              <a:rPr dirty="0"/>
              <a:t> </a:t>
            </a:r>
            <a:r>
              <a:rPr dirty="0" err="1"/>
              <a:t>모바일</a:t>
            </a:r>
            <a:r>
              <a:rPr dirty="0"/>
              <a:t> </a:t>
            </a:r>
            <a:r>
              <a:rPr dirty="0" err="1"/>
              <a:t>화면을</a:t>
            </a:r>
            <a:r>
              <a:rPr dirty="0"/>
              <a:t>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보여줍니다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가격 이슈는 단정하지 않고 '점검 권장' 톤으로 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경쟁사</a:t>
            </a:r>
            <a:r>
              <a:rPr dirty="0"/>
              <a:t> </a:t>
            </a:r>
            <a:r>
              <a:rPr dirty="0" err="1"/>
              <a:t>비판이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'</a:t>
            </a:r>
            <a:r>
              <a:rPr dirty="0" err="1"/>
              <a:t>시장에서</a:t>
            </a:r>
            <a:r>
              <a:rPr dirty="0"/>
              <a:t> </a:t>
            </a:r>
            <a:r>
              <a:rPr dirty="0" err="1"/>
              <a:t>통하는</a:t>
            </a:r>
            <a:r>
              <a:rPr dirty="0"/>
              <a:t> </a:t>
            </a:r>
            <a:r>
              <a:rPr dirty="0" err="1"/>
              <a:t>메시지'를</a:t>
            </a:r>
            <a:r>
              <a:rPr dirty="0"/>
              <a:t> </a:t>
            </a:r>
            <a:r>
              <a:rPr dirty="0" err="1"/>
              <a:t>보여주는</a:t>
            </a:r>
            <a:r>
              <a:rPr dirty="0"/>
              <a:t> </a:t>
            </a:r>
            <a:r>
              <a:rPr dirty="0" err="1"/>
              <a:t>장표입니다</a:t>
            </a:r>
            <a:r>
              <a:rPr dirty="0"/>
              <a:t>.</a:t>
            </a:r>
            <a:endParaRPr lang="en-US" dirty="0"/>
          </a:p>
          <a:p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"경쟁사는 '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제품력'을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보여주고,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나어릴때는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'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할인'만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보여줍니다“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ko-KR" dirty="0"/>
              <a:t>"현재 메타 광고 라이브러리를 통해 경쟁사들의 집행 현황을 전수 분석한 결과, </a:t>
            </a:r>
            <a:r>
              <a:rPr lang="ko-KR" altLang="ko-KR" dirty="0" err="1"/>
              <a:t>클리오·씨스터앤</a:t>
            </a:r>
            <a:r>
              <a:rPr lang="ko-KR" altLang="ko-KR" dirty="0"/>
              <a:t> 등 </a:t>
            </a:r>
            <a:r>
              <a:rPr lang="ko-KR" altLang="ko-KR" dirty="0" err="1"/>
              <a:t>선두권</a:t>
            </a:r>
            <a:r>
              <a:rPr lang="ko-KR" altLang="ko-KR" dirty="0"/>
              <a:t> 브랜드들은 번짐 방지 시연 영상, 두께 스펙, 트임 용도 등 </a:t>
            </a:r>
            <a:r>
              <a:rPr lang="ko-KR" altLang="ko-KR" b="1" dirty="0"/>
              <a:t>소비자가 즉각 반응하는 5가지 핵심 앵글로 소재를 다각화</a:t>
            </a:r>
            <a:r>
              <a:rPr lang="ko-KR" altLang="ko-KR" dirty="0"/>
              <a:t>해 수개월간 뚝심 있게 태우고 있습니다.</a:t>
            </a:r>
          </a:p>
          <a:p>
            <a:r>
              <a:rPr lang="ko-KR" altLang="ko-KR" dirty="0"/>
              <a:t>반면, 현재 '</a:t>
            </a:r>
            <a:r>
              <a:rPr lang="ko-KR" altLang="ko-KR" dirty="0" err="1"/>
              <a:t>나어릴때</a:t>
            </a:r>
            <a:r>
              <a:rPr lang="ko-KR" altLang="ko-KR" dirty="0"/>
              <a:t>' 계정은 할로윈 단일 할인 일러스트 배너 5개 중 4개가 똑같은 문안으로 묶여 있어, </a:t>
            </a:r>
            <a:r>
              <a:rPr lang="ko-KR" altLang="ko-KR" b="1" dirty="0"/>
              <a:t>소재 피로도는 쌓이고 효율 테스트는 전혀 이뤄지지 않는 구조</a:t>
            </a:r>
            <a:r>
              <a:rPr lang="ko-KR" altLang="ko-KR" dirty="0"/>
              <a:t>입니다.</a:t>
            </a:r>
          </a:p>
          <a:p>
            <a:r>
              <a:rPr lang="ko-KR" altLang="ko-KR" dirty="0"/>
              <a:t>10월 이관 즉시 앞서 </a:t>
            </a:r>
            <a:r>
              <a:rPr lang="ko-KR" altLang="ko-KR" dirty="0" err="1"/>
              <a:t>제안드린</a:t>
            </a:r>
            <a:r>
              <a:rPr lang="ko-KR" altLang="ko-KR" dirty="0"/>
              <a:t> **'4대 크리에이티브 앵글(실속 쌈마이, 원물 감성, </a:t>
            </a:r>
            <a:r>
              <a:rPr lang="ko-KR" altLang="ko-KR" dirty="0" err="1"/>
              <a:t>페인포인트</a:t>
            </a:r>
            <a:r>
              <a:rPr lang="ko-KR" altLang="ko-KR" dirty="0"/>
              <a:t> 시연 등)'*</a:t>
            </a:r>
            <a:r>
              <a:rPr lang="ko-KR" altLang="ko-KR" i="1" dirty="0"/>
              <a:t>을 메타 </a:t>
            </a:r>
            <a:r>
              <a:rPr lang="ko-KR" altLang="ko-KR" i="1" dirty="0" err="1"/>
              <a:t>피드와</a:t>
            </a:r>
            <a:r>
              <a:rPr lang="ko-KR" altLang="ko-KR" i="1" dirty="0"/>
              <a:t> </a:t>
            </a:r>
            <a:r>
              <a:rPr lang="ko-KR" altLang="ko-KR" i="1" dirty="0" err="1"/>
              <a:t>릴스에</a:t>
            </a:r>
            <a:r>
              <a:rPr lang="ko-KR" altLang="ko-KR" i="1" dirty="0"/>
              <a:t> 즉각 투입하여 크리에이티브 주도권을 탈환하겠습니다."</a:t>
            </a:r>
            <a:endParaRPr lang="ko-KR" altLang="ko-KR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4번 </a:t>
            </a:r>
            <a:r>
              <a:rPr dirty="0" err="1"/>
              <a:t>진단</a:t>
            </a:r>
            <a:r>
              <a:rPr dirty="0"/>
              <a:t> 중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강한</a:t>
            </a:r>
            <a:r>
              <a:rPr dirty="0"/>
              <a:t> </a:t>
            </a:r>
            <a:r>
              <a:rPr dirty="0" err="1"/>
              <a:t>장표</a:t>
            </a:r>
            <a:r>
              <a:rPr dirty="0"/>
              <a:t>.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대행사의</a:t>
            </a:r>
            <a:r>
              <a:rPr dirty="0"/>
              <a:t> '</a:t>
            </a:r>
            <a:r>
              <a:rPr dirty="0" err="1"/>
              <a:t>분석·역제안</a:t>
            </a:r>
            <a:r>
              <a:rPr dirty="0"/>
              <a:t> </a:t>
            </a:r>
            <a:r>
              <a:rPr dirty="0" err="1"/>
              <a:t>부족'을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말하지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보여줍니다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C1D95-4B46-40D5-A594-E233A104F93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147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네이버는 대행수수료가 없다는 점을 S31에서 같이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C1D95-4B46-40D5-A594-E233A104F93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5146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카피는 방향 예시이며, 실제 집행 문안은 협의 후 확정합니다.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C1D95-4B46-40D5-A594-E233A104F93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2107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C1D95-4B46-40D5-A594-E233A104F93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9448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브랜드 검색량이 크지 않아 단가 부담이 낮은 편입니다. 정확한 금액은 견적 후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기존 제품 컷 + 간단 촬영으로 제작 가능. 제작비 추가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디자인팀에서 번짐 테스트·브러쉬 vs 펜 2종만 시안을 만들어 넣으면 충분합니다.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나어릴때 광고는 신규 고객에게도 할인 배너만 노출되는 구조라는 점과 대비됩니다.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2BBE14-2E19-2EA7-FB68-3E8BE8FF7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38ABDD-44DD-0B69-5C6C-37E585EE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9F99F3-DD18-193F-C10B-1EB721C91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496577-20FC-C8EC-7139-FED9D62441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54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74462B9-8AC2-93A5-849A-CEF38E838E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90" b="91927" l="9872" r="89986">
                        <a14:foregroundMark x1="54119" y1="8333" x2="46591" y2="5990"/>
                        <a14:foregroundMark x1="49503" y1="91927" x2="53622" y2="91927"/>
                        <a14:foregroundMark x1="35511" y1="46615" x2="36435" y2="32422"/>
                        <a14:foregroundMark x1="36435" y1="32422" x2="39276" y2="25000"/>
                      </a14:backgroundRemoval>
                    </a14:imgEffect>
                    <a14:imgEffect>
                      <a14:artisticCutout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25" r="42960" b="49219"/>
          <a:stretch>
            <a:fillRect/>
          </a:stretch>
        </p:blipFill>
        <p:spPr>
          <a:xfrm>
            <a:off x="9296400" y="4383729"/>
            <a:ext cx="2895600" cy="247427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4E50DE6-9668-AEDE-7FF1-9C3B3D02D1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860" y="811530"/>
            <a:ext cx="3489960" cy="5234940"/>
          </a:xfrm>
          <a:prstGeom prst="round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D4DE785-D6A4-2238-4185-2BCC694313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90" b="91927" l="9872" r="89986">
                        <a14:foregroundMark x1="54119" y1="8333" x2="46591" y2="5990"/>
                        <a14:foregroundMark x1="49503" y1="91927" x2="53622" y2="91927"/>
                        <a14:foregroundMark x1="35511" y1="46615" x2="36435" y2="32422"/>
                        <a14:foregroundMark x1="36435" y1="32422" x2="39276" y2="25000"/>
                      </a14:backgroundRemoval>
                    </a14:imgEffect>
                    <a14:imgEffect>
                      <a14:artisticCutout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25" r="50570" b="62014"/>
          <a:stretch>
            <a:fillRect/>
          </a:stretch>
        </p:blipFill>
        <p:spPr>
          <a:xfrm rot="10460277">
            <a:off x="-439165" y="-191055"/>
            <a:ext cx="4101591" cy="342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925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7CEE4EA-0C7C-1CF4-0099-381A7C93B4F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EA9E46-F31F-F69D-1D27-FE609D097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AEE0D1-B528-0EA6-D7D0-3A736FF12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4C38C9-7271-E473-6614-B193F6A94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680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7C9C7B9-15EF-32AD-737F-89B75D7A35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AF260B-8BB0-6C96-3740-8C6A5438C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7010FE-886F-6B7C-ECC1-3F5CEAF4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07E225-A319-FD13-295E-DF5AE17E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05F37D8-A9A8-F13B-E811-208AF41DF1FB}"/>
              </a:ext>
            </a:extLst>
          </p:cNvPr>
          <p:cNvCxnSpPr>
            <a:cxnSpLocks/>
          </p:cNvCxnSpPr>
          <p:nvPr userDrawn="1"/>
        </p:nvCxnSpPr>
        <p:spPr>
          <a:xfrm>
            <a:off x="411480" y="533400"/>
            <a:ext cx="113690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03B33C4-39EE-E19D-350D-5E4524C3A341}"/>
              </a:ext>
            </a:extLst>
          </p:cNvPr>
          <p:cNvCxnSpPr>
            <a:cxnSpLocks/>
          </p:cNvCxnSpPr>
          <p:nvPr userDrawn="1"/>
        </p:nvCxnSpPr>
        <p:spPr>
          <a:xfrm>
            <a:off x="411480" y="6356350"/>
            <a:ext cx="113690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19" descr="logo_nicecore.png">
            <a:extLst>
              <a:ext uri="{FF2B5EF4-FFF2-40B4-BE49-F238E27FC236}">
                <a16:creationId xmlns:a16="http://schemas.microsoft.com/office/drawing/2014/main" id="{1BC670BE-1778-047A-01D1-25A186FC75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3200" y="263564"/>
            <a:ext cx="1417320" cy="20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7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7C9C7B9-15EF-32AD-737F-89B75D7A35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AF260B-8BB0-6C96-3740-8C6A5438C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7010FE-886F-6B7C-ECC1-3F5CEAF4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07E225-A319-FD13-295E-DF5AE17E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05F37D8-A9A8-F13B-E811-208AF41DF1FB}"/>
              </a:ext>
            </a:extLst>
          </p:cNvPr>
          <p:cNvCxnSpPr>
            <a:cxnSpLocks/>
          </p:cNvCxnSpPr>
          <p:nvPr userDrawn="1"/>
        </p:nvCxnSpPr>
        <p:spPr>
          <a:xfrm>
            <a:off x="411480" y="533400"/>
            <a:ext cx="113690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19" descr="logo_nicecore.png">
            <a:extLst>
              <a:ext uri="{FF2B5EF4-FFF2-40B4-BE49-F238E27FC236}">
                <a16:creationId xmlns:a16="http://schemas.microsoft.com/office/drawing/2014/main" id="{1BC670BE-1778-047A-01D1-25A186FC75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3200" y="263564"/>
            <a:ext cx="1417320" cy="20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17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E8DECB-CFCF-7079-FBC1-C3CD508F9B4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54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4DB539-E570-D9FC-9D3B-FEC3E8E4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C87D92-6350-119D-7A86-D5AAEF26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C26CDC-DA85-06AD-CA4D-B9DC9BF5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92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460BF18D-9B7F-6C8E-97BA-BF2B4BC88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61" r="5450" b="2315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3E8DECB-CFCF-7079-FBC1-C3CD508F9B4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4DB539-E570-D9FC-9D3B-FEC3E8E4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C87D92-6350-119D-7A86-D5AAEF26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C26CDC-DA85-06AD-CA4D-B9DC9BF5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7896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6F7DE5-8325-3DDC-E3CD-C56778114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D272C6-E51D-F569-2E58-B6214B58E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7FCAB-C7FD-A179-4B83-485DF2AC9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A6FEC-3664-449F-BE6B-8E95D1A9370F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B0C0E1-7943-0DF9-5A26-6B53D9808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ECF585-421A-096D-6912-5FB6671DA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3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7" r:id="rId4"/>
    <p:sldLayoutId id="2147483655" r:id="rId5"/>
    <p:sldLayoutId id="2147483656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microsoft.com/office/2007/relationships/hdphoto" Target="../media/hdphoto2.wdp"/><Relationship Id="rId5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e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naeoriltt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1325880"/>
            <a:ext cx="2377440" cy="6583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2148840"/>
            <a:ext cx="640080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0000"/>
              </a:lnSpc>
            </a:pPr>
            <a:r>
              <a:rPr sz="4000" b="0" dirty="0" err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나어릴때</a:t>
            </a:r>
            <a:r>
              <a:rPr sz="4000" b="0" dirty="0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4000" b="0" dirty="0" err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디지털</a:t>
            </a:r>
            <a:endParaRPr sz="4000" b="0" dirty="0">
              <a:solidFill>
                <a:srgbClr val="211D1E"/>
              </a:solidFill>
              <a:latin typeface="Pretendard Black"/>
              <a:ea typeface="Pretendard Black"/>
              <a:cs typeface="Pretendard Black"/>
            </a:endParaRPr>
          </a:p>
          <a:p>
            <a:pPr algn="l" eaLnBrk="1" latinLnBrk="0">
              <a:lnSpc>
                <a:spcPct val="110000"/>
              </a:lnSpc>
            </a:pPr>
            <a:r>
              <a:rPr sz="4000" b="0" dirty="0" err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광고</a:t>
            </a:r>
            <a:r>
              <a:rPr sz="4000" b="0" dirty="0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4000" b="0" dirty="0" err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운영</a:t>
            </a:r>
            <a:r>
              <a:rPr sz="4000" b="0" dirty="0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4000" b="0" dirty="0" err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제안</a:t>
            </a:r>
            <a:endParaRPr sz="4000" b="0" dirty="0">
              <a:solidFill>
                <a:srgbClr val="211D1E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0704" y="370332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000" b="0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나어릴때</a:t>
            </a:r>
            <a:r>
              <a:rPr lang="ko-KR" altLang="en-US" sz="20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 강점 활용 및 매출 </a:t>
            </a:r>
            <a:r>
              <a:rPr lang="ko-KR" altLang="en-US" sz="2000" b="0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붐업</a:t>
            </a:r>
            <a:r>
              <a:rPr lang="ko-KR" altLang="en-US" sz="20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 전략</a:t>
            </a:r>
            <a:endParaRPr sz="2000" b="0" dirty="0">
              <a:solidFill>
                <a:srgbClr val="5E5759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" y="4572000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20000"/>
              </a:lnSpc>
            </a:pPr>
            <a:r>
              <a:rPr sz="16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2026.10.30</a:t>
            </a:r>
          </a:p>
        </p:txBody>
      </p:sp>
      <p:pic>
        <p:nvPicPr>
          <p:cNvPr id="6" name="Picture 5" descr="logo_nice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892040"/>
            <a:ext cx="155448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800" b="0" dirty="0">
                <a:solidFill>
                  <a:srgbClr val="211D1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3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002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2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현황 이해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6002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Ⅰ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브랜드 현황 진단 및 핵심 과제 도출</a:t>
            </a:r>
            <a:endParaRPr sz="15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14400" y="2368296"/>
            <a:ext cx="104241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14400" y="2496312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3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96312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2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사전 진단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496312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시장, 네이버, 메타, 인스타그램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3264408"/>
            <a:ext cx="104241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914400" y="3392424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3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392424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2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운영 전략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392424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채널별 역할과 실행안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4160520"/>
            <a:ext cx="104241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914400" y="4288536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3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288536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2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운영 방식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288536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역제안</a:t>
            </a:r>
            <a:r>
              <a:rPr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소재</a:t>
            </a:r>
            <a:r>
              <a:rPr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인스타그램</a:t>
            </a:r>
            <a:r>
              <a:rPr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리포트</a:t>
            </a:r>
            <a:r>
              <a:rPr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소통</a:t>
            </a:r>
            <a:endParaRPr sz="15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914400" y="5056631"/>
            <a:ext cx="104241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914400" y="5184648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3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184648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2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비용과 일정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5952744"/>
            <a:ext cx="104241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제안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아래 </a:t>
            </a:r>
            <a:r>
              <a:rPr lang="en-US" altLang="ko-KR" sz="240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3</a:t>
            </a:r>
            <a:r>
              <a:rPr lang="ko-KR" altLang="en-US" sz="240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가지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공백을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채우면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11월부터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확실히 달라집니다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외부 공개 데이터만으로 확인한 진단 결과와 해결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36057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9842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발견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14858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네이버 핵심 키워드에 나어릴때 광고가 없습니다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314858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'워터프루프·펜 아이라이너' 쇼핑검색·파워링크 노출 0, 브랜드검색 미집행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031492" y="4023360"/>
            <a:ext cx="365760" cy="365760"/>
          </a:xfrm>
          <a:prstGeom prst="down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448056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46817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3148584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검색 자리 되찾기</a:t>
            </a:r>
          </a:p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워터프루프 쇼핑검색 + 브랜드검색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1584" y="1783080"/>
            <a:ext cx="36057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20184" y="19842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발견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0184" y="2377440"/>
            <a:ext cx="314858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고객은 '안 번진다'고 말하는데, 광고는 할인만 말합니다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0184" y="3108960"/>
            <a:ext cx="314858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메타 광고 5개 모두 할로윈 할인 배너, 제품 시연·영상 없음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11596" y="4023360"/>
            <a:ext cx="365760" cy="365760"/>
          </a:xfrm>
          <a:prstGeom prst="down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91584" y="448056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20184" y="46817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0184" y="5074920"/>
            <a:ext cx="3148584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리뷰 기반 소재</a:t>
            </a:r>
          </a:p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번짐 테스트, 라인 시연, 브러쉬 vs 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1688" y="1783080"/>
            <a:ext cx="36057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00288" y="19842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발견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0288" y="2377440"/>
            <a:ext cx="314858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광고는</a:t>
            </a:r>
            <a:r>
              <a:rPr sz="1500" b="1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1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돌고</a:t>
            </a:r>
            <a:r>
              <a:rPr sz="1500" b="1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1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있는데</a:t>
            </a:r>
            <a:r>
              <a:rPr sz="1500" b="1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endParaRPr lang="en-US" sz="1500" b="1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  <a:p>
            <a:pPr algn="l" eaLnBrk="1" latinLnBrk="0">
              <a:lnSpc>
                <a:spcPct val="115000"/>
              </a:lnSpc>
            </a:pPr>
            <a:r>
              <a:rPr sz="1500" b="1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인스타그램은</a:t>
            </a:r>
            <a:r>
              <a:rPr sz="1500" b="1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1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멈춰</a:t>
            </a:r>
            <a:r>
              <a:rPr sz="1500" b="1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1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있습니다</a:t>
            </a:r>
            <a:endParaRPr sz="1500" b="1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00288" y="3108960"/>
            <a:ext cx="314858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근거</a:t>
            </a:r>
            <a:r>
              <a:rPr sz="12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9/12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이후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게시물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없음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(40일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이상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공백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791700" y="4023360"/>
            <a:ext cx="365760" cy="365760"/>
          </a:xfrm>
          <a:prstGeom prst="down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71688" y="448056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400288" y="46817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0288" y="5074920"/>
            <a:ext cx="3148584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500" b="1" dirty="0" err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광고와</a:t>
            </a:r>
            <a:r>
              <a:rPr sz="1500" b="1" dirty="0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1" dirty="0" err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연결된</a:t>
            </a:r>
            <a:r>
              <a:rPr sz="1500" b="1" dirty="0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1" dirty="0" err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계정</a:t>
            </a:r>
            <a:r>
              <a:rPr sz="1500" b="1" dirty="0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1" dirty="0" err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운영</a:t>
            </a:r>
            <a:endParaRPr sz="1500" b="1" dirty="0">
              <a:solidFill>
                <a:srgbClr val="7B2FB5"/>
              </a:solidFill>
              <a:latin typeface="Pretendard Medium"/>
              <a:ea typeface="Pretendard Medium"/>
              <a:cs typeface="Pretendard Medium"/>
            </a:endParaRPr>
          </a:p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5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주 2회, </a:t>
            </a:r>
            <a:r>
              <a:rPr sz="15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광고</a:t>
            </a:r>
            <a:r>
              <a:rPr sz="15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시즌과</a:t>
            </a:r>
            <a:r>
              <a:rPr sz="15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피드</a:t>
            </a:r>
            <a:r>
              <a:rPr sz="15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연동</a:t>
            </a:r>
            <a:endParaRPr sz="15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73736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 eaLnBrk="1" latinLnBrk="0">
              <a:lnSpc>
                <a:spcPct val="115000"/>
              </a:lnSpc>
            </a:pPr>
            <a:r>
              <a:rPr sz="72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40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현황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8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광고주 전달 사항을 확인하고</a:t>
            </a:r>
            <a:r>
              <a:rPr lang="en-US" altLang="ko-KR" sz="18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8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이를 바탕으로 브랜드 현황을 정밀 진단했습니다</a:t>
            </a:r>
            <a:r>
              <a:rPr lang="en-US" altLang="ko-KR" sz="18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.</a:t>
            </a:r>
            <a:endParaRPr sz="18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914400" y="4343400"/>
            <a:ext cx="5029200" cy="0"/>
          </a:xfrm>
          <a:prstGeom prst="line">
            <a:avLst/>
          </a:prstGeom>
          <a:ln w="12700">
            <a:solidFill>
              <a:srgbClr val="C9A3E3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914400" y="452628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브랜드 이해</a:t>
            </a:r>
          </a:p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요청 사항 이해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EFCE6593-19E1-63E6-85E2-EEB2A63ED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911925"/>
            <a:ext cx="5422392" cy="24057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01 현황 이해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나어릴때는 '아이라이너로 검증된' 브랜드입니다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자사몰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naeorilttae.com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(2026.10.23)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37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주력 제품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03120"/>
            <a:ext cx="566928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157984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오리지널 엣지홀릭 브러쉬 아이라이너</a:t>
            </a:r>
          </a:p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리뷰 1,154건 · 4.7점 | 8,500원 (1+1 17,000원)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880360"/>
            <a:ext cx="566928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935224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엣지홀릭 펜 아이라이너</a:t>
            </a:r>
          </a:p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리뷰 778건 · 4.7점 | 8,500원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657600"/>
            <a:ext cx="566928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712463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All New 워터프루프 엣지홀릭 브러쉬 리퀴드 아이라이너</a:t>
            </a:r>
          </a:p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8,500원 (1+1 14,900원)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434840"/>
            <a:ext cx="5669280" cy="685800"/>
          </a:xfrm>
          <a:prstGeom prst="roundRect">
            <a:avLst>
              <a:gd name="adj" fmla="val 10666"/>
            </a:avLst>
          </a:prstGeom>
          <a:solidFill>
            <a:srgbClr val="FEF2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489703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확장 제품</a:t>
            </a:r>
          </a:p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글로시 리퀴드 립스틱(리뷰 301건), 알로에 수딩젤(리뷰 394건)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판매 채널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542239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자사몰: naeorilttae.com (카페24)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네이버: 브랜드스토어 brand.naver.com/naeorilttae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네이버 가격비교 카탈로그 리뷰 4,901건 (엣지홀릭 브러쉬)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440680"/>
            <a:ext cx="11365992" cy="685800"/>
          </a:xfrm>
          <a:prstGeom prst="roundRect">
            <a:avLst>
              <a:gd name="adj" fmla="val 10666"/>
            </a:avLst>
          </a:prstGeom>
          <a:solidFill>
            <a:srgbClr val="7B2FB5"/>
          </a:solidFill>
          <a:ln>
            <a:noFill/>
          </a:ln>
        </p:spPr>
        <p:txBody>
          <a:bodyPr wrap="square" lIns="228600" tIns="36576" rIns="22860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매출의 중심은 아이라이너, 립·스킨은 확장 라인 → 광고는 '아이라이너 히어로'로 집중합니다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01 현황 이해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광고주 요청사항</a:t>
            </a:r>
            <a:r>
              <a:rPr lang="en-US" altLang="ko-KR" sz="240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핵심 요약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!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13659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08760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소통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508760"/>
            <a:ext cx="81655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실시간 핫라인 및 전담 담당자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/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의 신속한 응대</a:t>
            </a:r>
            <a:endParaRPr sz="15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1480" y="2185415"/>
            <a:ext cx="113659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185415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85415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85415"/>
            <a:ext cx="81655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단순한 수치 보고를 넘어선 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원인 분석 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&amp; Next Action' 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중심 리포팅</a:t>
            </a:r>
            <a:endParaRPr sz="15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1480" y="2862072"/>
            <a:ext cx="113659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62072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862072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역제안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862072"/>
            <a:ext cx="81655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수동적 집행 탈피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선제적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신규 매체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소재 기획 제안</a:t>
            </a:r>
            <a:endParaRPr sz="15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11480" y="3538727"/>
            <a:ext cx="113659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538727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38727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소재 제작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538727"/>
            <a:ext cx="81655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제작비 부담 없는 다각화 소재 공급 체계 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월 20건 내외, 최대 50건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/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/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)</a:t>
            </a:r>
            <a:endParaRPr sz="15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11480" y="4215383"/>
            <a:ext cx="113659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215383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215383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인스타그램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215383"/>
            <a:ext cx="81655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브랜드 </a:t>
            </a:r>
            <a:r>
              <a:rPr lang="ko-KR" altLang="en-US"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톤앤매너를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반영한 콘텐츠 </a:t>
            </a:r>
            <a:r>
              <a:rPr lang="en-US" altLang="ko-KR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&amp; </a:t>
            </a:r>
            <a:r>
              <a:rPr lang="ko-KR" altLang="en-US"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피드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5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일치성</a:t>
            </a:r>
            <a:r>
              <a:rPr lang="ko-KR" altLang="en-US" sz="15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확보</a:t>
            </a:r>
            <a:endParaRPr sz="15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11480" y="4983480"/>
            <a:ext cx="11365992" cy="1143000"/>
          </a:xfrm>
          <a:prstGeom prst="roundRect">
            <a:avLst>
              <a:gd name="adj" fmla="val 6400"/>
            </a:avLst>
          </a:prstGeom>
          <a:solidFill>
            <a:srgbClr val="F1E4F8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  <a:spcAft>
                <a:spcPts val="300"/>
              </a:spcAft>
            </a:pPr>
            <a:r>
              <a:rPr lang="ko-KR" altLang="en-US" sz="15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탁월한 성과는 결국 </a:t>
            </a:r>
            <a:r>
              <a:rPr lang="ko-KR" altLang="en-US" sz="1500" b="1" dirty="0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원활한 소통과 구조화된 프로세스</a:t>
            </a:r>
            <a:r>
              <a:rPr lang="ko-KR" altLang="en-US" sz="15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에서 나옵니다</a:t>
            </a:r>
            <a:r>
              <a:rPr lang="en-US" altLang="ko-KR" sz="15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. </a:t>
            </a:r>
          </a:p>
          <a:p>
            <a:pPr algn="l" eaLnBrk="1" latinLnBrk="0">
              <a:lnSpc>
                <a:spcPct val="115000"/>
              </a:lnSpc>
              <a:spcAft>
                <a:spcPts val="300"/>
              </a:spcAft>
            </a:pPr>
            <a:r>
              <a:rPr lang="ko-KR" alt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본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제안서는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그 </a:t>
            </a:r>
            <a:r>
              <a:rPr lang="ko-KR" alt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다섯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가지</a:t>
            </a:r>
            <a:r>
              <a:rPr lang="ko-KR" alt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의 요청에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하나씩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답</a:t>
            </a:r>
            <a:r>
              <a:rPr lang="ko-KR" alt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변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하는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5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순서로 작성 </a:t>
            </a:r>
            <a:r>
              <a:rPr lang="ko-KR" altLang="en-US" sz="150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하였습니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73736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 eaLnBrk="1" latinLnBrk="0">
              <a:lnSpc>
                <a:spcPct val="115000"/>
              </a:lnSpc>
            </a:pPr>
            <a:r>
              <a:rPr sz="72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40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사전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8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공개 매체 데이터 및 타깃 동선 추적을 통한 </a:t>
            </a:r>
            <a:r>
              <a:rPr lang="en-US" altLang="ko-KR" sz="18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8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차 핵심 리스크 진단</a:t>
            </a:r>
            <a:endParaRPr sz="18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914400" y="4343400"/>
            <a:ext cx="5029200" cy="0"/>
          </a:xfrm>
          <a:prstGeom prst="line">
            <a:avLst/>
          </a:prstGeom>
          <a:ln w="12700">
            <a:solidFill>
              <a:srgbClr val="C9A3E3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914400" y="452628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 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SA/GFA 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및 메타 외부 노출 소재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키워드 점유율 분석</a:t>
            </a:r>
            <a:endParaRPr lang="en-US" altLang="ko-KR"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대행권 이관 이후 정밀 진단을 위한 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차 진단 종합</a:t>
            </a:r>
            <a:endParaRPr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6개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영역을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직접</a:t>
            </a:r>
            <a:r>
              <a:rPr 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두 눈으로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r>
              <a:rPr lang="ko-KR" altLang="en-US" sz="240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했습니다</a:t>
            </a:r>
            <a:r>
              <a:rPr lang="en-US" altLang="ko-KR" sz="240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조사일 2026.10.23 · 외부 공개 데이터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26913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네이버 데이터랩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314858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아이라이너 카테고리 고객·검색어 추이 (최근 1년)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178308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20184" y="201168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3104" y="2011680"/>
            <a:ext cx="26913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네이버 통합검색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0184" y="2560320"/>
            <a:ext cx="314858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'나어릴때' 검색 결과 (PC·모바일)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1688" y="178308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00288" y="201168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3208" y="2011680"/>
            <a:ext cx="26913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네이버 쇼핑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288" y="2560320"/>
            <a:ext cx="314858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워터프루프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아이라이너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', </a:t>
            </a:r>
            <a:endParaRPr lang="en-US"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</a:pPr>
            <a:r>
              <a:rPr lang="en-US" sz="130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펜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아이라이너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노출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현황</a:t>
            </a:r>
            <a:endParaRPr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11480" y="347472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370332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03320"/>
            <a:ext cx="26913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메타 광고 라이브러리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51959"/>
            <a:ext cx="314858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나어릴때 및 아이라이너 경쟁 광고 약 110개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1584" y="347472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20184" y="370332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3104" y="3703320"/>
            <a:ext cx="26913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인스타그램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0184" y="4251959"/>
            <a:ext cx="314858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@naeorilttae_official 운영 현황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1688" y="347472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400288" y="370332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3208" y="3703320"/>
            <a:ext cx="26913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자사몰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0288" y="4251959"/>
            <a:ext cx="3148584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상품 구성, 리뷰, 광고 추적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257800"/>
            <a:ext cx="113659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광고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계정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성과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데이터는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포함하지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않았습니다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. </a:t>
            </a:r>
            <a:endParaRPr lang="en-US"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</a:pPr>
            <a:r>
              <a:rPr lang="ko-KR" altLang="en-US" sz="130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추후</a:t>
            </a:r>
            <a:r>
              <a:rPr lang="en-US" altLang="ko-KR" sz="130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ko-KR" altLang="en-US" sz="130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계정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권한을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주시면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300" dirty="0">
                <a:solidFill>
                  <a:srgbClr val="5E5759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 </a:t>
            </a:r>
            <a:r>
              <a:rPr lang="en-US" sz="1300" dirty="0">
                <a:solidFill>
                  <a:srgbClr val="FF0000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1</a:t>
            </a:r>
            <a:r>
              <a:rPr sz="1300" dirty="0">
                <a:solidFill>
                  <a:srgbClr val="FF0000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주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안에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정밀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진단</a:t>
            </a:r>
            <a:r>
              <a:rPr lang="ko-KR" altLang="en-US" sz="130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을 진행하여 리포트를 전달 드릴 수 있습니다</a:t>
            </a:r>
            <a:r>
              <a:rPr lang="en-US" altLang="ko-KR" sz="130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. </a:t>
            </a:r>
            <a:endParaRPr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아이라이너는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40~50대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여성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들이 주로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모바일</a:t>
            </a:r>
            <a:r>
              <a:rPr lang="ko-KR" altLang="en-US" sz="240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로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검색합니다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 데이터랩 쇼핑인사이트 · 화장품/미용 &gt; 색조메이크업 &gt; 아이라이너 · 2025.10.22~2026.10.22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출처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네이버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데이터랩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카테고리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전체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나어릴때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고객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아님</a:t>
            </a:r>
            <a:r>
              <a:rPr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en-US"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0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블랙키위 검색 결과</a:t>
            </a:r>
            <a:endParaRPr sz="1000" b="0" dirty="0">
              <a:solidFill>
                <a:srgbClr val="8F878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2788920" cy="2926080"/>
          </a:xfrm>
          <a:prstGeom prst="roundRect">
            <a:avLst>
              <a:gd name="adj" fmla="val 2622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828800"/>
          <a:ext cx="26060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383280" y="1783080"/>
            <a:ext cx="2788920" cy="2926080"/>
          </a:xfrm>
          <a:prstGeom prst="roundRect">
            <a:avLst>
              <a:gd name="adj" fmla="val 2622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474720" y="1828800"/>
          <a:ext cx="26060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355080" y="1783080"/>
            <a:ext cx="542239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892807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연령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51960"/>
            <a:ext cx="496519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1위 40대 · 2위 50대 · 3위 30대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892040"/>
            <a:ext cx="11365992" cy="123444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5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인사이트</a:t>
            </a:r>
            <a:r>
              <a:rPr sz="15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lang="ko-KR" altLang="en-US" sz="15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데모그래픽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타겟을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20대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중심</a:t>
            </a:r>
            <a:r>
              <a:rPr lang="ko-KR" alt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보다는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30~50대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여성으로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잡</a:t>
            </a:r>
            <a:r>
              <a:rPr lang="ko-KR" alt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는 것이 더 합리적으로 </a:t>
            </a:r>
            <a:r>
              <a:rPr lang="ko-KR" altLang="en-US"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보입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니다</a:t>
            </a:r>
            <a:r>
              <a:rPr 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.</a:t>
            </a:r>
            <a:endParaRPr sz="15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5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인사이트</a:t>
            </a:r>
            <a:r>
              <a:rPr sz="15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'나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어릴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때'라는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브랜드명의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dirty="0" err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향수</a:t>
            </a:r>
            <a:r>
              <a:rPr sz="1500" dirty="0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dirty="0" err="1">
                <a:solidFill>
                  <a:srgbClr val="FF0000"/>
                </a:solidFill>
                <a:latin typeface="Pretendard"/>
                <a:ea typeface="Pretendard"/>
                <a:cs typeface="Pretendard"/>
              </a:rPr>
              <a:t>코드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는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이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연령대에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특히</a:t>
            </a:r>
            <a:r>
              <a:rPr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잘 맞</a:t>
            </a:r>
            <a:r>
              <a:rPr lang="ko-KR" altLang="en-US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는 것으로 보입니다</a:t>
            </a:r>
            <a:r>
              <a:rPr lang="en-US" altLang="ko-KR" sz="15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. </a:t>
            </a:r>
            <a:endParaRPr sz="15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A481101E-D5F4-9683-BBAA-AFDFAB5F9D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7051772"/>
              </p:ext>
            </p:extLst>
          </p:nvPr>
        </p:nvGraphicFramePr>
        <p:xfrm>
          <a:off x="6583680" y="2157984"/>
          <a:ext cx="4757420" cy="2045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카테고리 메인 수요는 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'</a:t>
            </a:r>
            <a:r>
              <a:rPr lang="ko-KR" altLang="en-US"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워터프루프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'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중심 형성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브랜드 </a:t>
            </a:r>
            <a:r>
              <a:rPr lang="ko-KR" altLang="en-US"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검색량은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11~12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월에 집중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 데이터랩 검색어 통계 · 아이라이너 카테고리 · 1년 상대지수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출처: 네이버 데이터랩. 수치는 실제 검색 횟수가 아닌 상대지수입니다.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783540"/>
              </p:ext>
            </p:extLst>
          </p:nvPr>
        </p:nvGraphicFramePr>
        <p:xfrm>
          <a:off x="502920" y="1828800"/>
          <a:ext cx="521208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035040" y="1783080"/>
            <a:ext cx="5742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08719"/>
              </p:ext>
            </p:extLst>
          </p:nvPr>
        </p:nvGraphicFramePr>
        <p:xfrm>
          <a:off x="6126480" y="1828800"/>
          <a:ext cx="5559552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1480" y="4983480"/>
            <a:ext cx="11365992" cy="1188720"/>
          </a:xfrm>
          <a:prstGeom prst="roundRect">
            <a:avLst>
              <a:gd name="adj" fmla="val 6153"/>
            </a:avLst>
          </a:prstGeom>
          <a:solidFill>
            <a:srgbClr val="F1E4F8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2025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년 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11~12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월 브랜드 </a:t>
            </a:r>
            <a:r>
              <a:rPr lang="ko-KR" altLang="en-US"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검색량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평소 대비 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2~4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배 급증</a:t>
            </a: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이번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11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월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'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슈퍼적립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프로모션 집중 </a:t>
            </a:r>
            <a:r>
              <a:rPr lang="ko-KR" altLang="en-US" sz="14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부스팅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필수</a:t>
            </a:r>
            <a:endParaRPr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최대 검색 볼륨은 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'</a:t>
            </a:r>
            <a:r>
              <a:rPr lang="ko-KR" altLang="en-US"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워터프루프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아이라이너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'(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지수 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7,974)</a:t>
            </a: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All New </a:t>
            </a:r>
            <a:r>
              <a:rPr lang="ko-KR" altLang="en-US" sz="14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워터프루프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라인업 집중 노출</a:t>
            </a:r>
            <a:endParaRPr lang="en-US" altLang="ko-KR"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세부 제품명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('</a:t>
            </a:r>
            <a:r>
              <a:rPr lang="ko-KR" altLang="en-US"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엣지홀릭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') 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인지도 저조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지수 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14)</a:t>
            </a: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개별 상품명 대신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'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브랜드명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+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기능성 키워드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검색 구조 전환</a:t>
            </a:r>
            <a:endParaRPr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C73B0E4E-D611-1713-9AED-BC24BB5291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7" b="30540"/>
          <a:stretch>
            <a:fillRect/>
          </a:stretch>
        </p:blipFill>
        <p:spPr>
          <a:xfrm>
            <a:off x="403125" y="1783081"/>
            <a:ext cx="2656457" cy="3520439"/>
          </a:xfrm>
          <a:prstGeom prst="roundRect">
            <a:avLst>
              <a:gd name="adj" fmla="val 3343"/>
            </a:avLst>
          </a:prstGeom>
          <a:ln>
            <a:solidFill>
              <a:srgbClr val="FFCCFF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A25C9FC-2DF6-7CEA-1788-CAE4CB680D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842"/>
          <a:stretch>
            <a:fillRect/>
          </a:stretch>
        </p:blipFill>
        <p:spPr>
          <a:xfrm>
            <a:off x="3246120" y="1783080"/>
            <a:ext cx="3931920" cy="3522367"/>
          </a:xfrm>
          <a:prstGeom prst="roundRect">
            <a:avLst>
              <a:gd name="adj" fmla="val 983"/>
            </a:avLst>
          </a:prstGeom>
          <a:ln>
            <a:solidFill>
              <a:srgbClr val="FFCCFF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'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나어릴때'를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검색한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고객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이 다른 곳으로 새고 있습니다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 통합검색 '나어릴때' · 2026.10.23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33095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 eaLnBrk="1" latinLnBrk="0">
              <a:lnSpc>
                <a:spcPct val="115000"/>
              </a:lnSpc>
            </a:pPr>
            <a:r>
              <a:rPr sz="11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모바일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5330952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 eaLnBrk="1" latinLnBrk="0">
              <a:lnSpc>
                <a:spcPct val="115000"/>
              </a:lnSpc>
            </a:pPr>
            <a:r>
              <a:rPr sz="11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PC</a:t>
            </a:r>
          </a:p>
        </p:txBody>
      </p:sp>
      <p:sp>
        <p:nvSpPr>
          <p:cNvPr id="10" name="Oval 9"/>
          <p:cNvSpPr/>
          <p:nvPr/>
        </p:nvSpPr>
        <p:spPr>
          <a:xfrm>
            <a:off x="7406640" y="178308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783080"/>
            <a:ext cx="38679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브랜드검색 미집행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194560"/>
            <a:ext cx="3867912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PC</a:t>
            </a:r>
            <a:r>
              <a:rPr lang="en-US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및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모바일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브랜드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전용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영역이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없습니다</a:t>
            </a:r>
            <a:r>
              <a:rPr lang="en-US" sz="130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.</a:t>
            </a:r>
            <a:endParaRPr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406640" y="2971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971800"/>
            <a:ext cx="38679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AI 브리핑의 해석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383280"/>
            <a:ext cx="3867912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모바일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최상단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AI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브리핑이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브랜드명을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'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어린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시절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추억'으로도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해석해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90년대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추억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콘텐츠가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섞여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나옵니다</a:t>
            </a:r>
            <a:endParaRPr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406640" y="416052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160520"/>
            <a:ext cx="38679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다른 가격 노출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572000"/>
            <a:ext cx="3867912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AI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브리핑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관련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상품에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공식가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(8,500원)와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다른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20,700원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판매처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상품이</a:t>
            </a:r>
            <a:r>
              <a:rPr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노출됩니다</a:t>
            </a:r>
            <a:endParaRPr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1480" y="5577840"/>
            <a:ext cx="11365992" cy="621792"/>
          </a:xfrm>
          <a:prstGeom prst="roundRect">
            <a:avLst>
              <a:gd name="adj" fmla="val 11764"/>
            </a:avLst>
          </a:prstGeom>
          <a:solidFill>
            <a:srgbClr val="F1E4F8"/>
          </a:solidFill>
          <a:ln>
            <a:noFill/>
          </a:ln>
        </p:spPr>
        <p:txBody>
          <a:bodyPr wrap="square" lIns="228600" tIns="36576" rIns="22860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브랜드명이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일반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명사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라서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브랜드검색으로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상단을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지키는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것이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특히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중요합니다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AI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검색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노출은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NICECORE SEO/AEO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진단으로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함께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점검할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수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있습니다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네이버 쇼핑 자연 유입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(SEO) 1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위이나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광고 구좌는 경쟁사가 차지하고 있음 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 쇼핑 모바일 · 2026.10.23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00760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워터프루프 아이라이너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600760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펜 아이라이너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637172"/>
              </p:ext>
            </p:extLst>
          </p:nvPr>
        </p:nvGraphicFramePr>
        <p:xfrm>
          <a:off x="5257800" y="1783080"/>
          <a:ext cx="6519672" cy="26334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영역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워터프루프 아이라이너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펜 아이라이너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필터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나어릴때 첫 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나어릴때 첫 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상단 쇼핑 브랜드형 광고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네오젠, 케이트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케이트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쇼핑검색 광고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삐아 2, 머지 2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머지 3, 비오엠, 패션캣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하단 파워링크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케이트, 에네스티 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블랑디바, 머지 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나어릴때 광고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1E4F8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lang="en-US" altLang="ko-KR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[</a:t>
                      </a:r>
                      <a:r>
                        <a:rPr lang="ko-KR" altLang="en-US" sz="1300" b="1" dirty="0" err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미집행</a:t>
                      </a:r>
                      <a:r>
                        <a:rPr lang="ko-KR" altLang="en-US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en-US" altLang="ko-KR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/ </a:t>
                      </a:r>
                      <a:r>
                        <a:rPr lang="ko-KR" altLang="en-US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노출 없음</a:t>
                      </a:r>
                      <a:r>
                        <a:rPr lang="en-US" altLang="ko-KR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]</a:t>
                      </a:r>
                      <a:endParaRPr sz="1300" b="1" dirty="0">
                        <a:solidFill>
                          <a:srgbClr val="7B2FB5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1E4F8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lang="en-US" altLang="ko-KR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[</a:t>
                      </a:r>
                      <a:r>
                        <a:rPr lang="ko-KR" altLang="en-US" sz="1300" b="1" dirty="0" err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미집행</a:t>
                      </a:r>
                      <a:r>
                        <a:rPr lang="ko-KR" altLang="en-US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en-US" altLang="ko-KR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/ </a:t>
                      </a:r>
                      <a:r>
                        <a:rPr lang="ko-KR" altLang="en-US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노출 없음</a:t>
                      </a:r>
                      <a:r>
                        <a:rPr lang="en-US" altLang="ko-KR"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]</a:t>
                      </a:r>
                      <a:endParaRPr sz="1300" b="1" dirty="0">
                        <a:solidFill>
                          <a:srgbClr val="7B2FB5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1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257800" y="4663440"/>
            <a:ext cx="6519672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 algn="l" eaLnBrk="1" latinLnBrk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동일 가격대 경쟁사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('</a:t>
            </a:r>
            <a:r>
              <a:rPr lang="ko-KR" altLang="en-US"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머지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', 6~8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천 원대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가 쇼핑검색 및 파워링크 구좌를 독점하여 광고 구좌 공백</a:t>
            </a:r>
            <a:endParaRPr lang="en-US" sz="140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marL="177800" indent="-177800" algn="l" eaLnBrk="1" latinLnBrk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자연 유입 우위를 점유한 브랜드 필터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위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나어릴때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의 이점을 살려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즉각적인 쇼핑검색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및 브랜드형 광고 집행으로 전환함으로써 </a:t>
            </a:r>
            <a:r>
              <a:rPr lang="ko-KR" altLang="en-US" sz="14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마켓쉐어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방어 필수</a:t>
            </a:r>
            <a:endParaRPr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BF720F5-F5AD-3AE3-BC3C-278D8333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9" r="1"/>
          <a:stretch>
            <a:fillRect/>
          </a:stretch>
        </p:blipFill>
        <p:spPr>
          <a:xfrm>
            <a:off x="435913" y="1783080"/>
            <a:ext cx="2215847" cy="4074393"/>
          </a:xfrm>
          <a:prstGeom prst="rect">
            <a:avLst/>
          </a:prstGeom>
          <a:ln>
            <a:solidFill>
              <a:srgbClr val="FFCCFF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338DC8E-A8C3-B109-1546-113462349F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594"/>
          <a:stretch>
            <a:fillRect/>
          </a:stretch>
        </p:blipFill>
        <p:spPr>
          <a:xfrm>
            <a:off x="2788920" y="1783079"/>
            <a:ext cx="2194560" cy="4069081"/>
          </a:xfrm>
          <a:prstGeom prst="rect">
            <a:avLst/>
          </a:prstGeom>
          <a:ln>
            <a:solidFill>
              <a:srgbClr val="FFCCFF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0800E318-6EFE-5EC0-E523-226A12A8C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 b="35366"/>
          <a:stretch>
            <a:fillRect/>
          </a:stretch>
        </p:blipFill>
        <p:spPr>
          <a:xfrm>
            <a:off x="7205918" y="1783080"/>
            <a:ext cx="4571554" cy="3337559"/>
          </a:xfrm>
          <a:prstGeom prst="roundRect">
            <a:avLst>
              <a:gd name="adj" fmla="val 1827"/>
            </a:avLst>
          </a:prstGeom>
        </p:spPr>
      </p:pic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오가닉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1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위 자리에 쇼핑검색 광고를 결합하여 검색 지면 더블 </a:t>
            </a:r>
            <a:r>
              <a:rPr lang="ko-KR" altLang="en-US"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도미넌스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구축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'워터프루프 아이라이너' 쇼핑 탭 · 엣지홀릭 브러쉬 브랜드 카탈로그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6583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48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4,901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7063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카탈로그 리뷰 수 (평점 4.57)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965960"/>
            <a:ext cx="384048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검색 탭 </a:t>
            </a:r>
            <a:r>
              <a:rPr lang="ko-KR" altLang="en-US"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오가닉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위의 압도적인 리뷰 신뢰도에 쇼핑검색 광고를 연동하여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상단 고정 노출과 자연 유입을 동시에 독점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이중 노출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)</a:t>
            </a:r>
            <a:endParaRPr sz="14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3520439"/>
            <a:ext cx="6583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657599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48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0799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판매처 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03320"/>
            <a:ext cx="384048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다채널 최저가 비교 분산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공식가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대비 저가 매칭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으로 인해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광고 예산으로 유입시킨 잠재 고객이 타 판매처로 이탈할 리스크 상존</a:t>
            </a:r>
            <a:endParaRPr lang="en-US" altLang="ko-KR" sz="140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</a:pP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▶ 판매처 가격 정책 점검 권장</a:t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/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/>
            </a:r>
            <a:r>
              <a:rPr lang="en-US" altLang="ko-KR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/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endParaRPr sz="14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11480" y="5349240"/>
            <a:ext cx="11365992" cy="777240"/>
          </a:xfrm>
          <a:prstGeom prst="roundRect">
            <a:avLst>
              <a:gd name="adj" fmla="val 9411"/>
            </a:avLst>
          </a:prstGeom>
          <a:solidFill>
            <a:srgbClr val="F1E4F8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최소 비용으로 최대 전환을 이끌어내는 쇼핑검색 광고 즉각 집행과 더불어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채널별 가격비교 매칭 정합성 점검을 통한 </a:t>
            </a:r>
            <a:r>
              <a:rPr lang="ko-KR" altLang="en-US" sz="14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자사몰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수익성 방어를 제안드립니다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.</a:t>
            </a:r>
            <a:endParaRPr sz="14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12FCC81-D80D-8A52-9526-F2F0BC01E0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389" b="50049"/>
          <a:stretch>
            <a:fillRect/>
          </a:stretch>
        </p:blipFill>
        <p:spPr>
          <a:xfrm>
            <a:off x="7205918" y="2990851"/>
            <a:ext cx="4571554" cy="1371600"/>
          </a:xfrm>
          <a:prstGeom prst="roundRect">
            <a:avLst>
              <a:gd name="adj" fmla="val 1827"/>
            </a:avLst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11480" y="1783080"/>
            <a:ext cx="3749039" cy="3611880"/>
          </a:xfrm>
          <a:prstGeom prst="roundRect">
            <a:avLst>
              <a:gd name="adj" fmla="val 2025"/>
            </a:avLst>
          </a:prstGeom>
          <a:solidFill>
            <a:srgbClr val="FEF2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DBB5A7B-D2C1-47FA-421E-EE249983F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94559"/>
            <a:ext cx="1499617" cy="187452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경쟁사는 </a:t>
            </a:r>
            <a:r>
              <a:rPr lang="ko-KR" altLang="en-US"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소구점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중심의 소재 다각화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자사는 단일 할인 배너 반복으로 크리에이티브 경쟁력 정체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메타 광고 라이브러리 · 집행 중 광고 · 2026.10.23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3383279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나어릴때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240280"/>
            <a:ext cx="1828799" cy="3063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300"/>
              </a:spcAft>
            </a:pPr>
            <a:r>
              <a:rPr lang="ko-KR" altLang="en-US"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단일 프로모션 소재 고착화</a:t>
            </a:r>
            <a:endParaRPr lang="en-US" sz="12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marL="152400" indent="-152400" algn="l" eaLnBrk="1" latinLnBrk="0">
              <a:lnSpc>
                <a:spcPct val="115000"/>
              </a:lnSpc>
              <a:spcAft>
                <a:spcPts val="300"/>
              </a:spcAft>
              <a:buChar char="•"/>
            </a:pP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집행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중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광고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5개,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10/11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시작</a:t>
            </a:r>
            <a:endParaRPr sz="12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marL="152400" indent="-152400" algn="l" eaLnBrk="1" latinLnBrk="0">
              <a:lnSpc>
                <a:spcPct val="115000"/>
              </a:lnSpc>
              <a:spcAft>
                <a:spcPts val="300"/>
              </a:spcAft>
              <a:buChar char="•"/>
            </a:pP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할로윈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펜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아이라이너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할인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(10/12~31)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단일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프로모션</a:t>
            </a:r>
            <a:endParaRPr sz="12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marL="152400" indent="-152400" algn="l" eaLnBrk="1" latinLnBrk="0">
              <a:lnSpc>
                <a:spcPct val="115000"/>
              </a:lnSpc>
              <a:spcAft>
                <a:spcPts val="300"/>
              </a:spcAft>
              <a:buChar char="•"/>
            </a:pP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전부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일러스트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할인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배너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제품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시연·영상</a:t>
            </a:r>
            <a:r>
              <a:rPr sz="12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2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부재</a:t>
            </a:r>
            <a:endParaRPr sz="12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marL="152400" indent="-152400" algn="l" eaLnBrk="1" latinLnBrk="0">
              <a:lnSpc>
                <a:spcPct val="115000"/>
              </a:lnSpc>
              <a:spcAft>
                <a:spcPts val="300"/>
              </a:spcAft>
              <a:buChar char="•"/>
            </a:pPr>
            <a:r>
              <a:rPr lang="en-US" altLang="ko-KR" sz="1200" b="1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5</a:t>
            </a:r>
            <a:r>
              <a:rPr lang="ko-KR" altLang="en-US" sz="1200" b="1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개 중 </a:t>
            </a:r>
            <a:r>
              <a:rPr lang="en-US" altLang="ko-KR" sz="1200" b="1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lang="ko-KR" altLang="en-US" sz="1200" b="1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개가 동일 메시지 반복 집행 → 크리에이티브 </a:t>
            </a:r>
            <a:r>
              <a:rPr lang="en-US" altLang="ko-KR" sz="1200" b="1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A/B </a:t>
            </a:r>
            <a:r>
              <a:rPr lang="ko-KR" altLang="en-US" sz="1200" b="1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테스트 및 앵글 다각화 부재 </a:t>
            </a:r>
            <a:endParaRPr sz="1200" b="1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7388352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702259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경쟁사</a:t>
            </a:r>
            <a:r>
              <a:rPr sz="1500" b="1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2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('</a:t>
            </a:r>
            <a:r>
              <a:rPr sz="1200" b="0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아이라이너</a:t>
            </a:r>
            <a:r>
              <a:rPr sz="12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' </a:t>
            </a:r>
            <a:r>
              <a:rPr sz="1200" b="0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키워드</a:t>
            </a:r>
            <a:r>
              <a:rPr sz="12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광고</a:t>
            </a:r>
            <a:r>
              <a:rPr sz="12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 약 110개, </a:t>
            </a:r>
            <a:r>
              <a:rPr sz="1200" b="0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절반</a:t>
            </a:r>
            <a:r>
              <a:rPr sz="12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이상이</a:t>
            </a:r>
            <a:r>
              <a:rPr sz="12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영상</a:t>
            </a:r>
            <a:r>
              <a:rPr sz="1200" b="0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)</a:t>
            </a:r>
          </a:p>
        </p:txBody>
      </p:sp>
      <p:sp>
        <p:nvSpPr>
          <p:cNvPr id="12" name="IMG_s14_meta_clio.png"/>
          <p:cNvSpPr/>
          <p:nvPr/>
        </p:nvSpPr>
        <p:spPr>
          <a:xfrm>
            <a:off x="4572000" y="2240280"/>
            <a:ext cx="2218944" cy="1737360"/>
          </a:xfrm>
          <a:prstGeom prst="roundRect">
            <a:avLst>
              <a:gd name="adj" fmla="val 2631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endParaRPr sz="12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4069080"/>
            <a:ext cx="2218944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300" b="1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클리오</a:t>
            </a:r>
            <a:endParaRPr sz="1300" b="1" dirty="0">
              <a:solidFill>
                <a:srgbClr val="5E5759"/>
              </a:solidFill>
              <a:latin typeface="Pretendard Medium"/>
              <a:ea typeface="Pretendard Medium"/>
              <a:cs typeface="Pretendard Medium"/>
            </a:endParaRPr>
          </a:p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"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올영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1위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라이너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" 1+1</a:t>
            </a:r>
            <a:r>
              <a:rPr lang="en-US"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개당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6천원대</a:t>
            </a:r>
          </a:p>
        </p:txBody>
      </p:sp>
      <p:sp>
        <p:nvSpPr>
          <p:cNvPr id="14" name="IMG_s14_meta_sisterand.png"/>
          <p:cNvSpPr/>
          <p:nvPr/>
        </p:nvSpPr>
        <p:spPr>
          <a:xfrm>
            <a:off x="6973824" y="2240280"/>
            <a:ext cx="2218944" cy="1737360"/>
          </a:xfrm>
          <a:prstGeom prst="roundRect">
            <a:avLst>
              <a:gd name="adj" fmla="val 2631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endParaRPr sz="12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73824" y="4069080"/>
            <a:ext cx="2218944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300" b="1" dirty="0" err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씨스터</a:t>
            </a:r>
            <a:r>
              <a:rPr lang="ko-KR" altLang="en-US" sz="1300" b="1" dirty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앤</a:t>
            </a:r>
            <a:endParaRPr sz="1300" b="1" dirty="0">
              <a:solidFill>
                <a:srgbClr val="5E5759"/>
              </a:solidFill>
              <a:latin typeface="Pretendard Medium"/>
              <a:ea typeface="Pretendard Medium"/>
              <a:cs typeface="Pretendard Medium"/>
            </a:endParaRPr>
          </a:p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"비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오고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물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튀겨도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"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번짐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방지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영상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6/23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시작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소재를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4개월째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집행</a:t>
            </a:r>
            <a:endParaRPr sz="12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IMG_s14_meta_naming.png"/>
          <p:cNvSpPr/>
          <p:nvPr/>
        </p:nvSpPr>
        <p:spPr>
          <a:xfrm>
            <a:off x="9375648" y="2240280"/>
            <a:ext cx="2218944" cy="1737360"/>
          </a:xfrm>
          <a:prstGeom prst="roundRect">
            <a:avLst>
              <a:gd name="adj" fmla="val 2631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이미지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필요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: s14_meta_naming.png]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5648" y="4069080"/>
            <a:ext cx="2218944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네이밍</a:t>
            </a:r>
          </a:p>
          <a:p>
            <a:pPr algn="l" eaLnBrk="1" latinLnBrk="0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"속쌍도 번짐 걱정 없는 트임라이너, 1mm"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53212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경쟁 광고의 메시지는 다섯 가지로 모입니다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564184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두께 수치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56418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번짐 방지 시연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564184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용도(트임·애교살)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56418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1위·대란템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87000" y="56418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1+1 가격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676A327A-2917-5071-D15B-01F725FDCE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5" b="1165"/>
          <a:stretch>
            <a:fillRect/>
          </a:stretch>
        </p:blipFill>
        <p:spPr>
          <a:xfrm>
            <a:off x="4987046" y="2244143"/>
            <a:ext cx="1388852" cy="172590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07BAF23-E973-AD34-53D8-5D8C0B3D64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516" y="2240280"/>
            <a:ext cx="1385560" cy="174282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6233570-6F2E-2F36-A6BA-3749570F34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37" y="2240280"/>
            <a:ext cx="1729767" cy="17297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경쟁사가 광고비로 말하는 강점을, 나어릴때 고객은 이미 말하고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나어릴때</a:t>
            </a:r>
            <a:r>
              <a:rPr lang="ko-KR" altLang="en-US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자사몰</a:t>
            </a:r>
            <a:r>
              <a:rPr lang="ko-KR" altLang="en-US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실제 구매 고객 </a:t>
            </a:r>
            <a:r>
              <a:rPr lang="en-US" altLang="ko-KR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VOC </a:t>
            </a:r>
            <a:r>
              <a:rPr lang="ko-KR" altLang="en-US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및 리뷰 데이터 분석 기준</a:t>
            </a:r>
            <a:endParaRPr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3605784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4000" b="0">
                <a:solidFill>
                  <a:srgbClr val="C9A3E3"/>
                </a:solidFill>
                <a:latin typeface="Pretendard Black"/>
                <a:ea typeface="Pretendard Black"/>
                <a:cs typeface="Pretendard Black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148584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"선명하게 잘 그려지고 번지지 않아서 더울 때도 열심히 사용했어요!"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148584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— 오리지널 엣지홀릭 브러쉬 아이라이너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1783080"/>
            <a:ext cx="3605784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0184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4000" b="0">
                <a:solidFill>
                  <a:srgbClr val="C9A3E3"/>
                </a:solidFill>
                <a:latin typeface="Pretendard Black"/>
                <a:ea typeface="Pretendard Black"/>
                <a:cs typeface="Pretendard Black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2286000"/>
            <a:ext cx="3148584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"번지지 않는!!"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0184" y="3246120"/>
            <a:ext cx="3148584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— 엣지홀릭 펜 아이라이너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1688" y="1783080"/>
            <a:ext cx="3605784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00288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4000" b="0">
                <a:solidFill>
                  <a:srgbClr val="C9A3E3"/>
                </a:solidFill>
                <a:latin typeface="Pretendard Black"/>
                <a:ea typeface="Pretendard Black"/>
                <a:cs typeface="Pretendard Black"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0288" y="2286000"/>
            <a:ext cx="3148584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"아이라이너는 역시 나어릴때"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288" y="3246120"/>
            <a:ext cx="3148584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— 엣지홀릭 펜 아이라이너 (재구매 고객)</a:t>
            </a:r>
          </a:p>
        </p:txBody>
      </p:sp>
      <p:sp>
        <p:nvSpPr>
          <p:cNvPr id="18" name="IMG_s15_reviews.png"/>
          <p:cNvSpPr/>
          <p:nvPr/>
        </p:nvSpPr>
        <p:spPr>
          <a:xfrm>
            <a:off x="411480" y="3886200"/>
            <a:ext cx="4206240" cy="2286000"/>
          </a:xfrm>
          <a:prstGeom prst="roundRect">
            <a:avLst>
              <a:gd name="adj" fmla="val 2000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s15_reviews.png]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886200"/>
            <a:ext cx="6931152" cy="2286000"/>
          </a:xfrm>
          <a:prstGeom prst="roundRect">
            <a:avLst>
              <a:gd name="adj" fmla="val 3200"/>
            </a:avLst>
          </a:prstGeom>
          <a:solidFill>
            <a:srgbClr val="7B2FB5"/>
          </a:solidFill>
          <a:ln>
            <a:noFill/>
          </a:ln>
        </p:spPr>
        <p:txBody>
          <a:bodyPr wrap="square" lIns="365760" tIns="36576" rIns="365760" bIns="36576" rtlCol="0" anchor="ctr"/>
          <a:lstStyle/>
          <a:p>
            <a:pPr algn="l" eaLnBrk="1" latinLnBrk="0">
              <a:lnSpc>
                <a:spcPct val="115000"/>
              </a:lnSpc>
              <a:spcAft>
                <a:spcPts val="600"/>
              </a:spcAft>
            </a:pP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시장 선두 경쟁사들이 광고비로 </a:t>
            </a:r>
            <a:r>
              <a:rPr lang="ko-KR" altLang="en-US"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소구하는</a:t>
            </a: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핵심 포인트</a:t>
            </a:r>
            <a:r>
              <a:rPr lang="en-US" altLang="ko-KR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('</a:t>
            </a: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번짐 방지</a:t>
            </a:r>
            <a:r>
              <a:rPr lang="en-US" altLang="ko-KR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', '</a:t>
            </a: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지속력</a:t>
            </a:r>
            <a:r>
              <a:rPr lang="en-US" altLang="ko-KR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', '</a:t>
            </a: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재구매</a:t>
            </a:r>
            <a:r>
              <a:rPr lang="en-US" altLang="ko-KR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')</a:t>
            </a: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를 </a:t>
            </a:r>
            <a:r>
              <a:rPr lang="ko-KR" altLang="en-US"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나어릴때는</a:t>
            </a: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이미 실구매자들의 </a:t>
            </a:r>
            <a:r>
              <a:rPr lang="ko-KR" altLang="en-US"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리얼</a:t>
            </a: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VOC</a:t>
            </a:r>
            <a:r>
              <a:rPr lang="ko-KR" altLang="en-US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 확보하고 있습니다</a:t>
            </a:r>
            <a:r>
              <a:rPr lang="en-US" altLang="ko-KR"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 algn="l" eaLnBrk="1" latinLnBrk="0">
              <a:lnSpc>
                <a:spcPct val="115000"/>
              </a:lnSpc>
              <a:spcAft>
                <a:spcPts val="600"/>
              </a:spcAft>
            </a:pPr>
            <a:r>
              <a:rPr lang="ko-KR" altLang="en-US" sz="17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검증된 자산</a:t>
            </a:r>
            <a:r>
              <a:rPr lang="en-US" altLang="ko-KR" sz="17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(VOC)</a:t>
            </a:r>
            <a:r>
              <a:rPr lang="ko-KR" altLang="en-US" sz="17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을 사장시키지 않고</a:t>
            </a:r>
            <a:r>
              <a:rPr lang="en-US" altLang="ko-KR" sz="17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11월 대행 이관 즉시</a:t>
            </a:r>
            <a:r>
              <a:rPr lang="ko-KR" altLang="en-US" sz="17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고효율 전환 </a:t>
            </a:r>
            <a:r>
              <a:rPr lang="ko-KR" altLang="en-US" sz="17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숏폼</a:t>
            </a:r>
            <a:r>
              <a:rPr lang="en-US" altLang="ko-KR" sz="17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7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배너 소재로 전면 무장시키겠습니다</a:t>
            </a:r>
            <a:r>
              <a:rPr lang="en-US" altLang="ko-KR" sz="17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  <a:endParaRPr sz="1700" b="0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85D0A1C-965A-CB5B-5A10-B6A612BA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97" y="3886200"/>
            <a:ext cx="2560567" cy="22585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411480" y="1645920"/>
            <a:ext cx="6537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AF5AF4B-0065-0846-854D-CF1A251FB9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260"/>
          <a:stretch>
            <a:fillRect/>
          </a:stretch>
        </p:blipFill>
        <p:spPr>
          <a:xfrm>
            <a:off x="640080" y="2184047"/>
            <a:ext cx="2286000" cy="3850993"/>
          </a:xfrm>
          <a:prstGeom prst="rect">
            <a:avLst/>
          </a:prstGeom>
          <a:ln>
            <a:solidFill>
              <a:srgbClr val="FFCCFF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광고 유입 타깃의 전환율을 떨어뜨리는 인스타그램 </a:t>
            </a:r>
            <a:r>
              <a:rPr lang="ko-KR" altLang="en-US"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피드 공백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및 데이터 분석 인프라 미비 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653796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인스타그램 @naeorilttae_official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194560"/>
            <a:ext cx="3749040" cy="3840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500"/>
              </a:spcAft>
            </a:pPr>
            <a:r>
              <a:rPr lang="ko-KR" altLang="en-US" sz="13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인스타그램 오피셜 계정 운영 진단</a:t>
            </a:r>
            <a:endParaRPr lang="en-US" altLang="ko-KR" sz="130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  <a:spcAft>
                <a:spcPts val="500"/>
              </a:spcAft>
            </a:pPr>
            <a:endParaRPr lang="en-US" sz="130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marL="165100" indent="-165100" algn="l" eaLnBrk="1" latinLnBrk="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팔로워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1,615명 ·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게시물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79개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00" b="1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마지막</a:t>
            </a:r>
            <a:r>
              <a:rPr sz="1300" b="1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게시물</a:t>
            </a:r>
            <a:r>
              <a:rPr sz="1300" b="1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9/12 → 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40일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이상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업로드</a:t>
            </a:r>
            <a:r>
              <a:rPr sz="13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없음</a:t>
            </a:r>
            <a:endParaRPr sz="13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  <a:p>
            <a:pPr marL="165100" indent="-165100" algn="l" eaLnBrk="1" latinLnBrk="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8/9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하루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7개, 8/22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하루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3개 →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꾸준히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올리기보다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몰아서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올리는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패턴</a:t>
            </a:r>
            <a:endParaRPr sz="13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marL="165100" indent="-165100" algn="l" eaLnBrk="1" latinLnBrk="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10/11부터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할로윈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광고가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라이브 되고 있는데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피드에는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관련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게시물이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없</a:t>
            </a:r>
            <a:r>
              <a:rPr lang="ko-KR" altLang="en-US" sz="13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습니다</a:t>
            </a:r>
            <a:r>
              <a:rPr lang="en-US" altLang="ko-KR" sz="13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. </a:t>
            </a:r>
            <a:endParaRPr sz="13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marL="165100" indent="-165100" algn="l" eaLnBrk="1" latinLnBrk="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영문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구계정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(@naeorilttae,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팔로워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95명)이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따로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남아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있어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검색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시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혼선이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있을</a:t>
            </a:r>
            <a:r>
              <a:rPr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수 </a:t>
            </a:r>
            <a:r>
              <a:rPr sz="13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있습니다</a:t>
            </a:r>
            <a:r>
              <a:rPr lang="en-US" sz="13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. </a:t>
            </a:r>
            <a:endParaRPr sz="13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78040" y="1645920"/>
            <a:ext cx="459943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1755648"/>
            <a:ext cx="4599432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자사몰 광고 추적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240280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메타 픽셀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51592" y="22951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설치됨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06640" y="2743200"/>
            <a:ext cx="414223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7406640" y="2807208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네이버 프리미엄로그분석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51592" y="286207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설치됨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06640" y="3310128"/>
            <a:ext cx="414223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406640" y="3374136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GA4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51592" y="342900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6D2A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06640" y="3877056"/>
            <a:ext cx="414223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7406640" y="3941064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카카오 픽셀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51592" y="39959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6D2A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06640" y="4443984"/>
            <a:ext cx="414223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3" name="Rounded Rectangle 22"/>
          <p:cNvSpPr/>
          <p:nvPr/>
        </p:nvSpPr>
        <p:spPr>
          <a:xfrm>
            <a:off x="7406640" y="4663440"/>
            <a:ext cx="4142232" cy="1325880"/>
          </a:xfrm>
          <a:prstGeom prst="roundRect">
            <a:avLst>
              <a:gd name="adj" fmla="val 5517"/>
            </a:avLst>
          </a:prstGeom>
          <a:solidFill>
            <a:srgbClr val="F1E4F8"/>
          </a:solidFill>
          <a:ln>
            <a:noFill/>
          </a:ln>
        </p:spPr>
        <p:txBody>
          <a:bodyPr wrap="square" lIns="182880" tIns="36576" rIns="18288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400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통합 </a:t>
            </a:r>
            <a:r>
              <a:rPr lang="ko-KR" altLang="en-US" sz="1400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풀퍼널</a:t>
            </a:r>
            <a:r>
              <a:rPr lang="ko-KR" altLang="en-US" sz="1400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성과 측정 및 매체별 기여도</a:t>
            </a:r>
            <a:r>
              <a:rPr lang="en-US" altLang="ko-KR" sz="1400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정밀 분석을 위해</a:t>
            </a:r>
            <a:r>
              <a:rPr lang="en-US" altLang="ko-KR" sz="1400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, 11월 대행 이관 즉시</a:t>
            </a:r>
            <a:r>
              <a:rPr lang="ko-KR" altLang="en-US" sz="1400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/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GA4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및 카카오 픽셀 수집 체계 구축</a:t>
            </a:r>
            <a:r>
              <a:rPr lang="ko-KR" altLang="en-US" sz="1400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이 필수적입니다</a:t>
            </a:r>
            <a:r>
              <a:rPr lang="en-US" altLang="ko-KR" sz="1400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.</a:t>
            </a:r>
            <a:endParaRPr sz="1400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D51AE5-AA6E-54C2-492A-0D5D8853C2ED}"/>
              </a:ext>
            </a:extLst>
          </p:cNvPr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인스타그램 오피셜 계정</a:t>
            </a:r>
            <a:r>
              <a:rPr lang="en-US" altLang="ko-KR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(@naeorilttae_official) </a:t>
            </a:r>
            <a:r>
              <a:rPr lang="ko-KR" altLang="en-US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및 </a:t>
            </a:r>
            <a:r>
              <a:rPr lang="ko-KR" altLang="en-US" sz="13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자사몰</a:t>
            </a:r>
            <a:r>
              <a:rPr lang="ko-KR" altLang="en-US" sz="13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트래픽 추적 태그 진단</a:t>
            </a:r>
            <a:endParaRPr sz="13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새로운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투자가 아닌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방치된 자산의 재배치와 연결만으로 즉각적인 성과 회복이 가능합니다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45920"/>
            <a:ext cx="3605784" cy="4434840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44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305714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9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비어 있는 검색 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91839"/>
            <a:ext cx="3057144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네이버가</a:t>
            </a:r>
            <a:r>
              <a:rPr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첫 </a:t>
            </a:r>
            <a:r>
              <a:rPr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번째로</a:t>
            </a:r>
            <a:r>
              <a:rPr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보여주는</a:t>
            </a:r>
            <a:r>
              <a:rPr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브랜드인데</a:t>
            </a:r>
            <a:r>
              <a:rPr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광고</a:t>
            </a:r>
            <a:r>
              <a:rPr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자리는</a:t>
            </a:r>
            <a:r>
              <a:rPr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다른 경쟁사들이</a:t>
            </a:r>
            <a:r>
              <a:rPr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차지</a:t>
            </a:r>
            <a:endParaRPr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4663440"/>
            <a:ext cx="3240024" cy="123444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wrap="square" lIns="182880" tIns="36576" rIns="18288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네이버 쇼핑검색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브랜드검색 즉각 집행으로 검색 지면 탈환</a:t>
            </a:r>
            <a:endParaRPr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1584" y="1645920"/>
            <a:ext cx="3605784" cy="4434840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65904" y="18288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44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5904" y="2743200"/>
            <a:ext cx="305714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9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쓰이지 않는 리뷰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3291839"/>
            <a:ext cx="3057144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고객이 증명한 </a:t>
            </a:r>
            <a:r>
              <a:rPr lang="ko-KR" altLang="en-US"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리얼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VOC('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안 번진다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')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를 광고 소재에 </a:t>
            </a:r>
            <a:r>
              <a:rPr lang="ko-KR" altLang="en-US"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미반영</a:t>
            </a:r>
            <a:endParaRPr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74464" y="4663440"/>
            <a:ext cx="3240024" cy="123444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wrap="square" lIns="182880" tIns="36576" rIns="18288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실구매자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VOC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기반 메타 퍼포먼스 소재 전면 재설계</a:t>
            </a:r>
            <a:endParaRPr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71688" y="1645920"/>
            <a:ext cx="3605784" cy="4434840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6008" y="18288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44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6008" y="2743200"/>
            <a:ext cx="305714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9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끊어진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6008" y="3291839"/>
            <a:ext cx="3057144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광고 집행 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vs 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오피셜 계정 방치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데이터 추적 인프라 단절</a:t>
            </a:r>
            <a:endParaRPr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354568" y="4663440"/>
            <a:ext cx="3240024" cy="123444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wrap="square" lIns="182880" tIns="36576" rIns="18288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인스타그램 </a:t>
            </a:r>
            <a:r>
              <a:rPr lang="ko-KR" altLang="en-US" sz="14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피드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1" dirty="0" err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싱크로율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 확보 및 </a:t>
            </a:r>
            <a:r>
              <a:rPr lang="en-US" altLang="ko-KR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GA4 </a:t>
            </a:r>
            <a:r>
              <a:rPr lang="ko-KR" altLang="en-US" sz="1400" b="1" dirty="0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통합 데이터 트래픽 구축</a:t>
            </a:r>
            <a:endParaRPr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73736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 eaLnBrk="1" latinLnBrk="0">
              <a:lnSpc>
                <a:spcPct val="115000"/>
              </a:lnSpc>
            </a:pPr>
            <a:r>
              <a:rPr sz="72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40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운영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8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네이버는 지키고, 메타는 키웁니다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4343400"/>
            <a:ext cx="5029200" cy="0"/>
          </a:xfrm>
          <a:prstGeom prst="line">
            <a:avLst/>
          </a:prstGeom>
          <a:ln w="12700">
            <a:solidFill>
              <a:srgbClr val="C9A3E3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914400" y="452628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채널별 역할 재정의 및 네이버 쇼핑검색 </a:t>
            </a:r>
            <a:r>
              <a:rPr lang="ko-KR" altLang="en-US"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실행안</a:t>
            </a:r>
            <a:endParaRPr lang="en-US" altLang="ko-KR"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메타 캠페인 구조 재설계 및 실구매자 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VOC 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소재 방향</a:t>
            </a:r>
            <a:endParaRPr lang="en-US" altLang="ko-KR"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소재 예시</a:t>
            </a:r>
            <a:endParaRPr lang="en-US" altLang="ko-KR"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Q4 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대목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(11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월 슈퍼적립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코세페</a:t>
            </a:r>
            <a:r>
              <a:rPr lang="en-US" altLang="ko-KR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) 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스케일업 </a:t>
            </a:r>
            <a:r>
              <a:rPr lang="ko-KR" altLang="en-US" sz="14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부스팅</a:t>
            </a:r>
            <a:r>
              <a:rPr lang="ko-KR" altLang="en-US" sz="14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플랜</a:t>
            </a:r>
            <a:endParaRPr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채널마다 역할을 나누고, 각자의 지표로 관리합니다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783080"/>
          <a:ext cx="11365992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채널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역할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랜딩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핵심 지표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네이버 검색광고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브랜드·핵심 키워드 자리 확보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브랜드스토어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ROAS, 노출 점유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네이버 GFA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관심 고객 재방문, 슈퍼적립 노출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브랜드스토어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ROAS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메타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30~50대 신규 고객 확보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자사몰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구매 ROAS, CPA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인스타그램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광고 유입 고객의 신뢰 확보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계정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게시 빈도, 반응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120640"/>
            <a:ext cx="11365992" cy="868680"/>
          </a:xfrm>
          <a:prstGeom prst="roundRect">
            <a:avLst>
              <a:gd name="adj" fmla="val 8421"/>
            </a:avLst>
          </a:prstGeom>
          <a:solidFill>
            <a:srgbClr val="F1E4F8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네이버는 '이미 찾는 고객'을 놓치지 않는 역할, 메타는 '아직 모르는 고객'을 데려오는 역할입니다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가장 효과가 큰 순서대로 실행합니다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45920"/>
            <a:ext cx="7406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0136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워터프루프 아이라이너 쇼핑검색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40280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오가닉 1위 카탈로그에 광고를 더해 이중 노출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머지·삐아가 차지한 광고 자리 진입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154680"/>
            <a:ext cx="7406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333756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2순위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1012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브랜드검색 + 브랜드 키워드 파워링크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749040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'나어릴때' 검색 상단 확보, 추억 콘텐츠·타 판매처로의 이탈 방어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작년 11~12월 브랜드 검색 피크 시기에 맞춰 집행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663440"/>
            <a:ext cx="7406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48463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3순위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1888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용도 키워드 확장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257800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펜 아이라이너, 브러쉬 아이라이너, 리퀴드 아이라이너, 애교살 라이너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데이터랩 인기검색어 기반으로 매월 추가·정리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45920"/>
            <a:ext cx="3685032" cy="4389120"/>
          </a:xfrm>
          <a:prstGeom prst="roundRect">
            <a:avLst>
              <a:gd name="adj" fmla="val 1985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1874519"/>
            <a:ext cx="313639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22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GFA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468880"/>
            <a:ext cx="3136392" cy="320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90500" indent="-190500" algn="l" eaLnBrk="1" latinLnBrk="0">
              <a:lnSpc>
                <a:spcPct val="115000"/>
              </a:lnSpc>
              <a:spcAft>
                <a:spcPts val="1000"/>
              </a:spcAft>
              <a:buChar char="•"/>
            </a:pPr>
            <a:r>
              <a:rPr sz="15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브랜드스토어 상세 조회·장바구니 고객 리타겟팅</a:t>
            </a:r>
          </a:p>
          <a:p>
            <a:pPr marL="190500" indent="-190500" algn="l" eaLnBrk="1" latinLnBrk="0">
              <a:lnSpc>
                <a:spcPct val="115000"/>
              </a:lnSpc>
              <a:spcAft>
                <a:spcPts val="1000"/>
              </a:spcAft>
              <a:buChar char="•"/>
            </a:pPr>
            <a:r>
              <a:rPr sz="15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슈퍼적립 기간 노출 확대</a:t>
            </a:r>
          </a:p>
          <a:p>
            <a:pPr marL="190500" indent="-190500" algn="l" eaLnBrk="1" latinLnBrk="0">
              <a:lnSpc>
                <a:spcPct val="115000"/>
              </a:lnSpc>
              <a:spcAft>
                <a:spcPts val="1000"/>
              </a:spcAft>
              <a:buChar char="•"/>
            </a:pPr>
            <a:r>
              <a:rPr sz="15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소재 2~3종 비교 테스트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새 고객, 돌아올 고객, 테스트를 나눠서 운영합니다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00200"/>
            <a:ext cx="3636264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5875">
            <a:solidFill>
              <a:srgbClr val="7B2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719072"/>
            <a:ext cx="2264664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  <a:buNone/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캠페인 A — 신규 고객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0464" y="176479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예산 60%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258568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40280"/>
            <a:ext cx="258470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Advantage+ 쇼핑 캠페인 또는 수동 캠페인 비교 후 선택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843784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타겟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25496"/>
            <a:ext cx="258470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30~50대 여성 중심, 넓은 타겟에서 메타 AI가 구매 가능 고객 탐색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42900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소재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10712"/>
            <a:ext cx="258470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제품력 중심 (번짐 테스트, 라인 시연, 브랜드 향수)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014215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95928"/>
            <a:ext cx="258470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CPA, 구매 ROAS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6344" y="1600200"/>
            <a:ext cx="3636264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5875">
            <a:solidFill>
              <a:srgbClr val="C9A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7512" y="1719072"/>
            <a:ext cx="2264664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  <a:buNone/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캠페인 B — 리타겟팅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5327" y="176479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예산 25%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77512" y="2258568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방식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5024" y="2240280"/>
            <a:ext cx="258470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카탈로그 광고 (카페24 상품 정보 연동, 본 상품을 다시 보여줌)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77512" y="2843784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타겟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5024" y="2825496"/>
            <a:ext cx="258470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자사몰 방문 30일, 장바구니 7일, 구매자 제외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77512" y="342900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소재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5024" y="3410712"/>
            <a:ext cx="258470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혜택 중심 (1+1, 슈퍼적립, 기간 한정)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7512" y="4014215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5024" y="3995928"/>
            <a:ext cx="258470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구매 ROAS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41207" y="1600200"/>
            <a:ext cx="3636264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5875">
            <a:solidFill>
              <a:srgbClr val="C9A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2376" y="1719072"/>
            <a:ext cx="2264664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  <a:buNone/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캠페인 C — 소재 테스트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80192" y="176479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36576" rIns="36576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예산 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2376" y="2240280"/>
            <a:ext cx="32339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65100" indent="-165100">
              <a:lnSpc>
                <a:spcPct val="115000"/>
              </a:lnSpc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새 소재를 같은 조건으로 먼저 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2376" y="2880360"/>
            <a:ext cx="32339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65100" indent="-165100">
              <a:lnSpc>
                <a:spcPct val="115000"/>
              </a:lnSpc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이긴 소재만 캠페인 A로 이동 (S26 위닝 소재 운영과 연결)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754880"/>
            <a:ext cx="5568696" cy="1417320"/>
          </a:xfrm>
          <a:prstGeom prst="roundRect">
            <a:avLst>
              <a:gd name="adj" fmla="val 5161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l" latinLnBrk="0" eaLnBrk="1">
              <a:lnSpc>
                <a:spcPct val="115000"/>
              </a:lnSpc>
              <a:spcAft>
                <a:spcPts val="300"/>
              </a:spcAft>
              <a:buNone/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확장 옵션 — 파트너십 광고</a:t>
            </a:r>
          </a:p>
          <a:p>
            <a:pPr algn="l" latinLnBrk="0" eaLnBrk="1">
              <a:lnSpc>
                <a:spcPct val="115000"/>
              </a:lnSpc>
              <a:spcAft>
                <a:spcPts val="300"/>
              </a:spcAft>
              <a:buNone/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실구매 리뷰어·뷰티 크리에이터 게시물을 광고로 집행</a:t>
            </a:r>
          </a:p>
          <a:p>
            <a:pPr algn="l" latinLnBrk="0" eaLnBrk="1">
              <a:lnSpc>
                <a:spcPct val="115000"/>
              </a:lnSpc>
              <a:spcAft>
                <a:spcPts val="300"/>
              </a:spcAft>
              <a:buNone/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경쟁사(노에트 등)도 활용 중인 방식 </a:t>
            </a:r>
            <a:r>
              <a:rPr sz="1200" b="0">
                <a:solidFill>
                  <a:srgbClr val="211D1E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〔확인〕크리에이터 섭외비 별도 여부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4754880"/>
            <a:ext cx="5568696" cy="1417320"/>
          </a:xfrm>
          <a:prstGeom prst="roundRect">
            <a:avLst>
              <a:gd name="adj" fmla="val 5161"/>
            </a:avLst>
          </a:prstGeom>
          <a:solidFill>
            <a:srgbClr val="FEF2DA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l" latinLnBrk="0" eaLnBrk="1">
              <a:lnSpc>
                <a:spcPct val="115000"/>
              </a:lnSpc>
              <a:spcAft>
                <a:spcPts val="200"/>
              </a:spcAft>
              <a:buNone/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측정 기반</a:t>
            </a:r>
          </a:p>
          <a:p>
            <a:pPr algn="l" latinLnBrk="0" eaLnBrk="1">
              <a:lnSpc>
                <a:spcPct val="115000"/>
              </a:lnSpc>
              <a:spcAft>
                <a:spcPts val="200"/>
              </a:spcAft>
              <a:buNone/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메타 픽셀 구매 이벤트 점검 + 전환 API 연동</a:t>
            </a:r>
          </a:p>
          <a:p>
            <a:pPr algn="l" latinLnBrk="0" eaLnBrk="1">
              <a:lnSpc>
                <a:spcPct val="115000"/>
              </a:lnSpc>
              <a:spcAft>
                <a:spcPts val="200"/>
              </a:spcAft>
              <a:buNone/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광고 링크 UTM 규칙 통일</a:t>
            </a:r>
          </a:p>
          <a:p>
            <a:pPr algn="l" latinLnBrk="0" eaLnBrk="1">
              <a:lnSpc>
                <a:spcPct val="115000"/>
              </a:lnSpc>
              <a:spcAft>
                <a:spcPts val="200"/>
              </a:spcAft>
              <a:buNone/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GA4 설치로 채널 간 성과 비교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고객 리뷰에서 소재를 뽑습니다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45920"/>
            <a:ext cx="2635758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17855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8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번짐 테스트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2178558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15초 영상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2178558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"더울 때도, 하루 종일. 번지지 않는 라인"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4480560"/>
            <a:ext cx="2178558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40080" y="4572000"/>
            <a:ext cx="217855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리뷰 "번지지 않아서 더울 때도 열심히 사용했어요"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1558" y="1645920"/>
            <a:ext cx="2635758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50158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158" y="2331720"/>
            <a:ext cx="217855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8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라인 시연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50158" y="2788920"/>
            <a:ext cx="2178558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릴스 · 클로즈업 영상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158" y="3246120"/>
            <a:ext cx="2178558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 dirty="0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</a:t>
            </a:r>
            <a:r>
              <a:rPr sz="1500" b="1" dirty="0" err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꼬리</a:t>
            </a:r>
            <a:r>
              <a:rPr sz="1500" b="1" dirty="0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500" b="1" dirty="0" err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라인</a:t>
            </a:r>
            <a:r>
              <a:rPr sz="1500" b="1" dirty="0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sz="1500" b="1" dirty="0" err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브러쉬</a:t>
            </a:r>
            <a:r>
              <a:rPr sz="1500" b="1" dirty="0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 한 </a:t>
            </a:r>
            <a:r>
              <a:rPr sz="1500" b="1" dirty="0" err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번이면</a:t>
            </a:r>
            <a:r>
              <a:rPr sz="1500" b="1" dirty="0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 끝"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50158" y="4480560"/>
            <a:ext cx="2178558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3550158" y="4572000"/>
            <a:ext cx="217855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경쟁 광고의 절반 이상이 영상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1645920"/>
            <a:ext cx="2635758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60236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331720"/>
            <a:ext cx="217855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8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브러쉬 vs 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0236" y="2788920"/>
            <a:ext cx="2178558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비교 이미지 · 카루셀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3246120"/>
            <a:ext cx="2178558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"붓처럼 vs 펜처럼, 나한테 맞는 라인은?"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60236" y="4480560"/>
            <a:ext cx="2178558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460236" y="4572000"/>
            <a:ext cx="217855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두 제품 모두 리뷰 700건 이상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1713" y="1645920"/>
            <a:ext cx="2635758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370313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0313" y="2331720"/>
            <a:ext cx="217855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8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브랜드 향수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0313" y="2788920"/>
            <a:ext cx="2178558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이미지 · 영상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0313" y="3246120"/>
            <a:ext cx="2178558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"나 어릴 때 그 눈매, 지금 다시"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70313" y="4480560"/>
            <a:ext cx="2178559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9370313" y="4572000"/>
            <a:ext cx="217855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주 고객층 40~50대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5623560"/>
            <a:ext cx="11365992" cy="548640"/>
          </a:xfrm>
          <a:prstGeom prst="roundRect">
            <a:avLst>
              <a:gd name="adj" fmla="val 13333"/>
            </a:avLst>
          </a:prstGeom>
          <a:solidFill>
            <a:srgbClr val="FEF2DA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혜택 소재(1+1, 슈퍼적립)는 리타겟팅 캠페인에서 별도 운영합니다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11월 슈퍼적립부터 바로 효과를 내겠습니다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〔확인〕슈퍼적립 기간·참여 상품 확정 후 세부 일정 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011680"/>
            <a:ext cx="11000232" cy="0"/>
          </a:xfrm>
          <a:prstGeom prst="line">
            <a:avLst/>
          </a:prstGeom>
          <a:ln w="25400">
            <a:solidFill>
              <a:srgbClr val="C9A3E3"/>
            </a:solidFill>
          </a:ln>
        </p:spPr>
      </p:cxnSp>
      <p:sp>
        <p:nvSpPr>
          <p:cNvPr id="7" name="Oval 6"/>
          <p:cNvSpPr/>
          <p:nvPr/>
        </p:nvSpPr>
        <p:spPr>
          <a:xfrm>
            <a:off x="502920" y="1874519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2286000"/>
            <a:ext cx="263575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1주차 (11/2~)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74320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217855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2178558" cy="1783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브랜드검색 신청, 워터프루프 쇼핑검색 집행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메타 캠페인 구조 재편, 픽셀 점검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신규 소재 1차 4종 제작</a:t>
            </a:r>
          </a:p>
        </p:txBody>
      </p:sp>
      <p:sp>
        <p:nvSpPr>
          <p:cNvPr id="12" name="Oval 11"/>
          <p:cNvSpPr/>
          <p:nvPr/>
        </p:nvSpPr>
        <p:spPr>
          <a:xfrm>
            <a:off x="3412998" y="1874519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21558" y="2286000"/>
            <a:ext cx="263575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2~3주차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1558" y="274320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50158" y="2880360"/>
            <a:ext cx="217855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집중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158" y="3429000"/>
            <a:ext cx="2178558" cy="1783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슈퍼적립 기간 GFA 노출 확대, 쇼핑검색 입찰 조정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메타 리타겟팅에 슈퍼적립 혜택 소재 투입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인스타 피드에 행사 콘텐츠 연동</a:t>
            </a:r>
          </a:p>
        </p:txBody>
      </p:sp>
      <p:sp>
        <p:nvSpPr>
          <p:cNvPr id="17" name="Oval 16"/>
          <p:cNvSpPr/>
          <p:nvPr/>
        </p:nvSpPr>
        <p:spPr>
          <a:xfrm>
            <a:off x="6323076" y="1874519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1636" y="2286000"/>
            <a:ext cx="263575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4주차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274320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0236" y="2880360"/>
            <a:ext cx="217855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3429000"/>
            <a:ext cx="2178558" cy="1783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1차 테스트 결과로 위닝 소재 선정 → 예산 이동</a:t>
            </a:r>
          </a:p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반응 좋은 키워드 확장</a:t>
            </a:r>
          </a:p>
        </p:txBody>
      </p:sp>
      <p:sp>
        <p:nvSpPr>
          <p:cNvPr id="22" name="Oval 21"/>
          <p:cNvSpPr/>
          <p:nvPr/>
        </p:nvSpPr>
        <p:spPr>
          <a:xfrm>
            <a:off x="9233153" y="1874519"/>
            <a:ext cx="274320" cy="274320"/>
          </a:xfrm>
          <a:prstGeom prst="ellipse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1713" y="2286000"/>
            <a:ext cx="263575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12월 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1713" y="274320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70313" y="2880360"/>
            <a:ext cx="217855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리뷰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0313" y="3429000"/>
            <a:ext cx="2178558" cy="1783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11월 성과 리포트 + 12월 연말 시즌 제안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73736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 eaLnBrk="1" latinLnBrk="0">
              <a:lnSpc>
                <a:spcPct val="115000"/>
              </a:lnSpc>
            </a:pPr>
            <a:r>
              <a:rPr sz="72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40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운영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8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말씀하신 다섯 가지에 하나씩 답합니다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4343400"/>
            <a:ext cx="5029200" cy="0"/>
          </a:xfrm>
          <a:prstGeom prst="line">
            <a:avLst/>
          </a:prstGeom>
          <a:ln w="12700">
            <a:solidFill>
              <a:srgbClr val="C9A3E3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914400" y="452628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역제안 체계 · 위닝 소재 운영 · 소재 제작</a:t>
            </a:r>
          </a:p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채널 운영 리듬</a:t>
            </a:r>
          </a:p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인스타그램 운영 · 리포트 샘플 · 소통 체계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요청하시기 전에, 먼저 가져갑니다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03 — 역제안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39"/>
            <a:ext cx="25328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 </a:t>
            </a: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모니터링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16712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매주 데이터랩 인기검색어·급등 키워드 확인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17520" y="2194560"/>
            <a:ext cx="274320" cy="274320"/>
          </a:xfrm>
          <a:prstGeom prst="right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55848" y="1691639"/>
            <a:ext cx="25328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38728" y="178308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 </a:t>
            </a: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후보 선정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194560"/>
            <a:ext cx="216712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나어릴때 제품과 맞는 키워드·소구점 선별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61888" y="2194560"/>
            <a:ext cx="274320" cy="274320"/>
          </a:xfrm>
          <a:prstGeom prst="right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0216" y="1691639"/>
            <a:ext cx="25328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178308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 </a:t>
            </a: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제안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194560"/>
            <a:ext cx="216712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주간 리포트에 '이번 주 제안' 항목으로 전달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06256" y="2194560"/>
            <a:ext cx="274320" cy="274320"/>
          </a:xfrm>
          <a:prstGeom prst="right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244584" y="1691639"/>
            <a:ext cx="25328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27464" y="178308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04 </a:t>
            </a: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반영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2194560"/>
            <a:ext cx="216712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컨펌 후 키워드·소재에 바로 적용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08960"/>
            <a:ext cx="11365992" cy="457200"/>
          </a:xfrm>
          <a:prstGeom prst="roundRect">
            <a:avLst>
              <a:gd name="adj" fmla="val 16000"/>
            </a:avLst>
          </a:prstGeom>
          <a:solidFill>
            <a:srgbClr val="FEF2DA"/>
          </a:solidFill>
          <a:ln>
            <a:noFill/>
          </a:ln>
        </p:spPr>
        <p:txBody>
          <a:bodyPr wrap="square" lIns="228600" tIns="36576" rIns="22860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예시  </a:t>
            </a: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현재 인기검색어 '애교살 라이너' → 브러쉬 아이라이너 애교살 연출 소재 제안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7033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시즌 캘린더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636008"/>
            <a:ext cx="150571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슈퍼적립, 블랙프라이데이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28672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12월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28672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65832" y="4636008"/>
            <a:ext cx="150571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연말 선물, 1+1 세트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45864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1~3월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45864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3024" y="4636008"/>
            <a:ext cx="150571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새해·졸업·입학, 신학기 메이크업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4~5월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6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0216" y="4636008"/>
            <a:ext cx="150571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워터프루프 검색 피크 (데이터랩 5월 최고)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0248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6~8월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80248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17408" y="4636008"/>
            <a:ext cx="150571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여름 번짐 방지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97440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9~10월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97440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34600" y="4636008"/>
            <a:ext cx="1505712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가을 브라운 컬러, 할로윈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소재는 감이 아닌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데이터를 기반으로 판단합니다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02 —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40"/>
            <a:ext cx="3422904" cy="224028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3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287426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테스트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2874264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컨셉이 다른 소재 4~6개를 같은 조건으로 동시 집행 (1주)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53256" y="2633472"/>
            <a:ext cx="310896" cy="365760"/>
          </a:xfrm>
          <a:prstGeom prst="right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3024" y="1691640"/>
            <a:ext cx="3422904" cy="224028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57344" y="1810512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3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344" y="2514600"/>
            <a:ext cx="287426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판별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344" y="2971800"/>
            <a:ext cx="2874264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CTR(관심) → CVR(구매 전환) → ROAS(매출 효율) 순서로 판단, 계정 평균 대비 비교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24800" y="2633472"/>
            <a:ext cx="310896" cy="365760"/>
          </a:xfrm>
          <a:prstGeom prst="right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54568" y="1691640"/>
            <a:ext cx="3422904" cy="2240280"/>
          </a:xfrm>
          <a:prstGeom prst="roundRect">
            <a:avLst>
              <a:gd name="adj" fmla="val 2666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28888" y="1810512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3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8888" y="2514600"/>
            <a:ext cx="287426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8888" y="2971800"/>
            <a:ext cx="2874264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위닝 소재에 예산 이동, 같은 컨셉의 변형 소재 추가 제작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069080"/>
            <a:ext cx="11365992" cy="685800"/>
          </a:xfrm>
          <a:prstGeom prst="roundRect">
            <a:avLst>
              <a:gd name="adj" fmla="val 8000"/>
            </a:avLst>
          </a:prstGeom>
          <a:solidFill>
            <a:srgbClr val="FEF2DA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5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씨스터앤의 번짐 방지 영상은 6/23부터 4개월째 집행 중 — </a:t>
            </a:r>
            <a:r>
              <a:rPr sz="15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오래 도는 소재가 검증된 소재입니다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89204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C9A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01768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  <a:buNone/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소재 운영 규칙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94960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65100" indent="-165100">
              <a:lnSpc>
                <a:spcPct val="115000"/>
              </a:lnSpc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광고 세트마다 소재 3~6개 유지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394960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65100" indent="-165100">
              <a:lnSpc>
                <a:spcPct val="115000"/>
              </a:lnSpc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같은 사람에게 3회 이상 노출되고 클릭률이 떨어지면 교체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42432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65100" indent="-165100">
              <a:lnSpc>
                <a:spcPct val="115000"/>
              </a:lnSpc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2주마다 신규 소재 투입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742432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65100" indent="-165100">
              <a:lnSpc>
                <a:spcPct val="115000"/>
              </a:lnSpc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학습 기간(집행 초기)에는 잦은 수정 없이 지켜봅니다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소재 제작 지원 안내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04 — 소재 제작 · 메타·GFA 소재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39"/>
            <a:ext cx="360578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3057144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34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월 20건 내외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05714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기본 제작 물량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1584" y="1691639"/>
            <a:ext cx="360578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65904" y="1828800"/>
            <a:ext cx="3057144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3400" b="0" dirty="0" err="1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최대</a:t>
            </a:r>
            <a:r>
              <a:rPr sz="3400" b="0" dirty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 50건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5904" y="2651760"/>
            <a:ext cx="305714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테스트·시즌 집중 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1688" y="1691639"/>
            <a:ext cx="3605784" cy="1463040"/>
          </a:xfrm>
          <a:prstGeom prst="roundRect">
            <a:avLst>
              <a:gd name="adj" fmla="val 5000"/>
            </a:avLst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46008" y="1828800"/>
            <a:ext cx="3057144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3400" b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0원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6008" y="2651760"/>
            <a:ext cx="305714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추가 제작비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29000"/>
            <a:ext cx="393192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기존 제품 컷을 AI로 보정해 촬영 없이도 소재 수를 늘립니다</a:t>
            </a:r>
          </a:p>
          <a:p>
            <a:pPr algn="l" eaLnBrk="1" latinLnBrk="0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(보정 전후 예시)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8064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2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소재</a:t>
            </a:r>
            <a:r>
              <a:rPr sz="12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난이도에</a:t>
            </a:r>
            <a:r>
              <a:rPr sz="12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따라</a:t>
            </a:r>
            <a:r>
              <a:rPr sz="12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건수는</a:t>
            </a:r>
            <a:r>
              <a:rPr sz="12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조정될</a:t>
            </a:r>
            <a:r>
              <a:rPr sz="12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 수 </a:t>
            </a:r>
            <a:r>
              <a:rPr sz="1200" b="0" dirty="0" err="1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있습니</a:t>
            </a:r>
            <a:r>
              <a:rPr lang="ko-KR" altLang="en-US" sz="12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다</a:t>
            </a:r>
            <a:r>
              <a:rPr lang="en-US" altLang="ko-KR" sz="1200" b="0" dirty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200" dirty="0">
              <a:solidFill>
                <a:srgbClr val="8F878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17720" y="34290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보정 전</a:t>
            </a:r>
          </a:p>
        </p:txBody>
      </p:sp>
      <p:sp>
        <p:nvSpPr>
          <p:cNvPr id="18" name="IMG_s27_ai_before.png"/>
          <p:cNvSpPr/>
          <p:nvPr/>
        </p:nvSpPr>
        <p:spPr>
          <a:xfrm>
            <a:off x="4617720" y="3794760"/>
            <a:ext cx="3442716" cy="2377440"/>
          </a:xfrm>
          <a:prstGeom prst="roundRect">
            <a:avLst>
              <a:gd name="adj" fmla="val 1923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s27_ai_before.png]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4756" y="34290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보정 후</a:t>
            </a:r>
          </a:p>
        </p:txBody>
      </p:sp>
      <p:sp>
        <p:nvSpPr>
          <p:cNvPr id="20" name="IMG_s27_ai_after.png"/>
          <p:cNvSpPr/>
          <p:nvPr/>
        </p:nvSpPr>
        <p:spPr>
          <a:xfrm>
            <a:off x="8334756" y="3794760"/>
            <a:ext cx="3442716" cy="2377440"/>
          </a:xfrm>
          <a:prstGeom prst="roundRect">
            <a:avLst>
              <a:gd name="adj" fmla="val 1923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s27_ai_after.png]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광고와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같은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톤으로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</a:t>
            </a:r>
            <a:r>
              <a:rPr 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SNS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도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끊기지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않게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운영합니다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05 — 인스타그램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39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운영 범위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39112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주 2회 게시 (월 8~9건)</a:t>
            </a:r>
          </a:p>
          <a:p>
            <a:pPr marL="177800" indent="-177800" algn="l" eaLnBrk="1" latinLnBrk="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기획 · 이미지 제작 · 문구 작성 · 업로드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78892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진행 프로세스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154680"/>
            <a:ext cx="115443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월간 콘텐츠 계획 공유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5910" y="3154680"/>
            <a:ext cx="228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eaLnBrk="1" latinLnBrk="0">
              <a:lnSpc>
                <a:spcPct val="115000"/>
              </a:lnSpc>
            </a:pPr>
            <a:r>
              <a:rPr sz="1800" b="1">
                <a:solidFill>
                  <a:srgbClr val="C9A3E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94510" y="3154680"/>
            <a:ext cx="115443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주간 시안 컨펌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8939" y="3154680"/>
            <a:ext cx="228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eaLnBrk="1" latinLnBrk="0">
              <a:lnSpc>
                <a:spcPct val="115000"/>
              </a:lnSpc>
            </a:pPr>
            <a:r>
              <a:rPr sz="1800" b="1">
                <a:solidFill>
                  <a:srgbClr val="C9A3E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7540" y="3154680"/>
            <a:ext cx="115443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업로드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1970" y="3154680"/>
            <a:ext cx="2286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eaLnBrk="1" latinLnBrk="0">
              <a:lnSpc>
                <a:spcPct val="115000"/>
              </a:lnSpc>
            </a:pPr>
            <a:r>
              <a:rPr sz="1800" b="1">
                <a:solidFill>
                  <a:srgbClr val="C9A3E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60570" y="3154680"/>
            <a:ext cx="115443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월간 반응 리포트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233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광고 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370832"/>
            <a:ext cx="53035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광고 시즌과 같은 주제로 피드 구성 (광고를 보고 들어온 고객이 같은 메시지를 보도록)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166360"/>
            <a:ext cx="5303520" cy="1005840"/>
          </a:xfrm>
          <a:prstGeom prst="roundRect">
            <a:avLst>
              <a:gd name="adj" fmla="val 7272"/>
            </a:avLst>
          </a:prstGeom>
          <a:solidFill>
            <a:srgbClr val="7B2FB5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비용  </a:t>
            </a:r>
            <a:r>
              <a:rPr sz="2600" b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월 350만 원</a:t>
            </a:r>
          </a:p>
        </p:txBody>
      </p:sp>
      <p:sp>
        <p:nvSpPr>
          <p:cNvPr id="19" name="IMG_s28_feed_1.png"/>
          <p:cNvSpPr/>
          <p:nvPr/>
        </p:nvSpPr>
        <p:spPr>
          <a:xfrm>
            <a:off x="6080760" y="2240280"/>
            <a:ext cx="1776984" cy="2221230"/>
          </a:xfrm>
          <a:prstGeom prst="roundRect">
            <a:avLst>
              <a:gd name="adj" fmla="val 2572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s28_feed_1.png]</a:t>
            </a:r>
          </a:p>
        </p:txBody>
      </p:sp>
      <p:sp>
        <p:nvSpPr>
          <p:cNvPr id="20" name="IMG_s28_feed_2.png"/>
          <p:cNvSpPr/>
          <p:nvPr/>
        </p:nvSpPr>
        <p:spPr>
          <a:xfrm>
            <a:off x="8040624" y="2240280"/>
            <a:ext cx="1776984" cy="2221230"/>
          </a:xfrm>
          <a:prstGeom prst="roundRect">
            <a:avLst>
              <a:gd name="adj" fmla="val 2572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s28_feed_2.png]</a:t>
            </a:r>
          </a:p>
        </p:txBody>
      </p:sp>
      <p:sp>
        <p:nvSpPr>
          <p:cNvPr id="21" name="IMG_s28_feed_3.png"/>
          <p:cNvSpPr/>
          <p:nvPr/>
        </p:nvSpPr>
        <p:spPr>
          <a:xfrm>
            <a:off x="10000488" y="2240280"/>
            <a:ext cx="1776984" cy="2221230"/>
          </a:xfrm>
          <a:prstGeom prst="roundRect">
            <a:avLst>
              <a:gd name="adj" fmla="val 2572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s28_feed_3.png]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4552950"/>
            <a:ext cx="5696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 eaLnBrk="1" latinLnBrk="0">
              <a:lnSpc>
                <a:spcPct val="115000"/>
              </a:lnSpc>
            </a:pPr>
            <a:r>
              <a:rPr sz="12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피드 시안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숫자가 아니라 '왜'와 '다음'을 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02 — 분석 · 실제 운영 중인 주간 리포트 (광고주명 비공개)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  <p:sp>
        <p:nvSpPr>
          <p:cNvPr id="6" name="IMG_s29_report_sample.png"/>
          <p:cNvSpPr/>
          <p:nvPr/>
        </p:nvSpPr>
        <p:spPr>
          <a:xfrm>
            <a:off x="411480" y="1691639"/>
            <a:ext cx="7315200" cy="4434840"/>
          </a:xfrm>
          <a:prstGeom prst="roundRect">
            <a:avLst>
              <a:gd name="adj" fmla="val 1030"/>
            </a:avLst>
          </a:prstGeom>
          <a:solidFill>
            <a:srgbClr val="E6E1DE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이미지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필요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: s29_report_sample.png]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783080"/>
            <a:ext cx="3776472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0" y="2212848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783080"/>
            <a:ext cx="2862072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지난주 대비 변화와 원인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246120"/>
            <a:ext cx="3776472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0" y="3675887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246120"/>
            <a:ext cx="2862072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매체·소재별 효율 비교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4709160"/>
            <a:ext cx="3776472" cy="123444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0" y="5138928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709160"/>
            <a:ext cx="2862072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이번 주 액션과 다음 주 제안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업무시간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안에는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바로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응대합니다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01 — 소통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5545836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03120"/>
            <a:ext cx="426567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전담 담당자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697480"/>
            <a:ext cx="4265676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김현수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팀장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+ </a:t>
            </a:r>
            <a:r>
              <a:rPr lang="ko-KR" altLang="en-US" sz="160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강예린</a:t>
            </a:r>
            <a:r>
              <a:rPr lang="ko-KR" altLang="en-US" sz="16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대리</a:t>
            </a:r>
            <a:endParaRPr sz="16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545836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51676" y="2103120"/>
            <a:ext cx="457200" cy="45720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7476" y="2103120"/>
            <a:ext cx="426567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실시간 채널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7476" y="2697480"/>
            <a:ext cx="4265676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카카오톡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단톡방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평일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09:00~18:00 </a:t>
            </a: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응대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)</a:t>
            </a:r>
            <a:endParaRPr lang="en-US" sz="16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</a:pPr>
            <a:r>
              <a:rPr lang="en-US"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* </a:t>
            </a:r>
            <a:r>
              <a:rPr lang="ko-KR" altLang="en-US"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이 외 시간에도 확인 및 답변 가능</a:t>
            </a:r>
            <a:endParaRPr sz="16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1480" y="3977639"/>
            <a:ext cx="5545836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" y="4297679"/>
            <a:ext cx="457200" cy="45720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297679"/>
            <a:ext cx="426567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응대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892040"/>
            <a:ext cx="4265676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업무시간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6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내 빠르게 회신</a:t>
            </a:r>
            <a:endParaRPr lang="en-US" altLang="ko-KR" sz="160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</a:pPr>
            <a:r>
              <a:rPr lang="ko-KR" altLang="en-US"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담당자 부재 시</a:t>
            </a:r>
            <a:r>
              <a:rPr lang="en-US" altLang="ko-KR"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백업 담당자 설정</a:t>
            </a:r>
            <a:endParaRPr sz="16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31636" y="3977639"/>
            <a:ext cx="5545836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51676" y="4297679"/>
            <a:ext cx="457200" cy="45720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7476" y="4297679"/>
            <a:ext cx="426567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정기 소통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7476" y="4892040"/>
            <a:ext cx="4265676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주간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리포트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+ </a:t>
            </a: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월간</a:t>
            </a:r>
            <a:r>
              <a:rPr sz="16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리뷰</a:t>
            </a:r>
            <a:endParaRPr sz="16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05 비용과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숨은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비용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없이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한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장으로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정리했습니다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459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운영 조건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443519"/>
              </p:ext>
            </p:extLst>
          </p:nvPr>
        </p:nvGraphicFramePr>
        <p:xfrm>
          <a:off x="411480" y="2011680"/>
          <a:ext cx="5577840" cy="31821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1" dirty="0" err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항목</a:t>
                      </a:r>
                      <a:endParaRPr sz="1300" b="1" dirty="0">
                        <a:solidFill>
                          <a:srgbClr val="FFFFFF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1" dirty="0" err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조건</a:t>
                      </a:r>
                      <a:endParaRPr sz="1300" b="1" dirty="0">
                        <a:solidFill>
                          <a:srgbClr val="FFFFFF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네이버</a:t>
                      </a:r>
                      <a:r>
                        <a:rPr sz="1300" b="1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검색광고</a:t>
                      </a:r>
                      <a:r>
                        <a:rPr sz="1300" b="1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· GFA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 dirty="0" err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대행수수료</a:t>
                      </a:r>
                      <a:r>
                        <a:rPr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(</a:t>
                      </a:r>
                      <a:r>
                        <a:rPr sz="1300" b="0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네이버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공식대행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)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메타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광고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집행비의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15%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소재 제작 (메타·GFA)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 dirty="0" err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추가</a:t>
                      </a:r>
                      <a:r>
                        <a:rPr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비용</a:t>
                      </a:r>
                      <a:r>
                        <a:rPr sz="1300" b="1" dirty="0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(월 20건 </a:t>
                      </a:r>
                      <a:r>
                        <a:rPr sz="1300" b="0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내외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sz="1300" b="0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최대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50건)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인스타그램 운영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월 350만 원 (주 2회)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계약 기간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</a:pP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1년 </a:t>
                      </a:r>
                      <a:r>
                        <a:rPr sz="1300" b="0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단위</a:t>
                      </a: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  <a:endParaRPr sz="1300" b="0" dirty="0">
                        <a:solidFill>
                          <a:srgbClr val="211D1E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645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월 예산별 배분 예시 </a:t>
            </a:r>
            <a:r>
              <a:rPr sz="1200" b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(단위 만 원)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906399"/>
              </p:ext>
            </p:extLst>
          </p:nvPr>
        </p:nvGraphicFramePr>
        <p:xfrm>
          <a:off x="6309360" y="2011680"/>
          <a:ext cx="5468112" cy="21214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4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월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광고비</a:t>
                      </a:r>
                      <a:endParaRPr sz="1100" b="1" dirty="0">
                        <a:solidFill>
                          <a:srgbClr val="FFFFFF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100" b="1" dirty="0" err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네이버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검색광고</a:t>
                      </a:r>
                      <a:endParaRPr sz="1100" b="1" dirty="0">
                        <a:solidFill>
                          <a:srgbClr val="FFFFFF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GFA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메타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100" b="1" dirty="0" err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메타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수수료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(15%)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1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34.5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1,000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500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</a:pPr>
                      <a:r>
                        <a:rPr sz="1300" b="0" dirty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5532120"/>
            <a:ext cx="11365992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lang="ko-KR" altLang="en-US"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예산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배분은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예시이며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목표와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성과에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따라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조정합니다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. </a:t>
            </a:r>
            <a:endParaRPr lang="en-US" sz="12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</a:pP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브랜드검색은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조회수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별도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단가로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산정됩니다</a:t>
            </a:r>
            <a:r>
              <a:rPr sz="1200" b="0" dirty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.</a:t>
            </a:r>
            <a:endParaRPr sz="1200" b="0" dirty="0">
              <a:solidFill>
                <a:srgbClr val="5E5759"/>
              </a:solidFill>
              <a:highlight>
                <a:srgbClr val="FFF176"/>
              </a:highlight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05 비용과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11월 첫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주부터</a:t>
            </a:r>
            <a:r>
              <a:rPr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24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시작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한다면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ko-KR" altLang="en-US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아래와 같은 스케쥴로 진행하겠습니다</a:t>
            </a:r>
            <a:r>
              <a:rPr lang="en-US" altLang="ko-KR" sz="24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920240"/>
            <a:ext cx="11000232" cy="0"/>
          </a:xfrm>
          <a:prstGeom prst="line">
            <a:avLst/>
          </a:prstGeom>
          <a:ln w="25400">
            <a:solidFill>
              <a:srgbClr val="C9A3E3"/>
            </a:solidFill>
          </a:ln>
        </p:spPr>
      </p:cxnSp>
      <p:sp>
        <p:nvSpPr>
          <p:cNvPr id="6" name="Oval 5"/>
          <p:cNvSpPr/>
          <p:nvPr/>
        </p:nvSpPr>
        <p:spPr>
          <a:xfrm>
            <a:off x="457200" y="1783080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194560"/>
            <a:ext cx="263575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10/30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06040"/>
            <a:ext cx="254431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제안</a:t>
            </a:r>
          </a:p>
        </p:txBody>
      </p:sp>
      <p:sp>
        <p:nvSpPr>
          <p:cNvPr id="9" name="Oval 8"/>
          <p:cNvSpPr/>
          <p:nvPr/>
        </p:nvSpPr>
        <p:spPr>
          <a:xfrm>
            <a:off x="3367278" y="1783080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21558" y="2194560"/>
            <a:ext cx="263575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11월 1주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1558" y="2606040"/>
            <a:ext cx="254431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계정</a:t>
            </a: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연결·세팅</a:t>
            </a: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endParaRPr lang="en-US" sz="1400" b="0" dirty="0">
              <a:solidFill>
                <a:srgbClr val="211D1E"/>
              </a:solidFill>
              <a:latin typeface="Pretendard"/>
              <a:ea typeface="Pretendard"/>
              <a:cs typeface="Pretendard"/>
            </a:endParaRPr>
          </a:p>
          <a:p>
            <a:pPr algn="l" eaLnBrk="1" latinLnBrk="0">
              <a:lnSpc>
                <a:spcPct val="115000"/>
              </a:lnSpc>
            </a:pP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브랜드검색</a:t>
            </a:r>
            <a:r>
              <a:rPr lang="en-US" sz="14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계약 및 </a:t>
            </a:r>
            <a:r>
              <a:rPr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워터프루프</a:t>
            </a:r>
            <a:r>
              <a:rPr 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등</a:t>
            </a: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쇼핑검색</a:t>
            </a: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세팅 </a:t>
            </a:r>
            <a:r>
              <a:rPr sz="1400" b="0" dirty="0" err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우선</a:t>
            </a:r>
            <a:r>
              <a:rPr sz="1400" b="0" dirty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12" name="Oval 11"/>
          <p:cNvSpPr/>
          <p:nvPr/>
        </p:nvSpPr>
        <p:spPr>
          <a:xfrm>
            <a:off x="6277356" y="1783080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1636" y="2194560"/>
            <a:ext cx="263575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11월 2~4주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1636" y="2606040"/>
            <a:ext cx="254431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슈퍼적립 집중 운영</a:t>
            </a:r>
          </a:p>
        </p:txBody>
      </p:sp>
      <p:sp>
        <p:nvSpPr>
          <p:cNvPr id="15" name="Oval 14"/>
          <p:cNvSpPr/>
          <p:nvPr/>
        </p:nvSpPr>
        <p:spPr>
          <a:xfrm>
            <a:off x="9187434" y="1783080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1713" y="2194560"/>
            <a:ext cx="263575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7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12월 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1713" y="2606040"/>
            <a:ext cx="254431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11월 성과 리뷰 + 연말 시즌 제안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840480"/>
            <a:ext cx="11365992" cy="1097280"/>
          </a:xfrm>
          <a:prstGeom prst="roundRect">
            <a:avLst>
              <a:gd name="adj" fmla="val 6666"/>
            </a:avLst>
          </a:prstGeom>
          <a:solidFill>
            <a:srgbClr val="7B2FB5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 eaLnBrk="1" latinLnBrk="0">
              <a:lnSpc>
                <a:spcPct val="115000"/>
              </a:lnSpc>
            </a:pPr>
            <a:r>
              <a:rPr sz="2600" b="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이미</a:t>
            </a:r>
            <a:r>
              <a:rPr sz="2600" b="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2600" b="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가진</a:t>
            </a:r>
            <a:r>
              <a:rPr sz="2600" b="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2600" b="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강점을</a:t>
            </a:r>
            <a:r>
              <a:rPr sz="2600" b="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, </a:t>
            </a:r>
            <a:r>
              <a:rPr sz="2600" b="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광고가</a:t>
            </a:r>
            <a:r>
              <a:rPr sz="2600" b="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2600" b="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제대로</a:t>
            </a:r>
            <a:r>
              <a:rPr sz="2600" b="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2600" b="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쓰게</a:t>
            </a:r>
            <a:r>
              <a:rPr sz="2600" b="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2600" b="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만들겠습니다</a:t>
            </a:r>
            <a:endParaRPr sz="2600" b="0" dirty="0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80" y="52578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</a:pPr>
            <a:r>
              <a:rPr sz="16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NICECORE </a:t>
            </a:r>
            <a:r>
              <a:rPr sz="16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김현수</a:t>
            </a:r>
            <a:r>
              <a:rPr sz="16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600" b="0" dirty="0" err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팀장</a:t>
            </a:r>
            <a:r>
              <a:rPr sz="16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/ </a:t>
            </a:r>
            <a:r>
              <a:rPr lang="en-US" sz="1600" b="0" dirty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hskim@nicecore.kr</a:t>
            </a:r>
            <a:endParaRPr sz="1600" b="0" dirty="0">
              <a:solidFill>
                <a:srgbClr val="211D1E"/>
              </a:solidFill>
              <a:highlight>
                <a:srgbClr val="FFF176"/>
              </a:highlight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CAE15E-6FBB-6BCC-D415-421E2075CCB7}"/>
              </a:ext>
            </a:extLst>
          </p:cNvPr>
          <p:cNvSpPr txBox="1"/>
          <p:nvPr/>
        </p:nvSpPr>
        <p:spPr>
          <a:xfrm>
            <a:off x="4781804" y="5654040"/>
            <a:ext cx="6400800" cy="645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 eaLnBrk="1" latinLnBrk="0">
              <a:lnSpc>
                <a:spcPct val="110000"/>
              </a:lnSpc>
            </a:pPr>
            <a:r>
              <a:rPr lang="en-US" sz="4000" b="0" dirty="0">
                <a:solidFill>
                  <a:schemeClr val="bg1"/>
                </a:solidFill>
                <a:latin typeface="Pretendard Black"/>
                <a:ea typeface="Pretendard Black"/>
                <a:cs typeface="Pretendard Black"/>
              </a:rPr>
              <a:t>End of Document</a:t>
            </a:r>
          </a:p>
          <a:p>
            <a:pPr algn="r" eaLnBrk="1" latinLnBrk="0">
              <a:lnSpc>
                <a:spcPct val="110000"/>
              </a:lnSpc>
            </a:pPr>
            <a:endParaRPr sz="2400" b="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326686"/>
      </p:ext>
    </p:extLst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캠페인을 목적별로 나눠, 예산이 어디서 성과를 내는지 바로 보이게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645920"/>
          <a:ext cx="11365992" cy="26791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캠페인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유형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대상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목적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입찰 기준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파워링크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나어릴때, 나어릴때 아이라이너, 엣지홀릭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검색 방어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1위 유지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쇼핑_워터프루프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쇼핑검색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All New 워터프루프 브러쉬 리퀴드 아이라이너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키워드 공략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광고 상위 구좌 진입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쇼핑_펜·브러쉬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쇼핑검색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엣지홀릭 펜, 오리지널 브러쉬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확장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ROAS 기준 조정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용도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파워링크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애교살 라이너, 리퀴드 아이라이너, 번지지 않는 아이라이너, 워터프루프 아이라이너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신규 고객 유입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4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CPC 상한 설정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4526280"/>
            <a:ext cx="11365992" cy="1645920"/>
          </a:xfrm>
          <a:prstGeom prst="roundRect">
            <a:avLst>
              <a:gd name="adj" fmla="val 8421"/>
            </a:avLst>
          </a:prstGeom>
          <a:solidFill>
            <a:srgbClr val="F1E4F8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  <a:spcAft>
                <a:spcPts val="200"/>
              </a:spcAft>
              <a:buNone/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운영 포인트</a:t>
            </a:r>
          </a:p>
          <a:p>
            <a:pPr algn="l" latinLnBrk="0" eaLnBrk="1">
              <a:lnSpc>
                <a:spcPct val="115000"/>
              </a:lnSpc>
              <a:spcAft>
                <a:spcPts val="200"/>
              </a:spcAft>
              <a:buNone/>
            </a:pPr>
            <a:r>
              <a:rPr sz="13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상품명 점검  </a:t>
            </a: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쇼핑검색은 상품명에 '워터프루프', '펜', '브러쉬'가 들어가야 해당 키워드에 노출됩니다. 브랜드스토어 상품명부터 점검합니다</a:t>
            </a:r>
          </a:p>
          <a:p>
            <a:pPr algn="l" latinLnBrk="0" eaLnBrk="1">
              <a:lnSpc>
                <a:spcPct val="115000"/>
              </a:lnSpc>
              <a:spcAft>
                <a:spcPts val="200"/>
              </a:spcAft>
              <a:buNone/>
            </a:pPr>
            <a:r>
              <a:rPr sz="13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확장소재  </a:t>
            </a: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리뷰 수, 1+1 혜택, 무료배송 조건을 추가 문구로 노출합니다</a:t>
            </a:r>
          </a:p>
          <a:p>
            <a:pPr algn="l" latinLnBrk="0" eaLnBrk="1">
              <a:lnSpc>
                <a:spcPct val="115000"/>
              </a:lnSpc>
              <a:spcAft>
                <a:spcPts val="200"/>
              </a:spcAft>
              <a:buNone/>
            </a:pPr>
            <a:r>
              <a:rPr sz="13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모바일 우선  </a:t>
            </a: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검색의 91%가 모바일이므로 모바일 입찰 가중치를 높게 둡니다</a:t>
            </a:r>
          </a:p>
          <a:p>
            <a:pPr algn="l" latinLnBrk="0" eaLnBrk="1">
              <a:lnSpc>
                <a:spcPct val="115000"/>
              </a:lnSpc>
              <a:spcAft>
                <a:spcPts val="200"/>
              </a:spcAft>
              <a:buNone/>
            </a:pPr>
            <a:r>
              <a:rPr sz="13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제외 키워드  </a:t>
            </a: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저가·중고 의도 검색은 효율을 보고 제외합니다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'나어릴때'를 검색하면, 추억 콘텐츠가 아니라 나어릴때가 먼저 보이게 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6916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3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구성 (모바일 기준)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2057400"/>
            <a:ext cx="457200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86200" y="2112264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메인 이미지</a:t>
            </a:r>
          </a:p>
          <a:p>
            <a:pPr algn="l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엣지홀릭 브러쉬 아이라이너 + "리뷰 4,901개가 고른 라이너"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2834640"/>
            <a:ext cx="457200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86200" y="2889504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상품 탭 3개</a:t>
            </a:r>
          </a:p>
          <a:p>
            <a:pPr algn="l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오리지널 브러쉬 / 펜 / All New 워터프루프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3611880"/>
            <a:ext cx="457200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86200" y="3666744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혜택 탭</a:t>
            </a:r>
          </a:p>
          <a:p>
            <a:pPr algn="l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1+1 이벤트, 슈퍼적립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4389120"/>
            <a:ext cx="4572000" cy="685800"/>
          </a:xfrm>
          <a:prstGeom prst="roundRect">
            <a:avLst>
              <a:gd name="adj" fmla="val 10666"/>
            </a:avLst>
          </a:prstGeom>
          <a:solidFill>
            <a:srgbClr val="FEF2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86200" y="4443983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랜딩</a:t>
            </a:r>
          </a:p>
          <a:p>
            <a:pPr algn="l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브랜드스토어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691640"/>
            <a:ext cx="322783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3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운영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057400"/>
            <a:ext cx="3227831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65100" indent="-165100" algn="l" eaLnBrk="1" latinLnBrk="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시즌마다 메인 이미지 교체 (11월 슈퍼적립 → 12월 연말 → 1월 신년)</a:t>
            </a:r>
          </a:p>
          <a:p>
            <a:pPr algn="l" latinLnBrk="0" eaLnBrk="1" marL="165100" indent="-16510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AI 브리핑보다 위에 노출되어 브랜드명 오해석 문제를 함께 해결합니다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5440680"/>
            <a:ext cx="8074152" cy="685800"/>
          </a:xfrm>
          <a:prstGeom prst="roundRect">
            <a:avLst>
              <a:gd name="adj" fmla="val 10666"/>
            </a:avLst>
          </a:prstGeom>
          <a:solidFill>
            <a:srgbClr val="7B2FB5"/>
          </a:solidFill>
          <a:ln>
            <a:noFill/>
          </a:ln>
        </p:spPr>
        <p:txBody>
          <a:bodyPr wrap="square" lIns="228600" tIns="36576" rIns="228600" bIns="36576" rtlCol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비용  </a:t>
            </a: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조회수 기준 단가로 산정 </a:t>
            </a:r>
            <a:r>
              <a:rPr sz="1500" b="1">
                <a:solidFill>
                  <a:srgbClr val="211D1E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〔확인〕브랜드검색 견적</a:t>
            </a:r>
          </a:p>
        </p:txBody>
      </p:sp>
      <p:sp>
        <p:nvSpPr>
          <p:cNvPr id="19" name="IMG_s20b_brandsearch_wire.png"/>
          <p:cNvSpPr/>
          <p:nvPr/>
        </p:nvSpPr>
        <p:spPr>
          <a:xfrm>
            <a:off x="411480" y="1691640"/>
            <a:ext cx="3017520" cy="4480560"/>
          </a:xfrm>
          <a:prstGeom prst="roundRect">
            <a:avLst>
              <a:gd name="adj" fmla="val 1515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s20b_brandsearch_wire.png]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GFA는 '한 번 본 고객'을 다시 데려오는 데 집중합니다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783080"/>
          <a:ext cx="11365992" cy="24140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그룹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대상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소재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시작 예산 비중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리타겟팅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브랜드스토어 방문·장바구니 고객 </a:t>
                      </a:r>
                      <a:r>
                        <a:rPr sz="1500" b="0">
                          <a:solidFill>
                            <a:srgbClr val="211D1E"/>
                          </a:solidFill>
                          <a:highlight>
                            <a:srgbClr val="FFF176"/>
                          </a:highlight>
                          <a:latin typeface="Pretendard"/>
                          <a:ea typeface="Pretendard"/>
                          <a:cs typeface="Pretendard"/>
                        </a:rPr>
                        <a:t>〔확인〕연동 가능 범위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혜택 소재 (1+1, 슈퍼적립)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50%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유사 타겟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구매 고객과 비슷한 사용자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제품력 소재 (번짐 테스트)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30%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관심사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30~50대 여성, 뷰티·메이크업 관심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소재 (브러쉬 vs 펜)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20%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4526280"/>
            <a:ext cx="3605784" cy="1600200"/>
          </a:xfrm>
          <a:prstGeom prst="roundRect">
            <a:avLst>
              <a:gd name="adj" fmla="val 8421"/>
            </a:avLst>
          </a:prstGeom>
          <a:solidFill>
            <a:srgbClr val="F1E4F8"/>
          </a:solidFill>
          <a:ln>
            <a:noFill/>
          </a:ln>
        </p:spPr>
        <p:txBody>
          <a:bodyPr wrap="square" lIns="228600" tIns="182880" rIns="228600" bIns="36576" rtlCol="0" anchor="t"/>
          <a:lstStyle/>
          <a:p>
            <a:pPr algn="l" eaLnBrk="1" latinLnBrk="0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지면</a:t>
            </a:r>
          </a:p>
          <a:p>
            <a:pPr algn="l" latinLnBrk="0" eaLnBrk="1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네이버 피드, 스마트채널 중심으로 시작해 효율 좋은 지면으로 압축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4291584" y="4526280"/>
            <a:ext cx="3605784" cy="1600200"/>
          </a:xfrm>
          <a:prstGeom prst="roundRect">
            <a:avLst>
              <a:gd name="adj" fmla="val 8421"/>
            </a:avLst>
          </a:prstGeom>
          <a:solidFill>
            <a:srgbClr val="F1E4F8"/>
          </a:solidFill>
          <a:ln>
            <a:noFill/>
          </a:ln>
        </p:spPr>
        <p:txBody>
          <a:bodyPr wrap="square" lIns="228600" tIns="182880" rIns="228600" bIns="36576" rtlCol="0" anchor="t"/>
          <a:lstStyle/>
          <a:p>
            <a:pPr algn="l" eaLnBrk="1" latinLnBrk="0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소재 형식</a:t>
            </a:r>
          </a:p>
          <a:p>
            <a:pPr algn="l" latinLnBrk="0" eaLnBrk="1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네이티브 이미지 → 이미지 슬라이드 → 동영상 순으로 테스트</a:t>
            </a:r>
          </a:p>
        </p:txBody>
      </p:sp>
      <p:sp>
        <p:nvSpPr>
          <p:cNvPr id="8" name="Rounded Rectangle 5"/>
          <p:cNvSpPr/>
          <p:nvPr/>
        </p:nvSpPr>
        <p:spPr>
          <a:xfrm>
            <a:off x="8171687" y="4526280"/>
            <a:ext cx="3605784" cy="1600200"/>
          </a:xfrm>
          <a:prstGeom prst="roundRect">
            <a:avLst>
              <a:gd name="adj" fmla="val 8421"/>
            </a:avLst>
          </a:prstGeom>
          <a:solidFill>
            <a:srgbClr val="F1E4F8"/>
          </a:solidFill>
          <a:ln>
            <a:noFill/>
          </a:ln>
        </p:spPr>
        <p:txBody>
          <a:bodyPr wrap="square" lIns="228600" tIns="182880" rIns="228600" bIns="36576" rtlCol="0" anchor="t"/>
          <a:lstStyle/>
          <a:p>
            <a:pPr algn="l" eaLnBrk="1" latinLnBrk="0">
              <a:lnSpc>
                <a:spcPct val="115000"/>
              </a:lnSpc>
              <a:spcAft>
                <a:spcPts val="400"/>
              </a:spcAft>
              <a:buNone/>
            </a:pPr>
            <a:r>
              <a:rPr sz="15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슈퍼적립 기간</a:t>
            </a:r>
          </a:p>
          <a:p>
            <a:pPr algn="l" latinLnBrk="0" eaLnBrk="1">
              <a:lnSpc>
                <a:spcPct val="115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리타겟팅 비중을 70%까지 올립니다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15초 안에 '안 번진다'를 눈으로 보여줍니다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91640"/>
            <a:ext cx="2112263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76072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  <a:buNone/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307591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컷1 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2313432"/>
            <a:ext cx="1783079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  <a:buNone/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0~2초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566160"/>
            <a:ext cx="1783079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3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"이거, 진짜 안 번질까?"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72" y="4572000"/>
            <a:ext cx="1783079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76072" y="4636008"/>
            <a:ext cx="1783079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화면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손등에 아이라이너로 라인 한 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912" y="1691640"/>
            <a:ext cx="2112263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889504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  <a:buNone/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1828800"/>
            <a:ext cx="1307591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컷2 컬러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9504" y="2313432"/>
            <a:ext cx="1783079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  <a:buNone/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2~5초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4" y="3566160"/>
            <a:ext cx="1783079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3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"엣지홀릭 브러쉬 4컬러"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89504" y="4572000"/>
            <a:ext cx="1783079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2889504" y="4636008"/>
            <a:ext cx="1783079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화면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4컬러 스와치 나란히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8344" y="1691640"/>
            <a:ext cx="2112263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02936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  <a:buNone/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78423" y="1828800"/>
            <a:ext cx="1307591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컷3 테스트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02936" y="2313432"/>
            <a:ext cx="1783079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  <a:buNone/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5~9초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3566160"/>
            <a:ext cx="1783079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3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"물 묻히고, 문질러도"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02936" y="4572000"/>
            <a:ext cx="1783079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5202936" y="4636008"/>
            <a:ext cx="1783079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화면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물을 뿌리고 손가락으로 문지르기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1691640"/>
            <a:ext cx="2112263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516367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  <a:buNone/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5" y="1828800"/>
            <a:ext cx="1307591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컷4 사용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16367" y="2313432"/>
            <a:ext cx="1783079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  <a:buNone/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9~12초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3566160"/>
            <a:ext cx="1783079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3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"꼬리 라인은 한 번에"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516367" y="4572000"/>
            <a:ext cx="1783079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7516367" y="4636008"/>
            <a:ext cx="1783079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화면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눈꼬리 라인을 한 번에 빼는 클로즈업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5623560"/>
            <a:ext cx="11365992" cy="548640"/>
          </a:xfrm>
          <a:prstGeom prst="roundRect">
            <a:avLst>
              <a:gd name="adj" fmla="val 13333"/>
            </a:avLst>
          </a:prstGeom>
          <a:solidFill>
            <a:srgbClr val="FEF2DA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컷3은 실제 촬영 결과로만 사용합니다. 결과가 기대와 다르면 컷3을 '하루 착용 전후' 비교로 바꿉니다.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  <a:buNone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컨셉 1 번짐 테스트 · 9:16 릴스·스토리 · 캠페인 A(신규)</a:t>
            </a:r>
          </a:p>
        </p:txBody>
      </p:sp>
      <p:sp>
        <p:nvSpPr>
          <p:cNvPr id="35" name="Rounded Rectangle 25"/>
          <p:cNvSpPr/>
          <p:nvPr/>
        </p:nvSpPr>
        <p:spPr>
          <a:xfrm>
            <a:off x="9665207" y="1691640"/>
            <a:ext cx="2112263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26"/>
          <p:cNvSpPr/>
          <p:nvPr/>
        </p:nvSpPr>
        <p:spPr>
          <a:xfrm>
            <a:off x="9829799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 eaLnBrk="1" latinLnBrk="0">
              <a:lnSpc>
                <a:spcPct val="115000"/>
              </a:lnSpc>
              <a:buNone/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7" name="TextBox 27"/>
          <p:cNvSpPr txBox="1"/>
          <p:nvPr/>
        </p:nvSpPr>
        <p:spPr>
          <a:xfrm>
            <a:off x="10305287" y="1828800"/>
            <a:ext cx="1307591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컷5 증거 + 행동 유도</a:t>
            </a:r>
          </a:p>
        </p:txBody>
      </p:sp>
      <p:sp>
        <p:nvSpPr>
          <p:cNvPr id="38" name="Rounded Rectangle 28"/>
          <p:cNvSpPr/>
          <p:nvPr/>
        </p:nvSpPr>
        <p:spPr>
          <a:xfrm>
            <a:off x="9829799" y="2313432"/>
            <a:ext cx="1783079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wrap="square" lIns="45720" tIns="36576" rIns="45720" bIns="36576" rtlCol="0" anchor="ctr"/>
          <a:lstStyle/>
          <a:p>
            <a:pPr algn="ctr" eaLnBrk="1" latinLnBrk="0">
              <a:lnSpc>
                <a:spcPct val="115000"/>
              </a:lnSpc>
              <a:buNone/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12~15초</a:t>
            </a:r>
          </a:p>
        </p:txBody>
      </p:sp>
      <p:sp>
        <p:nvSpPr>
          <p:cNvPr id="39" name="TextBox 29"/>
          <p:cNvSpPr txBox="1"/>
          <p:nvPr/>
        </p:nvSpPr>
        <p:spPr>
          <a:xfrm>
            <a:off x="9829799" y="3566160"/>
            <a:ext cx="1783079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3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"번지지 않아서 더울 때도 열심히 사용했어요"</a:t>
            </a:r>
          </a:p>
          <a:p>
            <a:pPr algn="l" latinLnBrk="0" eaLnBrk="1">
              <a:lnSpc>
                <a:spcPct val="115000"/>
              </a:lnSpc>
              <a:buNone/>
            </a:pPr>
            <a:r>
              <a:rPr sz="12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★4.7 리뷰 1,154건</a:t>
            </a:r>
          </a:p>
        </p:txBody>
      </p:sp>
      <p:cxnSp>
        <p:nvCxnSpPr>
          <p:cNvPr id="40" name="Connector 30"/>
          <p:cNvCxnSpPr/>
          <p:nvPr/>
        </p:nvCxnSpPr>
        <p:spPr>
          <a:xfrm>
            <a:off x="9829799" y="4572000"/>
            <a:ext cx="1783079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41" name="TextBox 31"/>
          <p:cNvSpPr txBox="1"/>
          <p:nvPr/>
        </p:nvSpPr>
        <p:spPr>
          <a:xfrm>
            <a:off x="9829799" y="4636008"/>
            <a:ext cx="1783079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화면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리뷰 캡처 + 제품</a:t>
            </a:r>
          </a:p>
          <a:p>
            <a:pPr algn="l" latinLnBrk="0" eaLnBrk="1">
              <a:lnSpc>
                <a:spcPct val="115000"/>
              </a:lnSpc>
              <a:buNone/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버튼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1+1로 만나보기</a:t>
            </a:r>
          </a:p>
        </p:txBody>
      </p:sp>
      <p:sp>
        <p:nvSpPr>
          <p:cNvPr id="42" name="IMG_s22a_storyboard.png"/>
          <p:cNvSpPr/>
          <p:nvPr/>
        </p:nvSpPr>
        <p:spPr>
          <a:xfrm>
            <a:off x="576072" y="2697480"/>
            <a:ext cx="1783079" cy="777240"/>
          </a:xfrm>
          <a:prstGeom prst="roundRect">
            <a:avLst>
              <a:gd name="adj" fmla="val 5882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s22a_storyboard.png]</a:t>
            </a:r>
          </a:p>
        </p:txBody>
      </p:sp>
      <p:sp>
        <p:nvSpPr>
          <p:cNvPr id="43" name="IMG_s22a_storyboard.png"/>
          <p:cNvSpPr/>
          <p:nvPr/>
        </p:nvSpPr>
        <p:spPr>
          <a:xfrm>
            <a:off x="2889504" y="2697480"/>
            <a:ext cx="1783079" cy="777240"/>
          </a:xfrm>
          <a:prstGeom prst="roundRect">
            <a:avLst>
              <a:gd name="adj" fmla="val 5882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s22a_storyboard.png]</a:t>
            </a:r>
          </a:p>
        </p:txBody>
      </p:sp>
      <p:sp>
        <p:nvSpPr>
          <p:cNvPr id="44" name="IMG_s22a_storyboard.png"/>
          <p:cNvSpPr/>
          <p:nvPr/>
        </p:nvSpPr>
        <p:spPr>
          <a:xfrm>
            <a:off x="5202936" y="2697480"/>
            <a:ext cx="1783079" cy="777240"/>
          </a:xfrm>
          <a:prstGeom prst="roundRect">
            <a:avLst>
              <a:gd name="adj" fmla="val 5882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s22a_storyboard.png]</a:t>
            </a:r>
          </a:p>
        </p:txBody>
      </p:sp>
      <p:sp>
        <p:nvSpPr>
          <p:cNvPr id="45" name="IMG_s22a_storyboard.png"/>
          <p:cNvSpPr/>
          <p:nvPr/>
        </p:nvSpPr>
        <p:spPr>
          <a:xfrm>
            <a:off x="7516367" y="2697480"/>
            <a:ext cx="1783079" cy="777240"/>
          </a:xfrm>
          <a:prstGeom prst="roundRect">
            <a:avLst>
              <a:gd name="adj" fmla="val 5882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s22a_storyboard.png]</a:t>
            </a:r>
          </a:p>
        </p:txBody>
      </p:sp>
      <p:sp>
        <p:nvSpPr>
          <p:cNvPr id="46" name="IMG_s22a_storyboard.png"/>
          <p:cNvSpPr/>
          <p:nvPr/>
        </p:nvSpPr>
        <p:spPr>
          <a:xfrm>
            <a:off x="9829799" y="2697480"/>
            <a:ext cx="1783079" cy="777240"/>
          </a:xfrm>
          <a:prstGeom prst="roundRect">
            <a:avLst>
              <a:gd name="adj" fmla="val 5882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s22a_storyboard.png]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컨셉마다 메인 문구, 보조 문구, 본문까지 바로 쓸 수 있게 준비했습니다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645920"/>
          <a:ext cx="7863840" cy="3337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컨셉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메인 문구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보조 문구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메타 본문 (첫 줄)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캠페인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번짐 테스트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더울 때도, 하루 종일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번지지 않는 엣지홀릭 브러쉬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리뷰 1,154건이 말하는 '안 번지는 라인'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A 신규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라인 시연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꼬리 라인, 한 번이면 끝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브러쉬 끝이 살아 있는 아이라이너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곰손도 한 번에 그려지는 이유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A 신규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브러쉬 vs 펜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붓처럼? 펜처럼?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나한테 맞는 라인 고르기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나어릴때, 다른 라인. 당신은 어느 쪽?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A·C 테스트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향수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나 어릴 때 그 눈매, 지금 다시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클래식 메이크업 브랜드 나어릴때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그때 그 또렷함을 지금의 나에게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A 신규 (40~50대)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257800"/>
            <a:ext cx="11365992" cy="713232"/>
          </a:xfrm>
          <a:prstGeom prst="roundRect">
            <a:avLst>
              <a:gd name="adj" fmla="val 8421"/>
            </a:avLst>
          </a:prstGeom>
          <a:solidFill>
            <a:srgbClr val="F1E4F8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  <a:spcAft>
                <a:spcPts val="200"/>
              </a:spcAft>
              <a:buNone/>
            </a:pPr>
            <a:r>
              <a:rPr sz="13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버튼 문구  </a:t>
            </a: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지금 구매하기 / 1+1 보러 가기 / 내 라인 찾기</a:t>
            </a:r>
          </a:p>
          <a:p>
            <a:pPr algn="l" latinLnBrk="0" eaLnBrk="1">
              <a:lnSpc>
                <a:spcPct val="115000"/>
              </a:lnSpc>
              <a:spcAft>
                <a:spcPts val="200"/>
              </a:spcAft>
              <a:buNone/>
            </a:pPr>
            <a:r>
              <a:rPr sz="13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사이즈  </a:t>
            </a: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1:1 (피드), 9:16 (스토리·릴스), 4:5 (피드 세로)</a:t>
            </a:r>
          </a:p>
        </p:txBody>
      </p:sp>
      <p:sp>
        <p:nvSpPr>
          <p:cNvPr id="7" name="IMG_s22b_banner_1.png"/>
          <p:cNvSpPr/>
          <p:nvPr/>
        </p:nvSpPr>
        <p:spPr>
          <a:xfrm>
            <a:off x="8549640" y="1645920"/>
            <a:ext cx="3227832" cy="1463040"/>
          </a:xfrm>
          <a:prstGeom prst="roundRect">
            <a:avLst>
              <a:gd name="adj" fmla="val 3125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s22b_banner_1.png]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127248"/>
            <a:ext cx="322783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1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배너 시안 — 번짐 테스트</a:t>
            </a:r>
          </a:p>
        </p:txBody>
      </p:sp>
      <p:sp>
        <p:nvSpPr>
          <p:cNvPr id="9" name="IMG_s22b_banner_2.png"/>
          <p:cNvSpPr/>
          <p:nvPr/>
        </p:nvSpPr>
        <p:spPr>
          <a:xfrm>
            <a:off x="8549640" y="3429000"/>
            <a:ext cx="3227832" cy="1463040"/>
          </a:xfrm>
          <a:prstGeom prst="roundRect">
            <a:avLst>
              <a:gd name="adj" fmla="val 3125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s22b_banner_2.png]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910328"/>
            <a:ext cx="322783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latinLnBrk="0" eaLnBrk="1">
              <a:lnSpc>
                <a:spcPct val="115000"/>
              </a:lnSpc>
              <a:buNone/>
            </a:pPr>
            <a:r>
              <a:rPr sz="11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배너 시안 — 브러쉬 vs 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016752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buNone/>
            </a:pPr>
            <a:r>
              <a:rPr sz="12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문구는 방향 예시이며, 화장품 광고 표현 기준 검토 후 확정합니다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혜택 소재는 '이미 관심 있는 고객'에게만 보여줍니다</a:t>
            </a:r>
            <a:endParaRPr sz="2400" b="0" dirty="0">
              <a:solidFill>
                <a:srgbClr val="211D1E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91640"/>
            <a:ext cx="3605784" cy="3611880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44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305714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9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11월 슈퍼적립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3057144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600"/>
              </a:spcAft>
              <a:buNone/>
            </a:pPr>
            <a:r>
              <a:rPr sz="14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"아이라이너 살 거면, 지금 적립까지"</a:t>
            </a:r>
            <a:endParaRPr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  <a:p>
            <a:pPr algn="l" latinLnBrk="0" eaLnBrk="1">
              <a:lnSpc>
                <a:spcPct val="115000"/>
              </a:lnSpc>
              <a:spcAft>
                <a:spcPts val="600"/>
              </a:spcAft>
              <a:buNone/>
            </a:pPr>
            <a:r>
              <a:rPr sz="1400" b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보조 문구  </a:t>
            </a: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네이버 슈퍼적립 기간 한정 </a:t>
            </a:r>
            <a:r>
              <a:rPr sz="1400" b="0">
                <a:solidFill>
                  <a:srgbClr val="211D1E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〔확인〕적립률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297680"/>
            <a:ext cx="3240024" cy="82296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wrap="square" lIns="182880" tIns="36576" rIns="182880" bIns="36576" rtlCol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랜딩  </a:t>
            </a: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브랜드스토어</a:t>
            </a:r>
            <a:endParaRPr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1584" y="1691640"/>
            <a:ext cx="3605784" cy="3611880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65904" y="18288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44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5904" y="2697480"/>
            <a:ext cx="305714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9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1+1 상시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3200400"/>
            <a:ext cx="3057144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600"/>
              </a:spcAft>
              <a:buNone/>
            </a:pPr>
            <a:r>
              <a:rPr sz="14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"하나는 파우치에, 하나는 책상에"</a:t>
            </a:r>
            <a:endParaRPr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  <a:p>
            <a:pPr algn="l" latinLnBrk="0" eaLnBrk="1">
              <a:lnSpc>
                <a:spcPct val="115000"/>
              </a:lnSpc>
              <a:spcAft>
                <a:spcPts val="600"/>
              </a:spcAft>
              <a:buNone/>
            </a:pPr>
            <a:r>
              <a:rPr sz="1400" b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보조 문구  </a:t>
            </a: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엣지홀릭 1+1 17,000원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4464" y="4297680"/>
            <a:ext cx="3240024" cy="82296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wrap="square" lIns="182880" tIns="36576" rIns="182880" bIns="36576" rtlCol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랜딩  </a:t>
            </a: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자사몰</a:t>
            </a:r>
            <a:endParaRPr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71688" y="1691640"/>
            <a:ext cx="3605784" cy="3611880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6008" y="18288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</a:pPr>
            <a:r>
              <a:rPr sz="44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6008" y="2697480"/>
            <a:ext cx="305714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9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12월 연말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6008" y="3200400"/>
            <a:ext cx="3057144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eaLnBrk="1" latinLnBrk="0">
              <a:lnSpc>
                <a:spcPct val="115000"/>
              </a:lnSpc>
              <a:spcAft>
                <a:spcPts val="600"/>
              </a:spcAft>
              <a:buNone/>
            </a:pPr>
            <a:r>
              <a:rPr sz="14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"선물하기 좋은 라이너 세트"</a:t>
            </a:r>
            <a:endParaRPr sz="1400" b="0" dirty="0">
              <a:solidFill>
                <a:srgbClr val="5E5759"/>
              </a:solidFill>
              <a:latin typeface="Pretendard"/>
              <a:ea typeface="Pretendard"/>
              <a:cs typeface="Pretendard"/>
            </a:endParaRPr>
          </a:p>
          <a:p>
            <a:pPr algn="l" latinLnBrk="0" eaLnBrk="1">
              <a:lnSpc>
                <a:spcPct val="115000"/>
              </a:lnSpc>
              <a:spcAft>
                <a:spcPts val="600"/>
              </a:spcAft>
              <a:buNone/>
            </a:pPr>
            <a:r>
              <a:rPr sz="1400" b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보조 문구  </a:t>
            </a:r>
            <a:r>
              <a:rPr sz="1400" b="0">
                <a:solidFill>
                  <a:srgbClr val="211D1E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〔확인〕연말 프로모션 구성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54568" y="4297680"/>
            <a:ext cx="3240024" cy="82296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wrap="square" lIns="182880" tIns="36576" rIns="182880" bIns="36576" rtlCol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랜딩  </a:t>
            </a: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자사몰</a:t>
            </a:r>
            <a:endParaRPr sz="1400" b="1" dirty="0">
              <a:solidFill>
                <a:srgbClr val="7B2FB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  <a:buNone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캠페인 B(리타겟팅) · GFA 리타겟팅 전용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468112"/>
            <a:ext cx="11365992" cy="704088"/>
          </a:xfrm>
          <a:prstGeom prst="roundRect">
            <a:avLst>
              <a:gd name="adj" fmla="val 10389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274320" rIns="274320" tIns="36576" bIns="36576"/>
          <a:lstStyle/>
          <a:p>
            <a:pPr algn="l" latinLnBrk="0" eaLnBrk="1">
              <a:lnSpc>
                <a:spcPct val="115000"/>
              </a:lnSpc>
              <a:buNone/>
            </a:pPr>
            <a:r>
              <a:rPr sz="15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신규 고객에게는 혜택보다 제품력을 먼저 보여주고, 혜택은 재방문 고객에게 보여줘 할인 의존도를 낮춥니다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매일, 매주, 매월 할 일을 정해두고 운영합니다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 eaLnBrk="1" latinLnBrk="0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783080"/>
          <a:ext cx="11365992" cy="29352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주기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네이버 SA·GFA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메타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인스타그램·리포트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매일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소진 속도, 순위 이상 확인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소진, 구매 이상치 확인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단톡방 요청 응대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매주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입찰 조정, 키워드 추가·제외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소재 성과 판별, 신규 소재 투입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주간 리포트 + 이번 주 제안, 피드 2회 업로드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매월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키워드 구조 정리, 상품명 점검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캠페인 예산 재배분, 타겟 점검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1" latinLnBrk="0">
                        <a:lnSpc>
                          <a:spcPct val="115000"/>
                        </a:lnSpc>
                        <a:buNone/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월간 리뷰 미팅, 다음 달 시즌 제안</a:t>
                      </a:r>
                    </a:p>
                  </a:txBody>
                  <a:tcPr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120640"/>
            <a:ext cx="11365992" cy="868680"/>
          </a:xfrm>
          <a:prstGeom prst="roundRect">
            <a:avLst>
              <a:gd name="adj" fmla="val 8421"/>
            </a:avLst>
          </a:prstGeom>
          <a:solidFill>
            <a:srgbClr val="F1E4F8"/>
          </a:solidFill>
          <a:ln>
            <a:noFill/>
          </a:ln>
        </p:spPr>
        <p:txBody>
          <a:bodyPr wrap="square" lIns="274320" tIns="36576" rIns="274320" bIns="36576" rtlCol="0" anchor="ctr"/>
          <a:lstStyle/>
          <a:p>
            <a:pPr algn="l" eaLnBrk="1" latinLnBrk="0">
              <a:lnSpc>
                <a:spcPct val="115000"/>
              </a:lnSpc>
              <a:buNone/>
            </a:pPr>
            <a:r>
              <a:rPr sz="16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첫 달은 성과 기준선을 만드는 달입니다. 2개월 차부터 목표 ROAS를 함께 정해 관리합니다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600" smtClean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3205</Words>
  <Application>Microsoft Office PowerPoint</Application>
  <PresentationFormat>와이드스크린</PresentationFormat>
  <Paragraphs>578</Paragraphs>
  <Slides>33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0" baseType="lpstr">
      <vt:lpstr>Pretendard</vt:lpstr>
      <vt:lpstr>Pretendard Black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현수 김</dc:creator>
  <cp:lastModifiedBy>현수 김</cp:lastModifiedBy>
  <cp:revision>7</cp:revision>
  <dcterms:created xsi:type="dcterms:W3CDTF">2026-10-22T07:01:20Z</dcterms:created>
  <dcterms:modified xsi:type="dcterms:W3CDTF">2026-10-26T09:11:08Z</dcterms:modified>
</cp:coreProperties>
</file>